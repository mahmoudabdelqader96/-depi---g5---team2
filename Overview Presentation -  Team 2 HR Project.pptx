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8288000" cy="10287000"/>
  <p:notesSz cx="6858000" cy="9144000"/>
  <p:embeddedFontLst>
    <p:embeddedFont>
      <p:font typeface="Canva Sans" panose="020B0604020202020204" charset="0"/>
      <p:regular r:id="rId45"/>
    </p:embeddedFont>
    <p:embeddedFont>
      <p:font typeface="Canva Sans Bold" panose="020B0604020202020204" charset="0"/>
      <p:regular r:id="rId46"/>
    </p:embeddedFont>
    <p:embeddedFont>
      <p:font typeface="Canva Sans Medium" panose="020B0604020202020204" charset="0"/>
      <p:regular r:id="rId47"/>
    </p:embeddedFont>
    <p:embeddedFont>
      <p:font typeface="Inter" panose="020B0604020202020204" charset="0"/>
      <p:regular r:id="rId48"/>
    </p:embeddedFont>
    <p:embeddedFont>
      <p:font typeface="Inter Bold" panose="020B0604020202020204" charset="0"/>
      <p:regular r:id="rId49"/>
    </p:embeddedFont>
    <p:embeddedFont>
      <p:font typeface="Inter Light" panose="020B0604020202020204" charset="0"/>
      <p:regular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595" y="-1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slide" Target="slide41.xml"/><Relationship Id="rId3" Type="http://schemas.openxmlformats.org/officeDocument/2006/relationships/image" Target="../media/image2.svg"/><Relationship Id="rId7" Type="http://schemas.openxmlformats.org/officeDocument/2006/relationships/image" Target="../media/image6.png"/><Relationship Id="rId12" Type="http://schemas.openxmlformats.org/officeDocument/2006/relationships/slide" Target="slide7.xm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slide" Target="slide4.xml"/><Relationship Id="rId5" Type="http://schemas.openxmlformats.org/officeDocument/2006/relationships/image" Target="../media/image4.svg"/><Relationship Id="rId10" Type="http://schemas.openxmlformats.org/officeDocument/2006/relationships/slide" Target="slide3.xml"/><Relationship Id="rId4" Type="http://schemas.openxmlformats.org/officeDocument/2006/relationships/image" Target="../media/image3.png"/><Relationship Id="rId9" Type="http://schemas.openxmlformats.org/officeDocument/2006/relationships/slide" Target="slide2.xml"/><Relationship Id="rId14" Type="http://schemas.openxmlformats.org/officeDocument/2006/relationships/slide" Target="slide43.xml"/></Relationships>
</file>

<file path=ppt/slides/_rels/slide2.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10" Type="http://schemas.openxmlformats.org/officeDocument/2006/relationships/image" Target="../media/image18.svg"/><Relationship Id="rId4" Type="http://schemas.openxmlformats.org/officeDocument/2006/relationships/image" Target="../media/image14.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svg"/><Relationship Id="rId7" Type="http://schemas.openxmlformats.org/officeDocument/2006/relationships/image" Target="../media/image9.svg"/><Relationship Id="rId12"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28.png"/><Relationship Id="rId5" Type="http://schemas.openxmlformats.org/officeDocument/2006/relationships/image" Target="../media/image15.svg"/><Relationship Id="rId10" Type="http://schemas.openxmlformats.org/officeDocument/2006/relationships/image" Target="../media/image27.png"/><Relationship Id="rId4" Type="http://schemas.openxmlformats.org/officeDocument/2006/relationships/image" Target="../media/image14.png"/><Relationship Id="rId9" Type="http://schemas.openxmlformats.org/officeDocument/2006/relationships/image" Target="../media/image26.png"/></Relationships>
</file>

<file path=ppt/slides/_rels/slide2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3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3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39.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40.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9.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5.svg"/><Relationship Id="rId4" Type="http://schemas.openxmlformats.org/officeDocument/2006/relationships/image" Target="../media/image14.png"/></Relationships>
</file>

<file path=ppt/slides/_rels/slide43.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31.svg"/><Relationship Id="rId7" Type="http://schemas.openxmlformats.org/officeDocument/2006/relationships/image" Target="../media/image35.sv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4630400" y="-1873648"/>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grpSp>
        <p:nvGrpSpPr>
          <p:cNvPr id="3" name="Group 3"/>
          <p:cNvGrpSpPr/>
          <p:nvPr/>
        </p:nvGrpSpPr>
        <p:grpSpPr>
          <a:xfrm>
            <a:off x="1597595" y="5143500"/>
            <a:ext cx="47625" cy="1393191"/>
            <a:chOff x="0" y="0"/>
            <a:chExt cx="12543" cy="366931"/>
          </a:xfrm>
        </p:grpSpPr>
        <p:sp>
          <p:nvSpPr>
            <p:cNvPr id="4" name="Freeform 4"/>
            <p:cNvSpPr/>
            <p:nvPr/>
          </p:nvSpPr>
          <p:spPr>
            <a:xfrm>
              <a:off x="0" y="0"/>
              <a:ext cx="12543" cy="366931"/>
            </a:xfrm>
            <a:custGeom>
              <a:avLst/>
              <a:gdLst/>
              <a:ahLst/>
              <a:cxnLst/>
              <a:rect l="l" t="t" r="r" b="b"/>
              <a:pathLst>
                <a:path w="12543" h="366931">
                  <a:moveTo>
                    <a:pt x="6272" y="0"/>
                  </a:moveTo>
                  <a:lnTo>
                    <a:pt x="6272" y="0"/>
                  </a:lnTo>
                  <a:cubicBezTo>
                    <a:pt x="7935" y="0"/>
                    <a:pt x="9530" y="661"/>
                    <a:pt x="10706" y="1837"/>
                  </a:cubicBezTo>
                  <a:cubicBezTo>
                    <a:pt x="11882" y="3013"/>
                    <a:pt x="12543" y="4608"/>
                    <a:pt x="12543" y="6272"/>
                  </a:cubicBezTo>
                  <a:lnTo>
                    <a:pt x="12543" y="360659"/>
                  </a:lnTo>
                  <a:cubicBezTo>
                    <a:pt x="12543" y="362323"/>
                    <a:pt x="11882" y="363918"/>
                    <a:pt x="10706" y="365094"/>
                  </a:cubicBezTo>
                  <a:cubicBezTo>
                    <a:pt x="9530" y="366270"/>
                    <a:pt x="7935" y="366931"/>
                    <a:pt x="6272" y="366931"/>
                  </a:cubicBezTo>
                  <a:lnTo>
                    <a:pt x="6272" y="366931"/>
                  </a:lnTo>
                  <a:cubicBezTo>
                    <a:pt x="4608" y="366931"/>
                    <a:pt x="3013" y="366270"/>
                    <a:pt x="1837" y="365094"/>
                  </a:cubicBezTo>
                  <a:cubicBezTo>
                    <a:pt x="661" y="363918"/>
                    <a:pt x="0" y="362323"/>
                    <a:pt x="0" y="360659"/>
                  </a:cubicBezTo>
                  <a:lnTo>
                    <a:pt x="0" y="6272"/>
                  </a:lnTo>
                  <a:cubicBezTo>
                    <a:pt x="0" y="4608"/>
                    <a:pt x="661" y="3013"/>
                    <a:pt x="1837" y="1837"/>
                  </a:cubicBezTo>
                  <a:cubicBezTo>
                    <a:pt x="3013" y="661"/>
                    <a:pt x="4608" y="0"/>
                    <a:pt x="6272" y="0"/>
                  </a:cubicBezTo>
                  <a:close/>
                </a:path>
              </a:pathLst>
            </a:custGeom>
            <a:solidFill>
              <a:srgbClr val="FFFFFF"/>
            </a:solidFill>
          </p:spPr>
          <p:txBody>
            <a:bodyPr/>
            <a:lstStyle/>
            <a:p>
              <a:endParaRPr lang="ar-EG"/>
            </a:p>
          </p:txBody>
        </p:sp>
        <p:sp>
          <p:nvSpPr>
            <p:cNvPr id="5" name="TextBox 5"/>
            <p:cNvSpPr txBox="1"/>
            <p:nvPr/>
          </p:nvSpPr>
          <p:spPr>
            <a:xfrm>
              <a:off x="0" y="-38100"/>
              <a:ext cx="12543" cy="405031"/>
            </a:xfrm>
            <a:prstGeom prst="rect">
              <a:avLst/>
            </a:prstGeom>
          </p:spPr>
          <p:txBody>
            <a:bodyPr lIns="50800" tIns="50800" rIns="50800" bIns="50800" rtlCol="0" anchor="ctr"/>
            <a:lstStyle/>
            <a:p>
              <a:pPr algn="ctr">
                <a:lnSpc>
                  <a:spcPts val="2940"/>
                </a:lnSpc>
              </a:pPr>
              <a:endParaRPr/>
            </a:p>
          </p:txBody>
        </p:sp>
      </p:grpSp>
      <p:sp>
        <p:nvSpPr>
          <p:cNvPr id="6" name="Freeform 6"/>
          <p:cNvSpPr/>
          <p:nvPr/>
        </p:nvSpPr>
        <p:spPr>
          <a:xfrm rot="127264">
            <a:off x="12448071" y="3951153"/>
            <a:ext cx="7218947" cy="4114800"/>
          </a:xfrm>
          <a:custGeom>
            <a:avLst/>
            <a:gdLst/>
            <a:ahLst/>
            <a:cxnLst/>
            <a:rect l="l" t="t" r="r" b="b"/>
            <a:pathLst>
              <a:path w="7218947" h="4114800">
                <a:moveTo>
                  <a:pt x="0" y="0"/>
                </a:moveTo>
                <a:lnTo>
                  <a:pt x="7218948" y="0"/>
                </a:lnTo>
                <a:lnTo>
                  <a:pt x="7218948"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ar-EG"/>
          </a:p>
        </p:txBody>
      </p:sp>
      <p:sp>
        <p:nvSpPr>
          <p:cNvPr id="7" name="Freeform 7"/>
          <p:cNvSpPr/>
          <p:nvPr/>
        </p:nvSpPr>
        <p:spPr>
          <a:xfrm flipH="1">
            <a:off x="11001841" y="2772874"/>
            <a:ext cx="6257459" cy="5217156"/>
          </a:xfrm>
          <a:custGeom>
            <a:avLst/>
            <a:gdLst/>
            <a:ahLst/>
            <a:cxnLst/>
            <a:rect l="l" t="t" r="r" b="b"/>
            <a:pathLst>
              <a:path w="6257459" h="5217156">
                <a:moveTo>
                  <a:pt x="6257459" y="0"/>
                </a:moveTo>
                <a:lnTo>
                  <a:pt x="0" y="0"/>
                </a:lnTo>
                <a:lnTo>
                  <a:pt x="0" y="5217156"/>
                </a:lnTo>
                <a:lnTo>
                  <a:pt x="6257459" y="5217156"/>
                </a:lnTo>
                <a:lnTo>
                  <a:pt x="6257459" y="0"/>
                </a:lnTo>
                <a:close/>
              </a:path>
            </a:pathLst>
          </a:custGeom>
          <a:blipFill>
            <a:blip r:embed="rId6"/>
            <a:stretch>
              <a:fillRect/>
            </a:stretch>
          </a:blipFill>
        </p:spPr>
        <p:txBody>
          <a:bodyPr/>
          <a:lstStyle/>
          <a:p>
            <a:endParaRPr lang="ar-EG"/>
          </a:p>
        </p:txBody>
      </p:sp>
      <p:grpSp>
        <p:nvGrpSpPr>
          <p:cNvPr id="8" name="Group 8"/>
          <p:cNvGrpSpPr/>
          <p:nvPr/>
        </p:nvGrpSpPr>
        <p:grpSpPr>
          <a:xfrm>
            <a:off x="11321344" y="1028700"/>
            <a:ext cx="1053053" cy="1053053"/>
            <a:chOff x="0" y="0"/>
            <a:chExt cx="1404070" cy="1404070"/>
          </a:xfrm>
        </p:grpSpPr>
        <p:grpSp>
          <p:nvGrpSpPr>
            <p:cNvPr id="9" name="Group 9"/>
            <p:cNvGrpSpPr/>
            <p:nvPr/>
          </p:nvGrpSpPr>
          <p:grpSpPr>
            <a:xfrm>
              <a:off x="0" y="0"/>
              <a:ext cx="1404070" cy="140407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CF53FF">
                        <a:alpha val="100000"/>
                      </a:srgbClr>
                    </a:gs>
                    <a:gs pos="100000">
                      <a:srgbClr val="171E44">
                        <a:alpha val="100000"/>
                      </a:srgbClr>
                    </a:gs>
                  </a:gsLst>
                  <a:lin ang="0"/>
                </a:gradFill>
                <a:prstDash val="solid"/>
                <a:miter/>
              </a:ln>
            </p:spPr>
            <p:txBody>
              <a:bodyPr/>
              <a:lstStyle/>
              <a:p>
                <a:endParaRPr lang="ar-EG"/>
              </a:p>
            </p:txBody>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940"/>
                  </a:lnSpc>
                </a:pPr>
                <a:endParaRPr/>
              </a:p>
            </p:txBody>
          </p:sp>
        </p:grpSp>
        <p:sp>
          <p:nvSpPr>
            <p:cNvPr id="12" name="Freeform 12"/>
            <p:cNvSpPr/>
            <p:nvPr/>
          </p:nvSpPr>
          <p:spPr>
            <a:xfrm>
              <a:off x="384711" y="414063"/>
              <a:ext cx="634648" cy="575943"/>
            </a:xfrm>
            <a:custGeom>
              <a:avLst/>
              <a:gdLst/>
              <a:ahLst/>
              <a:cxnLst/>
              <a:rect l="l" t="t" r="r" b="b"/>
              <a:pathLst>
                <a:path w="634648" h="575943">
                  <a:moveTo>
                    <a:pt x="0" y="0"/>
                  </a:moveTo>
                  <a:lnTo>
                    <a:pt x="634648" y="0"/>
                  </a:lnTo>
                  <a:lnTo>
                    <a:pt x="634648" y="575944"/>
                  </a:lnTo>
                  <a:lnTo>
                    <a:pt x="0" y="57594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ar-EG"/>
            </a:p>
          </p:txBody>
        </p:sp>
      </p:grpSp>
      <p:sp>
        <p:nvSpPr>
          <p:cNvPr id="13" name="Freeform 13"/>
          <p:cNvSpPr/>
          <p:nvPr/>
        </p:nvSpPr>
        <p:spPr>
          <a:xfrm>
            <a:off x="-4521518" y="8198135"/>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14" name="TextBox 14"/>
          <p:cNvSpPr txBox="1"/>
          <p:nvPr/>
        </p:nvSpPr>
        <p:spPr>
          <a:xfrm>
            <a:off x="1597595" y="1664146"/>
            <a:ext cx="8855795" cy="2290444"/>
          </a:xfrm>
          <a:prstGeom prst="rect">
            <a:avLst/>
          </a:prstGeom>
        </p:spPr>
        <p:txBody>
          <a:bodyPr lIns="0" tIns="0" rIns="0" bIns="0" rtlCol="0" anchor="t">
            <a:spAutoFit/>
          </a:bodyPr>
          <a:lstStyle/>
          <a:p>
            <a:pPr algn="l">
              <a:lnSpc>
                <a:spcPts val="8799"/>
              </a:lnSpc>
            </a:pPr>
            <a:r>
              <a:rPr lang="en-US" sz="8799" spc="-351">
                <a:solidFill>
                  <a:srgbClr val="FFFFFF"/>
                </a:solidFill>
                <a:latin typeface="Inter"/>
                <a:ea typeface="Inter"/>
                <a:cs typeface="Inter"/>
                <a:sym typeface="Inter"/>
              </a:rPr>
              <a:t>HR Analytics Executive Report</a:t>
            </a:r>
          </a:p>
        </p:txBody>
      </p:sp>
      <p:grpSp>
        <p:nvGrpSpPr>
          <p:cNvPr id="15" name="Group 15"/>
          <p:cNvGrpSpPr/>
          <p:nvPr/>
        </p:nvGrpSpPr>
        <p:grpSpPr>
          <a:xfrm>
            <a:off x="1780192" y="8530896"/>
            <a:ext cx="2112851" cy="727030"/>
            <a:chOff x="0" y="0"/>
            <a:chExt cx="2817135" cy="969373"/>
          </a:xfrm>
        </p:grpSpPr>
        <p:grpSp>
          <p:nvGrpSpPr>
            <p:cNvPr id="16" name="Group 16"/>
            <p:cNvGrpSpPr/>
            <p:nvPr/>
          </p:nvGrpSpPr>
          <p:grpSpPr>
            <a:xfrm>
              <a:off x="0" y="0"/>
              <a:ext cx="2817135" cy="969373"/>
              <a:chOff x="0" y="0"/>
              <a:chExt cx="1654198" cy="569207"/>
            </a:xfrm>
          </p:grpSpPr>
          <p:sp>
            <p:nvSpPr>
              <p:cNvPr id="17" name="Freeform 17"/>
              <p:cNvSpPr/>
              <p:nvPr/>
            </p:nvSpPr>
            <p:spPr>
              <a:xfrm>
                <a:off x="0" y="0"/>
                <a:ext cx="1654198" cy="569207"/>
              </a:xfrm>
              <a:custGeom>
                <a:avLst/>
                <a:gdLst/>
                <a:ahLst/>
                <a:cxnLst/>
                <a:rect l="l" t="t" r="r" b="b"/>
                <a:pathLst>
                  <a:path w="1654198" h="569207">
                    <a:moveTo>
                      <a:pt x="199179" y="0"/>
                    </a:moveTo>
                    <a:lnTo>
                      <a:pt x="1455019" y="0"/>
                    </a:lnTo>
                    <a:cubicBezTo>
                      <a:pt x="1507844" y="0"/>
                      <a:pt x="1558506" y="20985"/>
                      <a:pt x="1595860" y="58338"/>
                    </a:cubicBezTo>
                    <a:cubicBezTo>
                      <a:pt x="1633213" y="95691"/>
                      <a:pt x="1654198" y="146353"/>
                      <a:pt x="1654198" y="199179"/>
                    </a:cubicBezTo>
                    <a:lnTo>
                      <a:pt x="1654198" y="370029"/>
                    </a:lnTo>
                    <a:cubicBezTo>
                      <a:pt x="1654198" y="480032"/>
                      <a:pt x="1565022" y="569207"/>
                      <a:pt x="1455019" y="569207"/>
                    </a:cubicBezTo>
                    <a:lnTo>
                      <a:pt x="199179" y="569207"/>
                    </a:lnTo>
                    <a:cubicBezTo>
                      <a:pt x="146353" y="569207"/>
                      <a:pt x="95691" y="548223"/>
                      <a:pt x="58338" y="510869"/>
                    </a:cubicBezTo>
                    <a:cubicBezTo>
                      <a:pt x="20985" y="473516"/>
                      <a:pt x="0" y="422854"/>
                      <a:pt x="0" y="370029"/>
                    </a:cubicBezTo>
                    <a:lnTo>
                      <a:pt x="0" y="199179"/>
                    </a:lnTo>
                    <a:cubicBezTo>
                      <a:pt x="0" y="146353"/>
                      <a:pt x="20985" y="95691"/>
                      <a:pt x="58338" y="58338"/>
                    </a:cubicBezTo>
                    <a:cubicBezTo>
                      <a:pt x="95691" y="20985"/>
                      <a:pt x="146353" y="0"/>
                      <a:pt x="199179" y="0"/>
                    </a:cubicBezTo>
                    <a:close/>
                  </a:path>
                </a:pathLst>
              </a:custGeom>
              <a:gradFill rotWithShape="1">
                <a:gsLst>
                  <a:gs pos="0">
                    <a:srgbClr val="3647F5">
                      <a:alpha val="100000"/>
                    </a:srgbClr>
                  </a:gs>
                  <a:gs pos="100000">
                    <a:srgbClr val="CF53FF">
                      <a:alpha val="100000"/>
                    </a:srgbClr>
                  </a:gs>
                </a:gsLst>
                <a:lin ang="0"/>
              </a:gradFill>
              <a:ln w="28575" cap="rnd">
                <a:gradFill>
                  <a:gsLst>
                    <a:gs pos="0">
                      <a:srgbClr val="97A4FF">
                        <a:alpha val="100000"/>
                      </a:srgbClr>
                    </a:gs>
                    <a:gs pos="100000">
                      <a:srgbClr val="CE88FF">
                        <a:alpha val="100000"/>
                      </a:srgbClr>
                    </a:gs>
                  </a:gsLst>
                  <a:lin ang="0"/>
                </a:gradFill>
                <a:prstDash val="solid"/>
                <a:round/>
              </a:ln>
            </p:spPr>
            <p:txBody>
              <a:bodyPr/>
              <a:lstStyle/>
              <a:p>
                <a:endParaRPr lang="ar-EG">
                  <a:solidFill>
                    <a:schemeClr val="bg1"/>
                  </a:solidFill>
                </a:endParaRPr>
              </a:p>
            </p:txBody>
          </p:sp>
          <p:sp>
            <p:nvSpPr>
              <p:cNvPr id="18" name="TextBox 18"/>
              <p:cNvSpPr txBox="1"/>
              <p:nvPr/>
            </p:nvSpPr>
            <p:spPr>
              <a:xfrm>
                <a:off x="0" y="-38100"/>
                <a:ext cx="1654198" cy="607307"/>
              </a:xfrm>
              <a:prstGeom prst="rect">
                <a:avLst/>
              </a:prstGeom>
            </p:spPr>
            <p:txBody>
              <a:bodyPr lIns="50800" tIns="50800" rIns="50800" bIns="50800" rtlCol="0" anchor="ctr"/>
              <a:lstStyle/>
              <a:p>
                <a:pPr algn="ctr">
                  <a:lnSpc>
                    <a:spcPts val="2659"/>
                  </a:lnSpc>
                  <a:spcBef>
                    <a:spcPct val="0"/>
                  </a:spcBef>
                </a:pPr>
                <a:endParaRPr>
                  <a:solidFill>
                    <a:schemeClr val="bg1"/>
                  </a:solidFill>
                </a:endParaRPr>
              </a:p>
            </p:txBody>
          </p:sp>
        </p:grpSp>
        <p:sp>
          <p:nvSpPr>
            <p:cNvPr id="19" name="TextBox 19"/>
            <p:cNvSpPr txBox="1"/>
            <p:nvPr/>
          </p:nvSpPr>
          <p:spPr>
            <a:xfrm>
              <a:off x="187891" y="207744"/>
              <a:ext cx="2288682" cy="541686"/>
            </a:xfrm>
            <a:prstGeom prst="rect">
              <a:avLst/>
            </a:prstGeom>
          </p:spPr>
          <p:txBody>
            <a:bodyPr lIns="0" tIns="0" rIns="0" bIns="0" rtlCol="0" anchor="t">
              <a:spAutoFit/>
            </a:bodyPr>
            <a:lstStyle/>
            <a:p>
              <a:pPr algn="ctr">
                <a:lnSpc>
                  <a:spcPts val="3353"/>
                </a:lnSpc>
                <a:spcBef>
                  <a:spcPct val="0"/>
                </a:spcBef>
              </a:pPr>
              <a:r>
                <a:rPr lang="en-US" sz="2395" b="1">
                  <a:solidFill>
                    <a:schemeClr val="bg1"/>
                  </a:solidFill>
                  <a:latin typeface="Canva Sans Medium"/>
                  <a:ea typeface="Canva Sans Medium"/>
                  <a:cs typeface="Canva Sans Medium"/>
                  <a:sym typeface="Canva Sans Medium"/>
                  <a:hlinkClick r:id="rId9" action="ppaction://hlinksldjump">
                    <a:extLst>
                      <a:ext uri="{A12FA001-AC4F-418D-AE19-62706E023703}">
                        <ahyp:hlinkClr xmlns:ahyp="http://schemas.microsoft.com/office/drawing/2018/hyperlinkcolor" val="tx"/>
                      </a:ext>
                    </a:extLst>
                  </a:hlinkClick>
                </a:rPr>
                <a:t>Team</a:t>
              </a:r>
            </a:p>
          </p:txBody>
        </p:sp>
      </p:grpSp>
      <p:sp>
        <p:nvSpPr>
          <p:cNvPr id="20" name="TextBox 20"/>
          <p:cNvSpPr txBox="1"/>
          <p:nvPr/>
        </p:nvSpPr>
        <p:spPr>
          <a:xfrm>
            <a:off x="2044420" y="5191125"/>
            <a:ext cx="6814899" cy="1345566"/>
          </a:xfrm>
          <a:prstGeom prst="rect">
            <a:avLst/>
          </a:prstGeom>
        </p:spPr>
        <p:txBody>
          <a:bodyPr lIns="0" tIns="0" rIns="0" bIns="0" rtlCol="0" anchor="t">
            <a:spAutoFit/>
          </a:bodyPr>
          <a:lstStyle/>
          <a:p>
            <a:pPr algn="l">
              <a:lnSpc>
                <a:spcPts val="3564"/>
              </a:lnSpc>
            </a:pPr>
            <a:r>
              <a:rPr lang="en-US" sz="2299">
                <a:solidFill>
                  <a:srgbClr val="FFFFFF">
                    <a:alpha val="89804"/>
                  </a:srgbClr>
                </a:solidFill>
                <a:latin typeface="Inter Light"/>
                <a:ea typeface="Inter Light"/>
                <a:cs typeface="Inter Light"/>
                <a:sym typeface="Inter Light"/>
              </a:rPr>
              <a:t>One dashboard to monitor employee data, performance, and growth.</a:t>
            </a:r>
          </a:p>
          <a:p>
            <a:pPr algn="l">
              <a:lnSpc>
                <a:spcPts val="3564"/>
              </a:lnSpc>
            </a:pPr>
            <a:r>
              <a:rPr lang="en-US" sz="2299">
                <a:solidFill>
                  <a:srgbClr val="FFFFFF">
                    <a:alpha val="89804"/>
                  </a:srgbClr>
                </a:solidFill>
                <a:latin typeface="Inter Light"/>
                <a:ea typeface="Inter Light"/>
                <a:cs typeface="Inter Light"/>
                <a:sym typeface="Inter Light"/>
              </a:rPr>
              <a:t>Powered by Power BI</a:t>
            </a:r>
          </a:p>
        </p:txBody>
      </p:sp>
      <p:grpSp>
        <p:nvGrpSpPr>
          <p:cNvPr id="21" name="Group 21"/>
          <p:cNvGrpSpPr/>
          <p:nvPr/>
        </p:nvGrpSpPr>
        <p:grpSpPr>
          <a:xfrm>
            <a:off x="4102593" y="8530896"/>
            <a:ext cx="2112851" cy="727030"/>
            <a:chOff x="0" y="0"/>
            <a:chExt cx="2817135" cy="969373"/>
          </a:xfrm>
        </p:grpSpPr>
        <p:grpSp>
          <p:nvGrpSpPr>
            <p:cNvPr id="22" name="Group 22"/>
            <p:cNvGrpSpPr/>
            <p:nvPr/>
          </p:nvGrpSpPr>
          <p:grpSpPr>
            <a:xfrm>
              <a:off x="0" y="0"/>
              <a:ext cx="2817135" cy="969373"/>
              <a:chOff x="0" y="0"/>
              <a:chExt cx="1654198" cy="569207"/>
            </a:xfrm>
          </p:grpSpPr>
          <p:sp>
            <p:nvSpPr>
              <p:cNvPr id="23" name="Freeform 23"/>
              <p:cNvSpPr/>
              <p:nvPr/>
            </p:nvSpPr>
            <p:spPr>
              <a:xfrm>
                <a:off x="0" y="0"/>
                <a:ext cx="1654198" cy="569207"/>
              </a:xfrm>
              <a:custGeom>
                <a:avLst/>
                <a:gdLst/>
                <a:ahLst/>
                <a:cxnLst/>
                <a:rect l="l" t="t" r="r" b="b"/>
                <a:pathLst>
                  <a:path w="1654198" h="569207">
                    <a:moveTo>
                      <a:pt x="199179" y="0"/>
                    </a:moveTo>
                    <a:lnTo>
                      <a:pt x="1455019" y="0"/>
                    </a:lnTo>
                    <a:cubicBezTo>
                      <a:pt x="1507844" y="0"/>
                      <a:pt x="1558506" y="20985"/>
                      <a:pt x="1595860" y="58338"/>
                    </a:cubicBezTo>
                    <a:cubicBezTo>
                      <a:pt x="1633213" y="95691"/>
                      <a:pt x="1654198" y="146353"/>
                      <a:pt x="1654198" y="199179"/>
                    </a:cubicBezTo>
                    <a:lnTo>
                      <a:pt x="1654198" y="370029"/>
                    </a:lnTo>
                    <a:cubicBezTo>
                      <a:pt x="1654198" y="480032"/>
                      <a:pt x="1565022" y="569207"/>
                      <a:pt x="1455019" y="569207"/>
                    </a:cubicBezTo>
                    <a:lnTo>
                      <a:pt x="199179" y="569207"/>
                    </a:lnTo>
                    <a:cubicBezTo>
                      <a:pt x="146353" y="569207"/>
                      <a:pt x="95691" y="548223"/>
                      <a:pt x="58338" y="510869"/>
                    </a:cubicBezTo>
                    <a:cubicBezTo>
                      <a:pt x="20985" y="473516"/>
                      <a:pt x="0" y="422854"/>
                      <a:pt x="0" y="370029"/>
                    </a:cubicBezTo>
                    <a:lnTo>
                      <a:pt x="0" y="199179"/>
                    </a:lnTo>
                    <a:cubicBezTo>
                      <a:pt x="0" y="146353"/>
                      <a:pt x="20985" y="95691"/>
                      <a:pt x="58338" y="58338"/>
                    </a:cubicBezTo>
                    <a:cubicBezTo>
                      <a:pt x="95691" y="20985"/>
                      <a:pt x="146353" y="0"/>
                      <a:pt x="199179" y="0"/>
                    </a:cubicBezTo>
                    <a:close/>
                  </a:path>
                </a:pathLst>
              </a:custGeom>
              <a:gradFill rotWithShape="1">
                <a:gsLst>
                  <a:gs pos="0">
                    <a:srgbClr val="3647F5">
                      <a:alpha val="100000"/>
                    </a:srgbClr>
                  </a:gs>
                  <a:gs pos="100000">
                    <a:srgbClr val="CF53FF">
                      <a:alpha val="100000"/>
                    </a:srgbClr>
                  </a:gs>
                </a:gsLst>
                <a:lin ang="0"/>
              </a:gradFill>
              <a:ln w="28575" cap="rnd">
                <a:gradFill>
                  <a:gsLst>
                    <a:gs pos="0">
                      <a:srgbClr val="97A4FF">
                        <a:alpha val="100000"/>
                      </a:srgbClr>
                    </a:gs>
                    <a:gs pos="100000">
                      <a:srgbClr val="CE88FF">
                        <a:alpha val="100000"/>
                      </a:srgbClr>
                    </a:gs>
                  </a:gsLst>
                  <a:lin ang="0"/>
                </a:gradFill>
                <a:prstDash val="solid"/>
                <a:round/>
              </a:ln>
            </p:spPr>
            <p:txBody>
              <a:bodyPr/>
              <a:lstStyle/>
              <a:p>
                <a:endParaRPr lang="ar-EG">
                  <a:solidFill>
                    <a:schemeClr val="bg1"/>
                  </a:solidFill>
                </a:endParaRPr>
              </a:p>
            </p:txBody>
          </p:sp>
          <p:sp>
            <p:nvSpPr>
              <p:cNvPr id="24" name="TextBox 24"/>
              <p:cNvSpPr txBox="1"/>
              <p:nvPr/>
            </p:nvSpPr>
            <p:spPr>
              <a:xfrm>
                <a:off x="0" y="-38100"/>
                <a:ext cx="1654198" cy="607307"/>
              </a:xfrm>
              <a:prstGeom prst="rect">
                <a:avLst/>
              </a:prstGeom>
            </p:spPr>
            <p:txBody>
              <a:bodyPr lIns="50800" tIns="50800" rIns="50800" bIns="50800" rtlCol="0" anchor="ctr"/>
              <a:lstStyle/>
              <a:p>
                <a:pPr marL="0" lvl="0" indent="0" algn="ctr">
                  <a:lnSpc>
                    <a:spcPts val="2659"/>
                  </a:lnSpc>
                  <a:spcBef>
                    <a:spcPct val="0"/>
                  </a:spcBef>
                </a:pPr>
                <a:endParaRPr>
                  <a:solidFill>
                    <a:schemeClr val="bg1"/>
                  </a:solidFill>
                </a:endParaRPr>
              </a:p>
            </p:txBody>
          </p:sp>
        </p:grpSp>
        <p:sp>
          <p:nvSpPr>
            <p:cNvPr id="25" name="TextBox 25"/>
            <p:cNvSpPr txBox="1"/>
            <p:nvPr/>
          </p:nvSpPr>
          <p:spPr>
            <a:xfrm>
              <a:off x="187891" y="207744"/>
              <a:ext cx="2288682" cy="541686"/>
            </a:xfrm>
            <a:prstGeom prst="rect">
              <a:avLst/>
            </a:prstGeom>
          </p:spPr>
          <p:txBody>
            <a:bodyPr lIns="0" tIns="0" rIns="0" bIns="0" rtlCol="0" anchor="t">
              <a:spAutoFit/>
            </a:bodyPr>
            <a:lstStyle/>
            <a:p>
              <a:pPr algn="ctr">
                <a:lnSpc>
                  <a:spcPts val="3353"/>
                </a:lnSpc>
                <a:spcBef>
                  <a:spcPct val="0"/>
                </a:spcBef>
              </a:pPr>
              <a:r>
                <a:rPr lang="en-US" sz="2395" b="1">
                  <a:solidFill>
                    <a:schemeClr val="bg1"/>
                  </a:solidFill>
                  <a:latin typeface="Canva Sans Medium"/>
                  <a:ea typeface="Canva Sans Medium"/>
                  <a:cs typeface="Canva Sans Medium"/>
                  <a:sym typeface="Canva Sans Medium"/>
                  <a:hlinkClick r:id="rId10" action="ppaction://hlinksldjump">
                    <a:extLst>
                      <a:ext uri="{A12FA001-AC4F-418D-AE19-62706E023703}">
                        <ahyp:hlinkClr xmlns:ahyp="http://schemas.microsoft.com/office/drawing/2018/hyperlinkcolor" val="tx"/>
                      </a:ext>
                    </a:extLst>
                  </a:hlinkClick>
                </a:rPr>
                <a:t>Agenda</a:t>
              </a:r>
            </a:p>
          </p:txBody>
        </p:sp>
      </p:grpSp>
      <p:grpSp>
        <p:nvGrpSpPr>
          <p:cNvPr id="26" name="Group 26"/>
          <p:cNvGrpSpPr/>
          <p:nvPr/>
        </p:nvGrpSpPr>
        <p:grpSpPr>
          <a:xfrm>
            <a:off x="6424994" y="8531270"/>
            <a:ext cx="2112851" cy="727030"/>
            <a:chOff x="0" y="0"/>
            <a:chExt cx="2817135" cy="969373"/>
          </a:xfrm>
        </p:grpSpPr>
        <p:grpSp>
          <p:nvGrpSpPr>
            <p:cNvPr id="27" name="Group 27"/>
            <p:cNvGrpSpPr/>
            <p:nvPr/>
          </p:nvGrpSpPr>
          <p:grpSpPr>
            <a:xfrm>
              <a:off x="0" y="0"/>
              <a:ext cx="2817135" cy="969373"/>
              <a:chOff x="0" y="0"/>
              <a:chExt cx="1654198" cy="569207"/>
            </a:xfrm>
          </p:grpSpPr>
          <p:sp>
            <p:nvSpPr>
              <p:cNvPr id="28" name="Freeform 28"/>
              <p:cNvSpPr/>
              <p:nvPr/>
            </p:nvSpPr>
            <p:spPr>
              <a:xfrm>
                <a:off x="0" y="0"/>
                <a:ext cx="1654198" cy="569207"/>
              </a:xfrm>
              <a:custGeom>
                <a:avLst/>
                <a:gdLst/>
                <a:ahLst/>
                <a:cxnLst/>
                <a:rect l="l" t="t" r="r" b="b"/>
                <a:pathLst>
                  <a:path w="1654198" h="569207">
                    <a:moveTo>
                      <a:pt x="199179" y="0"/>
                    </a:moveTo>
                    <a:lnTo>
                      <a:pt x="1455019" y="0"/>
                    </a:lnTo>
                    <a:cubicBezTo>
                      <a:pt x="1507844" y="0"/>
                      <a:pt x="1558506" y="20985"/>
                      <a:pt x="1595860" y="58338"/>
                    </a:cubicBezTo>
                    <a:cubicBezTo>
                      <a:pt x="1633213" y="95691"/>
                      <a:pt x="1654198" y="146353"/>
                      <a:pt x="1654198" y="199179"/>
                    </a:cubicBezTo>
                    <a:lnTo>
                      <a:pt x="1654198" y="370029"/>
                    </a:lnTo>
                    <a:cubicBezTo>
                      <a:pt x="1654198" y="480032"/>
                      <a:pt x="1565022" y="569207"/>
                      <a:pt x="1455019" y="569207"/>
                    </a:cubicBezTo>
                    <a:lnTo>
                      <a:pt x="199179" y="569207"/>
                    </a:lnTo>
                    <a:cubicBezTo>
                      <a:pt x="146353" y="569207"/>
                      <a:pt x="95691" y="548223"/>
                      <a:pt x="58338" y="510869"/>
                    </a:cubicBezTo>
                    <a:cubicBezTo>
                      <a:pt x="20985" y="473516"/>
                      <a:pt x="0" y="422854"/>
                      <a:pt x="0" y="370029"/>
                    </a:cubicBezTo>
                    <a:lnTo>
                      <a:pt x="0" y="199179"/>
                    </a:lnTo>
                    <a:cubicBezTo>
                      <a:pt x="0" y="146353"/>
                      <a:pt x="20985" y="95691"/>
                      <a:pt x="58338" y="58338"/>
                    </a:cubicBezTo>
                    <a:cubicBezTo>
                      <a:pt x="95691" y="20985"/>
                      <a:pt x="146353" y="0"/>
                      <a:pt x="199179" y="0"/>
                    </a:cubicBezTo>
                    <a:close/>
                  </a:path>
                </a:pathLst>
              </a:custGeom>
              <a:gradFill rotWithShape="1">
                <a:gsLst>
                  <a:gs pos="0">
                    <a:srgbClr val="3647F5">
                      <a:alpha val="100000"/>
                    </a:srgbClr>
                  </a:gs>
                  <a:gs pos="100000">
                    <a:srgbClr val="CF53FF">
                      <a:alpha val="100000"/>
                    </a:srgbClr>
                  </a:gs>
                </a:gsLst>
                <a:lin ang="0"/>
              </a:gradFill>
              <a:ln w="28575" cap="rnd">
                <a:gradFill>
                  <a:gsLst>
                    <a:gs pos="0">
                      <a:srgbClr val="97A4FF">
                        <a:alpha val="100000"/>
                      </a:srgbClr>
                    </a:gs>
                    <a:gs pos="100000">
                      <a:srgbClr val="CE88FF">
                        <a:alpha val="100000"/>
                      </a:srgbClr>
                    </a:gs>
                  </a:gsLst>
                  <a:lin ang="0"/>
                </a:gradFill>
                <a:prstDash val="solid"/>
                <a:round/>
              </a:ln>
            </p:spPr>
            <p:txBody>
              <a:bodyPr/>
              <a:lstStyle/>
              <a:p>
                <a:endParaRPr lang="ar-EG">
                  <a:solidFill>
                    <a:schemeClr val="bg1"/>
                  </a:solidFill>
                </a:endParaRPr>
              </a:p>
            </p:txBody>
          </p:sp>
          <p:sp>
            <p:nvSpPr>
              <p:cNvPr id="29" name="TextBox 29"/>
              <p:cNvSpPr txBox="1"/>
              <p:nvPr/>
            </p:nvSpPr>
            <p:spPr>
              <a:xfrm>
                <a:off x="0" y="-38100"/>
                <a:ext cx="1654198" cy="607307"/>
              </a:xfrm>
              <a:prstGeom prst="rect">
                <a:avLst/>
              </a:prstGeom>
            </p:spPr>
            <p:txBody>
              <a:bodyPr lIns="50800" tIns="50800" rIns="50800" bIns="50800" rtlCol="0" anchor="ctr"/>
              <a:lstStyle/>
              <a:p>
                <a:pPr marL="0" lvl="0" indent="0" algn="ctr">
                  <a:lnSpc>
                    <a:spcPts val="2659"/>
                  </a:lnSpc>
                  <a:spcBef>
                    <a:spcPct val="0"/>
                  </a:spcBef>
                </a:pPr>
                <a:endParaRPr>
                  <a:solidFill>
                    <a:schemeClr val="bg1"/>
                  </a:solidFill>
                </a:endParaRPr>
              </a:p>
            </p:txBody>
          </p:sp>
        </p:grpSp>
        <p:sp>
          <p:nvSpPr>
            <p:cNvPr id="30" name="TextBox 30"/>
            <p:cNvSpPr txBox="1"/>
            <p:nvPr/>
          </p:nvSpPr>
          <p:spPr>
            <a:xfrm>
              <a:off x="187891" y="207744"/>
              <a:ext cx="2288682" cy="541686"/>
            </a:xfrm>
            <a:prstGeom prst="rect">
              <a:avLst/>
            </a:prstGeom>
          </p:spPr>
          <p:txBody>
            <a:bodyPr lIns="0" tIns="0" rIns="0" bIns="0" rtlCol="0" anchor="t">
              <a:spAutoFit/>
            </a:bodyPr>
            <a:lstStyle/>
            <a:p>
              <a:pPr algn="ctr">
                <a:lnSpc>
                  <a:spcPts val="3353"/>
                </a:lnSpc>
                <a:spcBef>
                  <a:spcPct val="0"/>
                </a:spcBef>
              </a:pPr>
              <a:r>
                <a:rPr lang="en-US" sz="2395" b="1">
                  <a:solidFill>
                    <a:schemeClr val="bg1"/>
                  </a:solidFill>
                  <a:latin typeface="Canva Sans Medium"/>
                  <a:ea typeface="Canva Sans Medium"/>
                  <a:cs typeface="Canva Sans Medium"/>
                  <a:sym typeface="Canva Sans Medium"/>
                  <a:hlinkClick r:id="rId11" action="ppaction://hlinksldjump">
                    <a:extLst>
                      <a:ext uri="{A12FA001-AC4F-418D-AE19-62706E023703}">
                        <ahyp:hlinkClr xmlns:ahyp="http://schemas.microsoft.com/office/drawing/2018/hyperlinkcolor" val="tx"/>
                      </a:ext>
                    </a:extLst>
                  </a:hlinkClick>
                </a:rPr>
                <a:t>Summary</a:t>
              </a:r>
            </a:p>
          </p:txBody>
        </p:sp>
      </p:grpSp>
      <p:grpSp>
        <p:nvGrpSpPr>
          <p:cNvPr id="31" name="Group 31"/>
          <p:cNvGrpSpPr/>
          <p:nvPr/>
        </p:nvGrpSpPr>
        <p:grpSpPr>
          <a:xfrm>
            <a:off x="8747396" y="8513905"/>
            <a:ext cx="2607980" cy="698310"/>
            <a:chOff x="0" y="0"/>
            <a:chExt cx="3477307" cy="931080"/>
          </a:xfrm>
        </p:grpSpPr>
        <p:grpSp>
          <p:nvGrpSpPr>
            <p:cNvPr id="32" name="Group 32"/>
            <p:cNvGrpSpPr/>
            <p:nvPr/>
          </p:nvGrpSpPr>
          <p:grpSpPr>
            <a:xfrm>
              <a:off x="0" y="0"/>
              <a:ext cx="3477307" cy="931080"/>
              <a:chOff x="0" y="0"/>
              <a:chExt cx="2111764" cy="565444"/>
            </a:xfrm>
          </p:grpSpPr>
          <p:sp>
            <p:nvSpPr>
              <p:cNvPr id="33" name="Freeform 33"/>
              <p:cNvSpPr/>
              <p:nvPr/>
            </p:nvSpPr>
            <p:spPr>
              <a:xfrm>
                <a:off x="0" y="0"/>
                <a:ext cx="2111764" cy="565444"/>
              </a:xfrm>
              <a:custGeom>
                <a:avLst/>
                <a:gdLst/>
                <a:ahLst/>
                <a:cxnLst/>
                <a:rect l="l" t="t" r="r" b="b"/>
                <a:pathLst>
                  <a:path w="2111764" h="565444">
                    <a:moveTo>
                      <a:pt x="156022" y="0"/>
                    </a:moveTo>
                    <a:lnTo>
                      <a:pt x="1955742" y="0"/>
                    </a:lnTo>
                    <a:cubicBezTo>
                      <a:pt x="1997122" y="0"/>
                      <a:pt x="2036806" y="16438"/>
                      <a:pt x="2066066" y="45698"/>
                    </a:cubicBezTo>
                    <a:cubicBezTo>
                      <a:pt x="2095326" y="74958"/>
                      <a:pt x="2111764" y="114642"/>
                      <a:pt x="2111764" y="156022"/>
                    </a:cubicBezTo>
                    <a:lnTo>
                      <a:pt x="2111764" y="409422"/>
                    </a:lnTo>
                    <a:cubicBezTo>
                      <a:pt x="2111764" y="495590"/>
                      <a:pt x="2041911" y="565444"/>
                      <a:pt x="1955742" y="565444"/>
                    </a:cubicBezTo>
                    <a:lnTo>
                      <a:pt x="156022" y="565444"/>
                    </a:lnTo>
                    <a:cubicBezTo>
                      <a:pt x="69853" y="565444"/>
                      <a:pt x="0" y="495590"/>
                      <a:pt x="0" y="409422"/>
                    </a:cubicBezTo>
                    <a:lnTo>
                      <a:pt x="0" y="156022"/>
                    </a:lnTo>
                    <a:cubicBezTo>
                      <a:pt x="0" y="69853"/>
                      <a:pt x="69853" y="0"/>
                      <a:pt x="156022" y="0"/>
                    </a:cubicBezTo>
                    <a:close/>
                  </a:path>
                </a:pathLst>
              </a:custGeom>
              <a:gradFill rotWithShape="1">
                <a:gsLst>
                  <a:gs pos="0">
                    <a:srgbClr val="3647F5">
                      <a:alpha val="100000"/>
                    </a:srgbClr>
                  </a:gs>
                  <a:gs pos="100000">
                    <a:srgbClr val="CF53FF">
                      <a:alpha val="100000"/>
                    </a:srgbClr>
                  </a:gs>
                </a:gsLst>
                <a:lin ang="0"/>
              </a:gradFill>
              <a:ln w="28575" cap="rnd">
                <a:gradFill>
                  <a:gsLst>
                    <a:gs pos="0">
                      <a:srgbClr val="97A4FF">
                        <a:alpha val="100000"/>
                      </a:srgbClr>
                    </a:gs>
                    <a:gs pos="100000">
                      <a:srgbClr val="CE88FF">
                        <a:alpha val="100000"/>
                      </a:srgbClr>
                    </a:gs>
                  </a:gsLst>
                  <a:lin ang="0"/>
                </a:gradFill>
                <a:prstDash val="solid"/>
                <a:round/>
              </a:ln>
            </p:spPr>
            <p:txBody>
              <a:bodyPr/>
              <a:lstStyle/>
              <a:p>
                <a:endParaRPr lang="ar-EG">
                  <a:solidFill>
                    <a:schemeClr val="bg1"/>
                  </a:solidFill>
                </a:endParaRPr>
              </a:p>
            </p:txBody>
          </p:sp>
          <p:sp>
            <p:nvSpPr>
              <p:cNvPr id="34" name="TextBox 34"/>
              <p:cNvSpPr txBox="1"/>
              <p:nvPr/>
            </p:nvSpPr>
            <p:spPr>
              <a:xfrm>
                <a:off x="0" y="-28575"/>
                <a:ext cx="2111764" cy="594019"/>
              </a:xfrm>
              <a:prstGeom prst="rect">
                <a:avLst/>
              </a:prstGeom>
            </p:spPr>
            <p:txBody>
              <a:bodyPr lIns="50800" tIns="50800" rIns="50800" bIns="50800" rtlCol="0" anchor="ctr"/>
              <a:lstStyle/>
              <a:p>
                <a:pPr marL="0" lvl="0" indent="0" algn="ctr">
                  <a:lnSpc>
                    <a:spcPts val="1762"/>
                  </a:lnSpc>
                  <a:spcBef>
                    <a:spcPct val="0"/>
                  </a:spcBef>
                </a:pPr>
                <a:endParaRPr>
                  <a:solidFill>
                    <a:schemeClr val="bg1"/>
                  </a:solidFill>
                </a:endParaRPr>
              </a:p>
            </p:txBody>
          </p:sp>
        </p:grpSp>
        <p:sp>
          <p:nvSpPr>
            <p:cNvPr id="35" name="TextBox 35"/>
            <p:cNvSpPr txBox="1"/>
            <p:nvPr/>
          </p:nvSpPr>
          <p:spPr>
            <a:xfrm>
              <a:off x="231921" y="190079"/>
              <a:ext cx="2825015" cy="511679"/>
            </a:xfrm>
            <a:prstGeom prst="rect">
              <a:avLst/>
            </a:prstGeom>
          </p:spPr>
          <p:txBody>
            <a:bodyPr lIns="0" tIns="0" rIns="0" bIns="0" rtlCol="0" anchor="t">
              <a:spAutoFit/>
            </a:bodyPr>
            <a:lstStyle/>
            <a:p>
              <a:pPr marL="0" lvl="0" indent="0" algn="ctr">
                <a:lnSpc>
                  <a:spcPts val="3213"/>
                </a:lnSpc>
                <a:spcBef>
                  <a:spcPct val="0"/>
                </a:spcBef>
              </a:pPr>
              <a:r>
                <a:rPr lang="en-US" sz="2295" b="1" strike="noStrike">
                  <a:solidFill>
                    <a:schemeClr val="bg1"/>
                  </a:solidFill>
                  <a:latin typeface="Canva Sans Medium"/>
                  <a:ea typeface="Canva Sans Medium"/>
                  <a:cs typeface="Canva Sans Medium"/>
                  <a:sym typeface="Canva Sans Medium"/>
                  <a:hlinkClick r:id="rId12" action="ppaction://hlinksldjump">
                    <a:extLst>
                      <a:ext uri="{A12FA001-AC4F-418D-AE19-62706E023703}">
                        <ahyp:hlinkClr xmlns:ahyp="http://schemas.microsoft.com/office/drawing/2018/hyperlinkcolor" val="tx"/>
                      </a:ext>
                    </a:extLst>
                  </a:hlinkClick>
                </a:rPr>
                <a:t>Project Phases</a:t>
              </a:r>
            </a:p>
          </p:txBody>
        </p:sp>
      </p:grpSp>
      <p:grpSp>
        <p:nvGrpSpPr>
          <p:cNvPr id="36" name="Group 36"/>
          <p:cNvGrpSpPr/>
          <p:nvPr/>
        </p:nvGrpSpPr>
        <p:grpSpPr>
          <a:xfrm>
            <a:off x="11564926" y="8513905"/>
            <a:ext cx="3302847" cy="707309"/>
            <a:chOff x="0" y="0"/>
            <a:chExt cx="4403796" cy="943079"/>
          </a:xfrm>
        </p:grpSpPr>
        <p:grpSp>
          <p:nvGrpSpPr>
            <p:cNvPr id="37" name="Group 37"/>
            <p:cNvGrpSpPr/>
            <p:nvPr/>
          </p:nvGrpSpPr>
          <p:grpSpPr>
            <a:xfrm>
              <a:off x="0" y="0"/>
              <a:ext cx="4403796" cy="943079"/>
              <a:chOff x="0" y="0"/>
              <a:chExt cx="2674420" cy="572731"/>
            </a:xfrm>
          </p:grpSpPr>
          <p:sp>
            <p:nvSpPr>
              <p:cNvPr id="38" name="Freeform 38"/>
              <p:cNvSpPr/>
              <p:nvPr/>
            </p:nvSpPr>
            <p:spPr>
              <a:xfrm>
                <a:off x="0" y="0"/>
                <a:ext cx="2674420" cy="572731"/>
              </a:xfrm>
              <a:custGeom>
                <a:avLst/>
                <a:gdLst/>
                <a:ahLst/>
                <a:cxnLst/>
                <a:rect l="l" t="t" r="r" b="b"/>
                <a:pathLst>
                  <a:path w="2674420" h="572731">
                    <a:moveTo>
                      <a:pt x="123197" y="0"/>
                    </a:moveTo>
                    <a:lnTo>
                      <a:pt x="2551222" y="0"/>
                    </a:lnTo>
                    <a:cubicBezTo>
                      <a:pt x="2583896" y="0"/>
                      <a:pt x="2615232" y="12980"/>
                      <a:pt x="2638336" y="36084"/>
                    </a:cubicBezTo>
                    <a:cubicBezTo>
                      <a:pt x="2661440" y="59188"/>
                      <a:pt x="2674420" y="90523"/>
                      <a:pt x="2674420" y="123197"/>
                    </a:cubicBezTo>
                    <a:lnTo>
                      <a:pt x="2674420" y="449533"/>
                    </a:lnTo>
                    <a:cubicBezTo>
                      <a:pt x="2674420" y="482207"/>
                      <a:pt x="2661440" y="513543"/>
                      <a:pt x="2638336" y="536647"/>
                    </a:cubicBezTo>
                    <a:cubicBezTo>
                      <a:pt x="2615232" y="559751"/>
                      <a:pt x="2583896" y="572731"/>
                      <a:pt x="2551222" y="572731"/>
                    </a:cubicBezTo>
                    <a:lnTo>
                      <a:pt x="123197" y="572731"/>
                    </a:lnTo>
                    <a:cubicBezTo>
                      <a:pt x="90523" y="572731"/>
                      <a:pt x="59188" y="559751"/>
                      <a:pt x="36084" y="536647"/>
                    </a:cubicBezTo>
                    <a:cubicBezTo>
                      <a:pt x="12980" y="513543"/>
                      <a:pt x="0" y="482207"/>
                      <a:pt x="0" y="449533"/>
                    </a:cubicBezTo>
                    <a:lnTo>
                      <a:pt x="0" y="123197"/>
                    </a:lnTo>
                    <a:cubicBezTo>
                      <a:pt x="0" y="90523"/>
                      <a:pt x="12980" y="59188"/>
                      <a:pt x="36084" y="36084"/>
                    </a:cubicBezTo>
                    <a:cubicBezTo>
                      <a:pt x="59188" y="12980"/>
                      <a:pt x="90523" y="0"/>
                      <a:pt x="123197" y="0"/>
                    </a:cubicBezTo>
                    <a:close/>
                  </a:path>
                </a:pathLst>
              </a:custGeom>
              <a:gradFill rotWithShape="1">
                <a:gsLst>
                  <a:gs pos="0">
                    <a:srgbClr val="3647F5">
                      <a:alpha val="100000"/>
                    </a:srgbClr>
                  </a:gs>
                  <a:gs pos="100000">
                    <a:srgbClr val="CF53FF">
                      <a:alpha val="100000"/>
                    </a:srgbClr>
                  </a:gs>
                </a:gsLst>
                <a:lin ang="0"/>
              </a:gradFill>
              <a:ln w="28575" cap="rnd">
                <a:gradFill>
                  <a:gsLst>
                    <a:gs pos="0">
                      <a:srgbClr val="97A4FF">
                        <a:alpha val="100000"/>
                      </a:srgbClr>
                    </a:gs>
                    <a:gs pos="100000">
                      <a:srgbClr val="CE88FF">
                        <a:alpha val="100000"/>
                      </a:srgbClr>
                    </a:gs>
                  </a:gsLst>
                  <a:lin ang="0"/>
                </a:gradFill>
                <a:prstDash val="solid"/>
                <a:round/>
              </a:ln>
            </p:spPr>
            <p:txBody>
              <a:bodyPr/>
              <a:lstStyle/>
              <a:p>
                <a:endParaRPr lang="ar-EG">
                  <a:solidFill>
                    <a:schemeClr val="bg1"/>
                  </a:solidFill>
                </a:endParaRPr>
              </a:p>
            </p:txBody>
          </p:sp>
          <p:sp>
            <p:nvSpPr>
              <p:cNvPr id="39" name="TextBox 39"/>
              <p:cNvSpPr txBox="1"/>
              <p:nvPr/>
            </p:nvSpPr>
            <p:spPr>
              <a:xfrm>
                <a:off x="0" y="-28575"/>
                <a:ext cx="2674420" cy="601306"/>
              </a:xfrm>
              <a:prstGeom prst="rect">
                <a:avLst/>
              </a:prstGeom>
            </p:spPr>
            <p:txBody>
              <a:bodyPr lIns="50800" tIns="50800" rIns="50800" bIns="50800" rtlCol="0" anchor="ctr"/>
              <a:lstStyle/>
              <a:p>
                <a:pPr marL="0" lvl="0" indent="0" algn="ctr">
                  <a:lnSpc>
                    <a:spcPts val="1762"/>
                  </a:lnSpc>
                  <a:spcBef>
                    <a:spcPct val="0"/>
                  </a:spcBef>
                </a:pPr>
                <a:endParaRPr>
                  <a:solidFill>
                    <a:schemeClr val="bg1"/>
                  </a:solidFill>
                </a:endParaRPr>
              </a:p>
            </p:txBody>
          </p:sp>
        </p:grpSp>
        <p:sp>
          <p:nvSpPr>
            <p:cNvPr id="40" name="TextBox 40"/>
            <p:cNvSpPr txBox="1"/>
            <p:nvPr/>
          </p:nvSpPr>
          <p:spPr>
            <a:xfrm>
              <a:off x="293715" y="190079"/>
              <a:ext cx="3577708" cy="515295"/>
            </a:xfrm>
            <a:prstGeom prst="rect">
              <a:avLst/>
            </a:prstGeom>
          </p:spPr>
          <p:txBody>
            <a:bodyPr lIns="0" tIns="0" rIns="0" bIns="0" rtlCol="0" anchor="t">
              <a:spAutoFit/>
            </a:bodyPr>
            <a:lstStyle/>
            <a:p>
              <a:pPr algn="ctr">
                <a:lnSpc>
                  <a:spcPts val="3242"/>
                </a:lnSpc>
                <a:spcBef>
                  <a:spcPct val="0"/>
                </a:spcBef>
              </a:pPr>
              <a:r>
                <a:rPr lang="en-US" sz="2315" b="1">
                  <a:solidFill>
                    <a:schemeClr val="bg1"/>
                  </a:solidFill>
                  <a:latin typeface="Canva Sans Medium"/>
                  <a:ea typeface="Canva Sans Medium"/>
                  <a:cs typeface="Canva Sans Medium"/>
                  <a:sym typeface="Canva Sans Medium"/>
                  <a:hlinkClick r:id="rId13" action="ppaction://hlinksldjump">
                    <a:extLst>
                      <a:ext uri="{A12FA001-AC4F-418D-AE19-62706E023703}">
                        <ahyp:hlinkClr xmlns:ahyp="http://schemas.microsoft.com/office/drawing/2018/hyperlinkcolor" val="tx"/>
                      </a:ext>
                    </a:extLst>
                  </a:hlinkClick>
                </a:rPr>
                <a:t>Recommendations</a:t>
              </a:r>
            </a:p>
          </p:txBody>
        </p:sp>
      </p:grpSp>
      <p:grpSp>
        <p:nvGrpSpPr>
          <p:cNvPr id="41" name="Group 41"/>
          <p:cNvGrpSpPr/>
          <p:nvPr/>
        </p:nvGrpSpPr>
        <p:grpSpPr>
          <a:xfrm>
            <a:off x="15077323" y="8513905"/>
            <a:ext cx="2181977" cy="714820"/>
            <a:chOff x="0" y="0"/>
            <a:chExt cx="2909303" cy="953093"/>
          </a:xfrm>
        </p:grpSpPr>
        <p:grpSp>
          <p:nvGrpSpPr>
            <p:cNvPr id="42" name="Group 42"/>
            <p:cNvGrpSpPr/>
            <p:nvPr/>
          </p:nvGrpSpPr>
          <p:grpSpPr>
            <a:xfrm>
              <a:off x="0" y="0"/>
              <a:ext cx="2909303" cy="953093"/>
              <a:chOff x="0" y="0"/>
              <a:chExt cx="1766816" cy="578812"/>
            </a:xfrm>
          </p:grpSpPr>
          <p:sp>
            <p:nvSpPr>
              <p:cNvPr id="43" name="Freeform 43"/>
              <p:cNvSpPr/>
              <p:nvPr/>
            </p:nvSpPr>
            <p:spPr>
              <a:xfrm>
                <a:off x="0" y="0"/>
                <a:ext cx="1766816" cy="578812"/>
              </a:xfrm>
              <a:custGeom>
                <a:avLst/>
                <a:gdLst/>
                <a:ahLst/>
                <a:cxnLst/>
                <a:rect l="l" t="t" r="r" b="b"/>
                <a:pathLst>
                  <a:path w="1766816" h="578812">
                    <a:moveTo>
                      <a:pt x="186483" y="0"/>
                    </a:moveTo>
                    <a:lnTo>
                      <a:pt x="1580332" y="0"/>
                    </a:lnTo>
                    <a:cubicBezTo>
                      <a:pt x="1629791" y="0"/>
                      <a:pt x="1677224" y="19647"/>
                      <a:pt x="1712196" y="54620"/>
                    </a:cubicBezTo>
                    <a:cubicBezTo>
                      <a:pt x="1747168" y="89592"/>
                      <a:pt x="1766816" y="137025"/>
                      <a:pt x="1766816" y="186483"/>
                    </a:cubicBezTo>
                    <a:lnTo>
                      <a:pt x="1766816" y="392329"/>
                    </a:lnTo>
                    <a:cubicBezTo>
                      <a:pt x="1766816" y="441788"/>
                      <a:pt x="1747168" y="489220"/>
                      <a:pt x="1712196" y="524193"/>
                    </a:cubicBezTo>
                    <a:cubicBezTo>
                      <a:pt x="1677224" y="559165"/>
                      <a:pt x="1629791" y="578812"/>
                      <a:pt x="1580332" y="578812"/>
                    </a:cubicBezTo>
                    <a:lnTo>
                      <a:pt x="186483" y="578812"/>
                    </a:lnTo>
                    <a:cubicBezTo>
                      <a:pt x="137025" y="578812"/>
                      <a:pt x="89592" y="559165"/>
                      <a:pt x="54620" y="524193"/>
                    </a:cubicBezTo>
                    <a:cubicBezTo>
                      <a:pt x="19647" y="489220"/>
                      <a:pt x="0" y="441788"/>
                      <a:pt x="0" y="392329"/>
                    </a:cubicBezTo>
                    <a:lnTo>
                      <a:pt x="0" y="186483"/>
                    </a:lnTo>
                    <a:cubicBezTo>
                      <a:pt x="0" y="137025"/>
                      <a:pt x="19647" y="89592"/>
                      <a:pt x="54620" y="54620"/>
                    </a:cubicBezTo>
                    <a:cubicBezTo>
                      <a:pt x="89592" y="19647"/>
                      <a:pt x="137025" y="0"/>
                      <a:pt x="186483" y="0"/>
                    </a:cubicBezTo>
                    <a:close/>
                  </a:path>
                </a:pathLst>
              </a:custGeom>
              <a:gradFill rotWithShape="1">
                <a:gsLst>
                  <a:gs pos="0">
                    <a:srgbClr val="3647F5">
                      <a:alpha val="100000"/>
                    </a:srgbClr>
                  </a:gs>
                  <a:gs pos="100000">
                    <a:srgbClr val="CF53FF">
                      <a:alpha val="100000"/>
                    </a:srgbClr>
                  </a:gs>
                </a:gsLst>
                <a:lin ang="0"/>
              </a:gradFill>
              <a:ln w="28575" cap="rnd">
                <a:gradFill>
                  <a:gsLst>
                    <a:gs pos="0">
                      <a:srgbClr val="97A4FF">
                        <a:alpha val="100000"/>
                      </a:srgbClr>
                    </a:gs>
                    <a:gs pos="100000">
                      <a:srgbClr val="CE88FF">
                        <a:alpha val="100000"/>
                      </a:srgbClr>
                    </a:gs>
                  </a:gsLst>
                  <a:lin ang="0"/>
                </a:gradFill>
                <a:prstDash val="solid"/>
                <a:round/>
              </a:ln>
            </p:spPr>
            <p:txBody>
              <a:bodyPr/>
              <a:lstStyle/>
              <a:p>
                <a:endParaRPr lang="ar-EG">
                  <a:solidFill>
                    <a:schemeClr val="bg1"/>
                  </a:solidFill>
                </a:endParaRPr>
              </a:p>
            </p:txBody>
          </p:sp>
          <p:sp>
            <p:nvSpPr>
              <p:cNvPr id="44" name="TextBox 44"/>
              <p:cNvSpPr txBox="1"/>
              <p:nvPr/>
            </p:nvSpPr>
            <p:spPr>
              <a:xfrm>
                <a:off x="0" y="-38100"/>
                <a:ext cx="1766816" cy="616912"/>
              </a:xfrm>
              <a:prstGeom prst="rect">
                <a:avLst/>
              </a:prstGeom>
            </p:spPr>
            <p:txBody>
              <a:bodyPr lIns="50800" tIns="50800" rIns="50800" bIns="50800" rtlCol="0" anchor="ctr"/>
              <a:lstStyle/>
              <a:p>
                <a:pPr algn="ctr">
                  <a:lnSpc>
                    <a:spcPts val="2659"/>
                  </a:lnSpc>
                  <a:spcBef>
                    <a:spcPct val="0"/>
                  </a:spcBef>
                </a:pPr>
                <a:endParaRPr>
                  <a:solidFill>
                    <a:schemeClr val="bg1"/>
                  </a:solidFill>
                </a:endParaRPr>
              </a:p>
            </p:txBody>
          </p:sp>
        </p:grpSp>
        <p:sp>
          <p:nvSpPr>
            <p:cNvPr id="45" name="TextBox 45"/>
            <p:cNvSpPr txBox="1"/>
            <p:nvPr/>
          </p:nvSpPr>
          <p:spPr>
            <a:xfrm>
              <a:off x="194039" y="199604"/>
              <a:ext cx="2363560" cy="541686"/>
            </a:xfrm>
            <a:prstGeom prst="rect">
              <a:avLst/>
            </a:prstGeom>
          </p:spPr>
          <p:txBody>
            <a:bodyPr lIns="0" tIns="0" rIns="0" bIns="0" rtlCol="0" anchor="t">
              <a:spAutoFit/>
            </a:bodyPr>
            <a:lstStyle/>
            <a:p>
              <a:pPr marL="0" lvl="0" indent="0" algn="ctr">
                <a:lnSpc>
                  <a:spcPts val="3353"/>
                </a:lnSpc>
                <a:spcBef>
                  <a:spcPct val="0"/>
                </a:spcBef>
              </a:pPr>
              <a:r>
                <a:rPr lang="en-US" sz="2395" b="1" strike="noStrike">
                  <a:solidFill>
                    <a:schemeClr val="bg1"/>
                  </a:solidFill>
                  <a:latin typeface="Canva Sans Bold"/>
                  <a:ea typeface="Canva Sans Bold"/>
                  <a:cs typeface="Canva Sans Bold"/>
                  <a:sym typeface="Canva Sans Bold"/>
                  <a:hlinkClick r:id="rId14" action="ppaction://hlinksldjump">
                    <a:extLst>
                      <a:ext uri="{A12FA001-AC4F-418D-AE19-62706E023703}">
                        <ahyp:hlinkClr xmlns:ahyp="http://schemas.microsoft.com/office/drawing/2018/hyperlinkcolor" val="tx"/>
                      </a:ext>
                    </a:extLst>
                  </a:hlinkClick>
                </a:rPr>
                <a:t>Touch Us</a:t>
              </a:r>
            </a:p>
          </p:txBody>
        </p:sp>
      </p:grpSp>
      <p:grpSp>
        <p:nvGrpSpPr>
          <p:cNvPr id="46" name="Group 46"/>
          <p:cNvGrpSpPr/>
          <p:nvPr/>
        </p:nvGrpSpPr>
        <p:grpSpPr>
          <a:xfrm>
            <a:off x="12434648" y="1028700"/>
            <a:ext cx="4866251" cy="947041"/>
            <a:chOff x="0" y="0"/>
            <a:chExt cx="6488335" cy="1262721"/>
          </a:xfrm>
        </p:grpSpPr>
        <p:grpSp>
          <p:nvGrpSpPr>
            <p:cNvPr id="47" name="Group 47"/>
            <p:cNvGrpSpPr/>
            <p:nvPr/>
          </p:nvGrpSpPr>
          <p:grpSpPr>
            <a:xfrm>
              <a:off x="0" y="0"/>
              <a:ext cx="6488335" cy="1262721"/>
              <a:chOff x="0" y="0"/>
              <a:chExt cx="1281646" cy="249426"/>
            </a:xfrm>
          </p:grpSpPr>
          <p:sp>
            <p:nvSpPr>
              <p:cNvPr id="48" name="Freeform 48"/>
              <p:cNvSpPr/>
              <p:nvPr/>
            </p:nvSpPr>
            <p:spPr>
              <a:xfrm>
                <a:off x="0" y="0"/>
                <a:ext cx="1281646" cy="249426"/>
              </a:xfrm>
              <a:custGeom>
                <a:avLst/>
                <a:gdLst/>
                <a:ahLst/>
                <a:cxnLst/>
                <a:rect l="l" t="t" r="r" b="b"/>
                <a:pathLst>
                  <a:path w="1281646" h="249426">
                    <a:moveTo>
                      <a:pt x="124713" y="0"/>
                    </a:moveTo>
                    <a:lnTo>
                      <a:pt x="1156933" y="0"/>
                    </a:lnTo>
                    <a:cubicBezTo>
                      <a:pt x="1225810" y="0"/>
                      <a:pt x="1281646" y="55836"/>
                      <a:pt x="1281646" y="124713"/>
                    </a:cubicBezTo>
                    <a:lnTo>
                      <a:pt x="1281646" y="124713"/>
                    </a:lnTo>
                    <a:cubicBezTo>
                      <a:pt x="1281646" y="157789"/>
                      <a:pt x="1268507" y="189511"/>
                      <a:pt x="1245119" y="212899"/>
                    </a:cubicBezTo>
                    <a:cubicBezTo>
                      <a:pt x="1221730" y="236287"/>
                      <a:pt x="1190009" y="249426"/>
                      <a:pt x="1156933" y="249426"/>
                    </a:cubicBezTo>
                    <a:lnTo>
                      <a:pt x="124713" y="249426"/>
                    </a:lnTo>
                    <a:cubicBezTo>
                      <a:pt x="55836" y="249426"/>
                      <a:pt x="0" y="193590"/>
                      <a:pt x="0" y="124713"/>
                    </a:cubicBezTo>
                    <a:lnTo>
                      <a:pt x="0" y="124713"/>
                    </a:lnTo>
                    <a:cubicBezTo>
                      <a:pt x="0" y="55836"/>
                      <a:pt x="55836" y="0"/>
                      <a:pt x="124713" y="0"/>
                    </a:cubicBezTo>
                    <a:close/>
                  </a:path>
                </a:pathLst>
              </a:custGeom>
              <a:gradFill rotWithShape="1">
                <a:gsLst>
                  <a:gs pos="0">
                    <a:srgbClr val="3647F5">
                      <a:alpha val="100000"/>
                    </a:srgbClr>
                  </a:gs>
                  <a:gs pos="100000">
                    <a:srgbClr val="CF53FF">
                      <a:alpha val="100000"/>
                    </a:srgbClr>
                  </a:gs>
                </a:gsLst>
                <a:lin ang="0"/>
              </a:gradFill>
              <a:ln w="28575" cap="rnd">
                <a:gradFill>
                  <a:gsLst>
                    <a:gs pos="0">
                      <a:srgbClr val="97A4FF">
                        <a:alpha val="100000"/>
                      </a:srgbClr>
                    </a:gs>
                    <a:gs pos="100000">
                      <a:srgbClr val="CE88FF">
                        <a:alpha val="100000"/>
                      </a:srgbClr>
                    </a:gs>
                  </a:gsLst>
                  <a:lin ang="0"/>
                </a:gradFill>
                <a:prstDash val="solid"/>
                <a:round/>
              </a:ln>
            </p:spPr>
            <p:txBody>
              <a:bodyPr/>
              <a:lstStyle/>
              <a:p>
                <a:endParaRPr lang="ar-EG"/>
              </a:p>
            </p:txBody>
          </p:sp>
          <p:sp>
            <p:nvSpPr>
              <p:cNvPr id="49" name="TextBox 49"/>
              <p:cNvSpPr txBox="1"/>
              <p:nvPr/>
            </p:nvSpPr>
            <p:spPr>
              <a:xfrm>
                <a:off x="0" y="-38100"/>
                <a:ext cx="1281646" cy="28752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50" name="TextBox 50"/>
            <p:cNvSpPr txBox="1"/>
            <p:nvPr/>
          </p:nvSpPr>
          <p:spPr>
            <a:xfrm>
              <a:off x="158549" y="233215"/>
              <a:ext cx="6171238" cy="729616"/>
            </a:xfrm>
            <a:prstGeom prst="rect">
              <a:avLst/>
            </a:prstGeom>
          </p:spPr>
          <p:txBody>
            <a:bodyPr lIns="0" tIns="0" rIns="0" bIns="0" rtlCol="0" anchor="t">
              <a:spAutoFit/>
            </a:bodyPr>
            <a:lstStyle/>
            <a:p>
              <a:pPr algn="ctr">
                <a:lnSpc>
                  <a:spcPts val="4619"/>
                </a:lnSpc>
                <a:spcBef>
                  <a:spcPct val="0"/>
                </a:spcBef>
              </a:pPr>
              <a:r>
                <a:rPr lang="en-US" sz="3299" b="1">
                  <a:solidFill>
                    <a:srgbClr val="FFFFFF">
                      <a:alpha val="89804"/>
                    </a:srgbClr>
                  </a:solidFill>
                  <a:latin typeface="Canva Sans Bold"/>
                  <a:ea typeface="Canva Sans Bold"/>
                  <a:cs typeface="Canva Sans Bold"/>
                  <a:sym typeface="Canva Sans Bold"/>
                </a:rPr>
                <a:t>CAI3_DAT2_G5 Team 2</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288578" y="8699655"/>
            <a:ext cx="3809539" cy="1587339"/>
            <a:chOff x="0" y="0"/>
            <a:chExt cx="1003335" cy="836133"/>
          </a:xfrm>
        </p:grpSpPr>
        <p:sp>
          <p:nvSpPr>
            <p:cNvPr id="3" name="Freeform 3"/>
            <p:cNvSpPr/>
            <p:nvPr/>
          </p:nvSpPr>
          <p:spPr>
            <a:xfrm>
              <a:off x="0" y="0"/>
              <a:ext cx="1003335" cy="836132"/>
            </a:xfrm>
            <a:custGeom>
              <a:avLst/>
              <a:gdLst/>
              <a:ahLst/>
              <a:cxnLst/>
              <a:rect l="l" t="t" r="r" b="b"/>
              <a:pathLst>
                <a:path w="1003335" h="836132">
                  <a:moveTo>
                    <a:pt x="85354" y="0"/>
                  </a:moveTo>
                  <a:lnTo>
                    <a:pt x="917981" y="0"/>
                  </a:lnTo>
                  <a:cubicBezTo>
                    <a:pt x="965121" y="0"/>
                    <a:pt x="1003335" y="38214"/>
                    <a:pt x="1003335" y="85354"/>
                  </a:cubicBezTo>
                  <a:lnTo>
                    <a:pt x="1003335" y="750778"/>
                  </a:lnTo>
                  <a:cubicBezTo>
                    <a:pt x="1003335" y="797918"/>
                    <a:pt x="965121" y="836132"/>
                    <a:pt x="917981" y="836132"/>
                  </a:cubicBezTo>
                  <a:lnTo>
                    <a:pt x="85354" y="836132"/>
                  </a:lnTo>
                  <a:cubicBezTo>
                    <a:pt x="38214" y="836132"/>
                    <a:pt x="0" y="797918"/>
                    <a:pt x="0" y="750778"/>
                  </a:cubicBezTo>
                  <a:lnTo>
                    <a:pt x="0" y="85354"/>
                  </a:lnTo>
                  <a:cubicBezTo>
                    <a:pt x="0" y="38214"/>
                    <a:pt x="38214" y="0"/>
                    <a:pt x="85354"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4" name="TextBox 4"/>
            <p:cNvSpPr txBox="1"/>
            <p:nvPr/>
          </p:nvSpPr>
          <p:spPr>
            <a:xfrm>
              <a:off x="0" y="-38100"/>
              <a:ext cx="1003335" cy="8742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rot="5400000">
            <a:off x="10673514" y="2462958"/>
            <a:ext cx="10260858" cy="5387210"/>
          </a:xfrm>
          <a:custGeom>
            <a:avLst/>
            <a:gdLst/>
            <a:ahLst/>
            <a:cxnLst/>
            <a:rect l="l" t="t" r="r" b="b"/>
            <a:pathLst>
              <a:path w="9892869" h="9299297">
                <a:moveTo>
                  <a:pt x="0" y="0"/>
                </a:moveTo>
                <a:lnTo>
                  <a:pt x="9892869" y="0"/>
                </a:lnTo>
                <a:lnTo>
                  <a:pt x="9892869" y="9299297"/>
                </a:lnTo>
                <a:lnTo>
                  <a:pt x="0" y="9299297"/>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ar-EG"/>
          </a:p>
        </p:txBody>
      </p:sp>
      <p:grpSp>
        <p:nvGrpSpPr>
          <p:cNvPr id="7" name="Group 7"/>
          <p:cNvGrpSpPr/>
          <p:nvPr/>
        </p:nvGrpSpPr>
        <p:grpSpPr>
          <a:xfrm>
            <a:off x="1028700" y="3060014"/>
            <a:ext cx="16230600" cy="5421917"/>
            <a:chOff x="0" y="0"/>
            <a:chExt cx="4274726" cy="1427995"/>
          </a:xfrm>
        </p:grpSpPr>
        <p:sp>
          <p:nvSpPr>
            <p:cNvPr id="8" name="Freeform 8"/>
            <p:cNvSpPr/>
            <p:nvPr/>
          </p:nvSpPr>
          <p:spPr>
            <a:xfrm>
              <a:off x="0" y="0"/>
              <a:ext cx="4274726" cy="1427995"/>
            </a:xfrm>
            <a:custGeom>
              <a:avLst/>
              <a:gdLst/>
              <a:ahLst/>
              <a:cxnLst/>
              <a:rect l="l" t="t" r="r" b="b"/>
              <a:pathLst>
                <a:path w="4274726" h="1427995">
                  <a:moveTo>
                    <a:pt x="20034" y="0"/>
                  </a:moveTo>
                  <a:lnTo>
                    <a:pt x="4254692" y="0"/>
                  </a:lnTo>
                  <a:cubicBezTo>
                    <a:pt x="4265756" y="0"/>
                    <a:pt x="4274726" y="8969"/>
                    <a:pt x="4274726" y="20034"/>
                  </a:cubicBezTo>
                  <a:lnTo>
                    <a:pt x="4274726" y="1407961"/>
                  </a:lnTo>
                  <a:cubicBezTo>
                    <a:pt x="4274726" y="1419025"/>
                    <a:pt x="4265756" y="1427995"/>
                    <a:pt x="4254692" y="1427995"/>
                  </a:cubicBezTo>
                  <a:lnTo>
                    <a:pt x="20034" y="1427995"/>
                  </a:lnTo>
                  <a:cubicBezTo>
                    <a:pt x="8969" y="1427995"/>
                    <a:pt x="0" y="1419025"/>
                    <a:pt x="0" y="1407961"/>
                  </a:cubicBezTo>
                  <a:lnTo>
                    <a:pt x="0" y="20034"/>
                  </a:lnTo>
                  <a:cubicBezTo>
                    <a:pt x="0" y="8969"/>
                    <a:pt x="8969" y="0"/>
                    <a:pt x="20034"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9" name="TextBox 9"/>
            <p:cNvSpPr txBox="1"/>
            <p:nvPr/>
          </p:nvSpPr>
          <p:spPr>
            <a:xfrm>
              <a:off x="0" y="-38100"/>
              <a:ext cx="4274726" cy="146609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13217643" y="8699655"/>
            <a:ext cx="4031289" cy="1587345"/>
            <a:chOff x="0" y="0"/>
            <a:chExt cx="1061739" cy="836133"/>
          </a:xfrm>
        </p:grpSpPr>
        <p:sp>
          <p:nvSpPr>
            <p:cNvPr id="11" name="Freeform 11"/>
            <p:cNvSpPr/>
            <p:nvPr/>
          </p:nvSpPr>
          <p:spPr>
            <a:xfrm>
              <a:off x="0" y="0"/>
              <a:ext cx="1061739" cy="836132"/>
            </a:xfrm>
            <a:custGeom>
              <a:avLst/>
              <a:gdLst/>
              <a:ahLst/>
              <a:cxnLst/>
              <a:rect l="l" t="t" r="r" b="b"/>
              <a:pathLst>
                <a:path w="1061739" h="836132">
                  <a:moveTo>
                    <a:pt x="80659" y="0"/>
                  </a:moveTo>
                  <a:lnTo>
                    <a:pt x="981079" y="0"/>
                  </a:lnTo>
                  <a:cubicBezTo>
                    <a:pt x="1025626" y="0"/>
                    <a:pt x="1061739" y="36112"/>
                    <a:pt x="1061739" y="80659"/>
                  </a:cubicBezTo>
                  <a:lnTo>
                    <a:pt x="1061739" y="755473"/>
                  </a:lnTo>
                  <a:cubicBezTo>
                    <a:pt x="1061739" y="800020"/>
                    <a:pt x="1025626" y="836132"/>
                    <a:pt x="981079" y="836132"/>
                  </a:cubicBezTo>
                  <a:lnTo>
                    <a:pt x="80659" y="836132"/>
                  </a:lnTo>
                  <a:cubicBezTo>
                    <a:pt x="36112" y="836132"/>
                    <a:pt x="0" y="800020"/>
                    <a:pt x="0" y="755473"/>
                  </a:cubicBezTo>
                  <a:lnTo>
                    <a:pt x="0" y="80659"/>
                  </a:lnTo>
                  <a:cubicBezTo>
                    <a:pt x="0" y="36112"/>
                    <a:pt x="36112" y="0"/>
                    <a:pt x="80659"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12" name="TextBox 12"/>
            <p:cNvSpPr txBox="1"/>
            <p:nvPr/>
          </p:nvSpPr>
          <p:spPr>
            <a:xfrm>
              <a:off x="0" y="-38100"/>
              <a:ext cx="1061739" cy="8742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Freeform 13"/>
          <p:cNvSpPr/>
          <p:nvPr/>
        </p:nvSpPr>
        <p:spPr>
          <a:xfrm flipH="1">
            <a:off x="9216224" y="2345077"/>
            <a:ext cx="3753768" cy="6099642"/>
          </a:xfrm>
          <a:custGeom>
            <a:avLst/>
            <a:gdLst/>
            <a:ahLst/>
            <a:cxnLst/>
            <a:rect l="l" t="t" r="r" b="b"/>
            <a:pathLst>
              <a:path w="3753768" h="6099642">
                <a:moveTo>
                  <a:pt x="3753769" y="0"/>
                </a:moveTo>
                <a:lnTo>
                  <a:pt x="0" y="0"/>
                </a:lnTo>
                <a:lnTo>
                  <a:pt x="0" y="6099642"/>
                </a:lnTo>
                <a:lnTo>
                  <a:pt x="3753769" y="6099642"/>
                </a:lnTo>
                <a:lnTo>
                  <a:pt x="3753769" y="0"/>
                </a:lnTo>
                <a:close/>
              </a:path>
            </a:pathLst>
          </a:custGeom>
          <a:blipFill>
            <a:blip r:embed="rId4"/>
            <a:stretch>
              <a:fillRect l="-22795" t="-18447" r="-26903"/>
            </a:stretch>
          </a:blipFill>
          <a:ln cap="sq">
            <a:noFill/>
            <a:prstDash val="solid"/>
            <a:miter/>
          </a:ln>
        </p:spPr>
        <p:txBody>
          <a:bodyPr/>
          <a:lstStyle/>
          <a:p>
            <a:endParaRPr lang="ar-EG"/>
          </a:p>
        </p:txBody>
      </p:sp>
      <p:sp>
        <p:nvSpPr>
          <p:cNvPr id="14" name="Freeform 14"/>
          <p:cNvSpPr/>
          <p:nvPr/>
        </p:nvSpPr>
        <p:spPr>
          <a:xfrm flipH="1">
            <a:off x="1027346" y="2345077"/>
            <a:ext cx="4317958" cy="6099642"/>
          </a:xfrm>
          <a:custGeom>
            <a:avLst/>
            <a:gdLst/>
            <a:ahLst/>
            <a:cxnLst/>
            <a:rect l="l" t="t" r="r" b="b"/>
            <a:pathLst>
              <a:path w="4317958" h="6099642">
                <a:moveTo>
                  <a:pt x="4317958" y="0"/>
                </a:moveTo>
                <a:lnTo>
                  <a:pt x="0" y="0"/>
                </a:lnTo>
                <a:lnTo>
                  <a:pt x="0" y="6099642"/>
                </a:lnTo>
                <a:lnTo>
                  <a:pt x="4317958" y="6099642"/>
                </a:lnTo>
                <a:lnTo>
                  <a:pt x="4317958" y="0"/>
                </a:lnTo>
                <a:close/>
              </a:path>
            </a:pathLst>
          </a:custGeom>
          <a:blipFill>
            <a:blip r:embed="rId5"/>
            <a:stretch>
              <a:fillRect t="-6185"/>
            </a:stretch>
          </a:blipFill>
        </p:spPr>
        <p:txBody>
          <a:bodyPr/>
          <a:lstStyle/>
          <a:p>
            <a:endParaRPr lang="ar-EG"/>
          </a:p>
        </p:txBody>
      </p:sp>
      <p:grpSp>
        <p:nvGrpSpPr>
          <p:cNvPr id="15" name="Group 15"/>
          <p:cNvGrpSpPr/>
          <p:nvPr/>
        </p:nvGrpSpPr>
        <p:grpSpPr>
          <a:xfrm>
            <a:off x="9196721" y="8699655"/>
            <a:ext cx="3773272" cy="1587343"/>
            <a:chOff x="0" y="0"/>
            <a:chExt cx="993783" cy="836133"/>
          </a:xfrm>
        </p:grpSpPr>
        <p:sp>
          <p:nvSpPr>
            <p:cNvPr id="16" name="Freeform 16"/>
            <p:cNvSpPr/>
            <p:nvPr/>
          </p:nvSpPr>
          <p:spPr>
            <a:xfrm>
              <a:off x="0" y="0"/>
              <a:ext cx="993784" cy="836132"/>
            </a:xfrm>
            <a:custGeom>
              <a:avLst/>
              <a:gdLst/>
              <a:ahLst/>
              <a:cxnLst/>
              <a:rect l="l" t="t" r="r" b="b"/>
              <a:pathLst>
                <a:path w="993784" h="836132">
                  <a:moveTo>
                    <a:pt x="86175" y="0"/>
                  </a:moveTo>
                  <a:lnTo>
                    <a:pt x="907609" y="0"/>
                  </a:lnTo>
                  <a:cubicBezTo>
                    <a:pt x="955202" y="0"/>
                    <a:pt x="993784" y="38582"/>
                    <a:pt x="993784" y="86175"/>
                  </a:cubicBezTo>
                  <a:lnTo>
                    <a:pt x="993784" y="749958"/>
                  </a:lnTo>
                  <a:cubicBezTo>
                    <a:pt x="993784" y="797551"/>
                    <a:pt x="955202" y="836132"/>
                    <a:pt x="907609" y="836132"/>
                  </a:cubicBezTo>
                  <a:lnTo>
                    <a:pt x="86175" y="836132"/>
                  </a:lnTo>
                  <a:cubicBezTo>
                    <a:pt x="38582" y="836132"/>
                    <a:pt x="0" y="797551"/>
                    <a:pt x="0" y="749958"/>
                  </a:cubicBezTo>
                  <a:lnTo>
                    <a:pt x="0" y="86175"/>
                  </a:lnTo>
                  <a:cubicBezTo>
                    <a:pt x="0" y="38582"/>
                    <a:pt x="38582" y="0"/>
                    <a:pt x="86175"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17" name="TextBox 17"/>
            <p:cNvSpPr txBox="1"/>
            <p:nvPr/>
          </p:nvSpPr>
          <p:spPr>
            <a:xfrm>
              <a:off x="0" y="-38100"/>
              <a:ext cx="993783" cy="87423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8" name="Group 18"/>
          <p:cNvGrpSpPr/>
          <p:nvPr/>
        </p:nvGrpSpPr>
        <p:grpSpPr>
          <a:xfrm>
            <a:off x="5226147" y="8699655"/>
            <a:ext cx="3850416" cy="1587341"/>
            <a:chOff x="0" y="0"/>
            <a:chExt cx="1014101" cy="836133"/>
          </a:xfrm>
        </p:grpSpPr>
        <p:sp>
          <p:nvSpPr>
            <p:cNvPr id="19" name="Freeform 19"/>
            <p:cNvSpPr/>
            <p:nvPr/>
          </p:nvSpPr>
          <p:spPr>
            <a:xfrm>
              <a:off x="0" y="0"/>
              <a:ext cx="1014101" cy="836132"/>
            </a:xfrm>
            <a:custGeom>
              <a:avLst/>
              <a:gdLst/>
              <a:ahLst/>
              <a:cxnLst/>
              <a:rect l="l" t="t" r="r" b="b"/>
              <a:pathLst>
                <a:path w="1014101" h="836132">
                  <a:moveTo>
                    <a:pt x="84448" y="0"/>
                  </a:moveTo>
                  <a:lnTo>
                    <a:pt x="929653" y="0"/>
                  </a:lnTo>
                  <a:cubicBezTo>
                    <a:pt x="976293" y="0"/>
                    <a:pt x="1014101" y="37809"/>
                    <a:pt x="1014101" y="84448"/>
                  </a:cubicBezTo>
                  <a:lnTo>
                    <a:pt x="1014101" y="751684"/>
                  </a:lnTo>
                  <a:cubicBezTo>
                    <a:pt x="1014101" y="798324"/>
                    <a:pt x="976293" y="836132"/>
                    <a:pt x="929653" y="836132"/>
                  </a:cubicBezTo>
                  <a:lnTo>
                    <a:pt x="84448" y="836132"/>
                  </a:lnTo>
                  <a:cubicBezTo>
                    <a:pt x="37809" y="836132"/>
                    <a:pt x="0" y="798324"/>
                    <a:pt x="0" y="751684"/>
                  </a:cubicBezTo>
                  <a:lnTo>
                    <a:pt x="0" y="84448"/>
                  </a:lnTo>
                  <a:cubicBezTo>
                    <a:pt x="0" y="37809"/>
                    <a:pt x="37809" y="0"/>
                    <a:pt x="84448"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20" name="TextBox 20"/>
            <p:cNvSpPr txBox="1"/>
            <p:nvPr/>
          </p:nvSpPr>
          <p:spPr>
            <a:xfrm>
              <a:off x="0" y="-38100"/>
              <a:ext cx="1014101" cy="8742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1" name="Freeform 21"/>
          <p:cNvSpPr/>
          <p:nvPr/>
        </p:nvSpPr>
        <p:spPr>
          <a:xfrm>
            <a:off x="5368212" y="2382288"/>
            <a:ext cx="3566287" cy="6099642"/>
          </a:xfrm>
          <a:custGeom>
            <a:avLst/>
            <a:gdLst/>
            <a:ahLst/>
            <a:cxnLst/>
            <a:rect l="l" t="t" r="r" b="b"/>
            <a:pathLst>
              <a:path w="3566287" h="6099642">
                <a:moveTo>
                  <a:pt x="0" y="0"/>
                </a:moveTo>
                <a:lnTo>
                  <a:pt x="3566287" y="0"/>
                </a:lnTo>
                <a:lnTo>
                  <a:pt x="3566287" y="6099643"/>
                </a:lnTo>
                <a:lnTo>
                  <a:pt x="0" y="6099643"/>
                </a:lnTo>
                <a:lnTo>
                  <a:pt x="0" y="0"/>
                </a:lnTo>
                <a:close/>
              </a:path>
            </a:pathLst>
          </a:custGeom>
          <a:blipFill>
            <a:blip r:embed="rId6"/>
            <a:stretch>
              <a:fillRect l="-37222" t="-1993" r="-37222"/>
            </a:stretch>
          </a:blipFill>
          <a:ln cap="sq">
            <a:noFill/>
            <a:prstDash val="solid"/>
            <a:miter/>
          </a:ln>
        </p:spPr>
        <p:txBody>
          <a:bodyPr/>
          <a:lstStyle/>
          <a:p>
            <a:endParaRPr lang="ar-EG"/>
          </a:p>
        </p:txBody>
      </p:sp>
      <p:sp>
        <p:nvSpPr>
          <p:cNvPr id="22" name="Freeform 22"/>
          <p:cNvSpPr/>
          <p:nvPr/>
        </p:nvSpPr>
        <p:spPr>
          <a:xfrm>
            <a:off x="13062791" y="2345077"/>
            <a:ext cx="4405295" cy="6099642"/>
          </a:xfrm>
          <a:custGeom>
            <a:avLst/>
            <a:gdLst/>
            <a:ahLst/>
            <a:cxnLst/>
            <a:rect l="l" t="t" r="r" b="b"/>
            <a:pathLst>
              <a:path w="4405295" h="6099642">
                <a:moveTo>
                  <a:pt x="0" y="0"/>
                </a:moveTo>
                <a:lnTo>
                  <a:pt x="4405295" y="0"/>
                </a:lnTo>
                <a:lnTo>
                  <a:pt x="4405295" y="6099642"/>
                </a:lnTo>
                <a:lnTo>
                  <a:pt x="0" y="6099642"/>
                </a:lnTo>
                <a:lnTo>
                  <a:pt x="0" y="0"/>
                </a:lnTo>
                <a:close/>
              </a:path>
            </a:pathLst>
          </a:custGeom>
          <a:blipFill>
            <a:blip r:embed="rId7"/>
            <a:stretch>
              <a:fillRect t="-15555"/>
            </a:stretch>
          </a:blipFill>
          <a:ln cap="sq">
            <a:noFill/>
            <a:prstDash val="solid"/>
            <a:miter/>
          </a:ln>
        </p:spPr>
        <p:txBody>
          <a:bodyPr/>
          <a:lstStyle/>
          <a:p>
            <a:endParaRPr lang="ar-EG"/>
          </a:p>
        </p:txBody>
      </p:sp>
      <p:grpSp>
        <p:nvGrpSpPr>
          <p:cNvPr id="23" name="Group 23"/>
          <p:cNvGrpSpPr/>
          <p:nvPr/>
        </p:nvGrpSpPr>
        <p:grpSpPr>
          <a:xfrm>
            <a:off x="1288578" y="785634"/>
            <a:ext cx="6229426" cy="1082520"/>
            <a:chOff x="0" y="0"/>
            <a:chExt cx="1640672" cy="285108"/>
          </a:xfrm>
        </p:grpSpPr>
        <p:sp>
          <p:nvSpPr>
            <p:cNvPr id="24" name="Freeform 24"/>
            <p:cNvSpPr/>
            <p:nvPr/>
          </p:nvSpPr>
          <p:spPr>
            <a:xfrm>
              <a:off x="0" y="0"/>
              <a:ext cx="1640672" cy="285108"/>
            </a:xfrm>
            <a:custGeom>
              <a:avLst/>
              <a:gdLst/>
              <a:ahLst/>
              <a:cxnLst/>
              <a:rect l="l" t="t" r="r" b="b"/>
              <a:pathLst>
                <a:path w="1640672" h="285108">
                  <a:moveTo>
                    <a:pt x="27342" y="0"/>
                  </a:moveTo>
                  <a:lnTo>
                    <a:pt x="1613330" y="0"/>
                  </a:lnTo>
                  <a:cubicBezTo>
                    <a:pt x="1628430" y="0"/>
                    <a:pt x="1640672" y="12241"/>
                    <a:pt x="1640672" y="27342"/>
                  </a:cubicBezTo>
                  <a:lnTo>
                    <a:pt x="1640672" y="257767"/>
                  </a:lnTo>
                  <a:cubicBezTo>
                    <a:pt x="1640672" y="272867"/>
                    <a:pt x="1628430" y="285108"/>
                    <a:pt x="1613330" y="285108"/>
                  </a:cubicBezTo>
                  <a:lnTo>
                    <a:pt x="27342" y="285108"/>
                  </a:lnTo>
                  <a:cubicBezTo>
                    <a:pt x="12241" y="285108"/>
                    <a:pt x="0" y="272867"/>
                    <a:pt x="0" y="257767"/>
                  </a:cubicBezTo>
                  <a:lnTo>
                    <a:pt x="0" y="27342"/>
                  </a:lnTo>
                  <a:cubicBezTo>
                    <a:pt x="0" y="12241"/>
                    <a:pt x="12241" y="0"/>
                    <a:pt x="27342"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25" name="TextBox 25"/>
            <p:cNvSpPr txBox="1"/>
            <p:nvPr/>
          </p:nvSpPr>
          <p:spPr>
            <a:xfrm>
              <a:off x="0" y="-38100"/>
              <a:ext cx="1640672" cy="32320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6" name="TextBox 26"/>
          <p:cNvSpPr txBox="1"/>
          <p:nvPr/>
        </p:nvSpPr>
        <p:spPr>
          <a:xfrm>
            <a:off x="1360955" y="899934"/>
            <a:ext cx="6229426" cy="915670"/>
          </a:xfrm>
          <a:prstGeom prst="rect">
            <a:avLst/>
          </a:prstGeom>
        </p:spPr>
        <p:txBody>
          <a:bodyPr lIns="0" tIns="0" rIns="0" bIns="0" rtlCol="0" anchor="t">
            <a:spAutoFit/>
          </a:bodyPr>
          <a:lstStyle/>
          <a:p>
            <a:pPr algn="l">
              <a:lnSpc>
                <a:spcPts val="6800"/>
              </a:lnSpc>
            </a:pPr>
            <a:r>
              <a:rPr lang="en-US" sz="6800" spc="-272">
                <a:solidFill>
                  <a:srgbClr val="FFFFFF"/>
                </a:solidFill>
                <a:latin typeface="Inter"/>
                <a:ea typeface="Inter"/>
                <a:cs typeface="Inter"/>
                <a:sym typeface="Inter"/>
              </a:rPr>
              <a:t>Team Members</a:t>
            </a:r>
          </a:p>
        </p:txBody>
      </p:sp>
      <p:sp>
        <p:nvSpPr>
          <p:cNvPr id="27" name="TextBox 27"/>
          <p:cNvSpPr txBox="1"/>
          <p:nvPr/>
        </p:nvSpPr>
        <p:spPr>
          <a:xfrm>
            <a:off x="1360821" y="8910955"/>
            <a:ext cx="3652361" cy="727710"/>
          </a:xfrm>
          <a:prstGeom prst="rect">
            <a:avLst/>
          </a:prstGeom>
        </p:spPr>
        <p:txBody>
          <a:bodyPr lIns="0" tIns="0" rIns="0" bIns="0" rtlCol="0" anchor="t">
            <a:spAutoFit/>
          </a:bodyPr>
          <a:lstStyle/>
          <a:p>
            <a:pPr algn="ctr">
              <a:lnSpc>
                <a:spcPts val="2939"/>
              </a:lnSpc>
              <a:spcBef>
                <a:spcPct val="0"/>
              </a:spcBef>
            </a:pPr>
            <a:r>
              <a:rPr lang="en-US" sz="2099" b="1">
                <a:solidFill>
                  <a:srgbClr val="FFFFFF"/>
                </a:solidFill>
                <a:latin typeface="Canva Sans Bold"/>
                <a:ea typeface="Canva Sans Bold"/>
                <a:cs typeface="Canva Sans Bold"/>
                <a:sym typeface="Canva Sans Bold"/>
              </a:rPr>
              <a:t>Taher Abdelfattah</a:t>
            </a:r>
          </a:p>
          <a:p>
            <a:pPr algn="ctr">
              <a:lnSpc>
                <a:spcPts val="2939"/>
              </a:lnSpc>
              <a:spcBef>
                <a:spcPct val="0"/>
              </a:spcBef>
            </a:pPr>
            <a:r>
              <a:rPr lang="en-US" sz="2099" b="1">
                <a:solidFill>
                  <a:srgbClr val="FFFFFF"/>
                </a:solidFill>
                <a:latin typeface="Canva Sans Bold"/>
                <a:ea typeface="Canva Sans Bold"/>
                <a:cs typeface="Canva Sans Bold"/>
                <a:sym typeface="Canva Sans Bold"/>
              </a:rPr>
              <a:t>Sr. Documents Management</a:t>
            </a:r>
          </a:p>
        </p:txBody>
      </p:sp>
      <p:sp>
        <p:nvSpPr>
          <p:cNvPr id="28" name="TextBox 28"/>
          <p:cNvSpPr txBox="1"/>
          <p:nvPr/>
        </p:nvSpPr>
        <p:spPr>
          <a:xfrm>
            <a:off x="9651049" y="8875395"/>
            <a:ext cx="2884119" cy="727710"/>
          </a:xfrm>
          <a:prstGeom prst="rect">
            <a:avLst/>
          </a:prstGeom>
        </p:spPr>
        <p:txBody>
          <a:bodyPr lIns="0" tIns="0" rIns="0" bIns="0" rtlCol="0" anchor="t">
            <a:spAutoFit/>
          </a:bodyPr>
          <a:lstStyle/>
          <a:p>
            <a:pPr algn="ctr">
              <a:lnSpc>
                <a:spcPts val="2939"/>
              </a:lnSpc>
              <a:spcBef>
                <a:spcPct val="0"/>
              </a:spcBef>
            </a:pPr>
            <a:r>
              <a:rPr lang="en-US" sz="2099" b="1">
                <a:solidFill>
                  <a:srgbClr val="FFFFFF"/>
                </a:solidFill>
                <a:latin typeface="Canva Sans Bold"/>
                <a:ea typeface="Canva Sans Bold"/>
                <a:cs typeface="Canva Sans Bold"/>
                <a:sym typeface="Canva Sans Bold"/>
              </a:rPr>
              <a:t>Sandra Shenouda </a:t>
            </a:r>
          </a:p>
          <a:p>
            <a:pPr algn="ctr">
              <a:lnSpc>
                <a:spcPts val="2939"/>
              </a:lnSpc>
              <a:spcBef>
                <a:spcPct val="0"/>
              </a:spcBef>
            </a:pPr>
            <a:r>
              <a:rPr lang="en-US" sz="2099" b="1">
                <a:solidFill>
                  <a:srgbClr val="FFFFFF"/>
                </a:solidFill>
                <a:latin typeface="Canva Sans Bold"/>
                <a:ea typeface="Canva Sans Bold"/>
                <a:cs typeface="Canva Sans Bold"/>
                <a:sym typeface="Canva Sans Bold"/>
              </a:rPr>
              <a:t>Admission Specialist</a:t>
            </a:r>
          </a:p>
        </p:txBody>
      </p:sp>
      <p:sp>
        <p:nvSpPr>
          <p:cNvPr id="29" name="TextBox 29"/>
          <p:cNvSpPr txBox="1"/>
          <p:nvPr/>
        </p:nvSpPr>
        <p:spPr>
          <a:xfrm>
            <a:off x="13808292" y="8910955"/>
            <a:ext cx="2914293" cy="727710"/>
          </a:xfrm>
          <a:prstGeom prst="rect">
            <a:avLst/>
          </a:prstGeom>
        </p:spPr>
        <p:txBody>
          <a:bodyPr lIns="0" tIns="0" rIns="0" bIns="0" rtlCol="0" anchor="t">
            <a:spAutoFit/>
          </a:bodyPr>
          <a:lstStyle/>
          <a:p>
            <a:pPr algn="ctr">
              <a:lnSpc>
                <a:spcPts val="2939"/>
              </a:lnSpc>
              <a:spcBef>
                <a:spcPct val="0"/>
              </a:spcBef>
            </a:pPr>
            <a:r>
              <a:rPr lang="en-US" sz="2099" b="1">
                <a:solidFill>
                  <a:srgbClr val="FFFFFF"/>
                </a:solidFill>
                <a:latin typeface="Canva Sans Bold"/>
                <a:ea typeface="Canva Sans Bold"/>
                <a:cs typeface="Canva Sans Bold"/>
                <a:sym typeface="Canva Sans Bold"/>
              </a:rPr>
              <a:t>Mahmoud Abdelqader</a:t>
            </a:r>
          </a:p>
          <a:p>
            <a:pPr algn="ctr">
              <a:lnSpc>
                <a:spcPts val="2939"/>
              </a:lnSpc>
              <a:spcBef>
                <a:spcPct val="0"/>
              </a:spcBef>
            </a:pPr>
            <a:r>
              <a:rPr lang="en-US" sz="2099" b="1">
                <a:solidFill>
                  <a:srgbClr val="FFFFFF"/>
                </a:solidFill>
                <a:latin typeface="Canva Sans Bold"/>
                <a:ea typeface="Canva Sans Bold"/>
                <a:cs typeface="Canva Sans Bold"/>
                <a:sym typeface="Canva Sans Bold"/>
              </a:rPr>
              <a:t>Head of procurement</a:t>
            </a:r>
          </a:p>
        </p:txBody>
      </p:sp>
      <p:sp>
        <p:nvSpPr>
          <p:cNvPr id="30" name="TextBox 30"/>
          <p:cNvSpPr txBox="1"/>
          <p:nvPr/>
        </p:nvSpPr>
        <p:spPr>
          <a:xfrm>
            <a:off x="6029310" y="8910955"/>
            <a:ext cx="2244090" cy="727710"/>
          </a:xfrm>
          <a:prstGeom prst="rect">
            <a:avLst/>
          </a:prstGeom>
        </p:spPr>
        <p:txBody>
          <a:bodyPr lIns="0" tIns="0" rIns="0" bIns="0" rtlCol="0" anchor="t">
            <a:spAutoFit/>
          </a:bodyPr>
          <a:lstStyle/>
          <a:p>
            <a:pPr algn="ctr">
              <a:lnSpc>
                <a:spcPts val="2939"/>
              </a:lnSpc>
              <a:spcBef>
                <a:spcPct val="0"/>
              </a:spcBef>
            </a:pPr>
            <a:r>
              <a:rPr lang="en-US" sz="2099" b="1">
                <a:solidFill>
                  <a:srgbClr val="FFFFFF"/>
                </a:solidFill>
                <a:latin typeface="Canva Sans Bold"/>
                <a:ea typeface="Canva Sans Bold"/>
                <a:cs typeface="Canva Sans Bold"/>
                <a:sym typeface="Canva Sans Bold"/>
              </a:rPr>
              <a:t>Maged Mohamed</a:t>
            </a:r>
          </a:p>
          <a:p>
            <a:pPr algn="ctr">
              <a:lnSpc>
                <a:spcPts val="2939"/>
              </a:lnSpc>
              <a:spcBef>
                <a:spcPct val="0"/>
              </a:spcBef>
            </a:pPr>
            <a:r>
              <a:rPr lang="en-US" sz="2099" b="1">
                <a:solidFill>
                  <a:srgbClr val="FFFFFF"/>
                </a:solidFill>
                <a:latin typeface="Canva Sans Bold"/>
                <a:ea typeface="Canva Sans Bold"/>
                <a:cs typeface="Canva Sans Bold"/>
                <a:sym typeface="Canva Sans Bold"/>
              </a:rPr>
              <a:t>Sr. BI Developer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21" grpId="0" animBg="1"/>
      <p:bldP spid="2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3" name="Freeform 3"/>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grpSp>
        <p:nvGrpSpPr>
          <p:cNvPr id="4" name="Group 4"/>
          <p:cNvGrpSpPr/>
          <p:nvPr/>
        </p:nvGrpSpPr>
        <p:grpSpPr>
          <a:xfrm>
            <a:off x="1635147" y="3410107"/>
            <a:ext cx="9966056" cy="5736958"/>
            <a:chOff x="0" y="0"/>
            <a:chExt cx="2624805" cy="1510968"/>
          </a:xfrm>
        </p:grpSpPr>
        <p:sp>
          <p:nvSpPr>
            <p:cNvPr id="5" name="Freeform 5"/>
            <p:cNvSpPr/>
            <p:nvPr/>
          </p:nvSpPr>
          <p:spPr>
            <a:xfrm>
              <a:off x="0" y="0"/>
              <a:ext cx="2624805" cy="1510968"/>
            </a:xfrm>
            <a:custGeom>
              <a:avLst/>
              <a:gdLst/>
              <a:ahLst/>
              <a:cxnLst/>
              <a:rect l="l" t="t" r="r" b="b"/>
              <a:pathLst>
                <a:path w="2624805" h="1510968">
                  <a:moveTo>
                    <a:pt x="32627" y="0"/>
                  </a:moveTo>
                  <a:lnTo>
                    <a:pt x="2592178" y="0"/>
                  </a:lnTo>
                  <a:cubicBezTo>
                    <a:pt x="2600831" y="0"/>
                    <a:pt x="2609130" y="3437"/>
                    <a:pt x="2615249" y="9556"/>
                  </a:cubicBezTo>
                  <a:cubicBezTo>
                    <a:pt x="2621368" y="15675"/>
                    <a:pt x="2624805" y="23974"/>
                    <a:pt x="2624805" y="32627"/>
                  </a:cubicBezTo>
                  <a:lnTo>
                    <a:pt x="2624805" y="1478342"/>
                  </a:lnTo>
                  <a:cubicBezTo>
                    <a:pt x="2624805" y="1486995"/>
                    <a:pt x="2621368" y="1495294"/>
                    <a:pt x="2615249" y="1501412"/>
                  </a:cubicBezTo>
                  <a:cubicBezTo>
                    <a:pt x="2609130" y="1507531"/>
                    <a:pt x="2600831" y="1510968"/>
                    <a:pt x="2592178" y="1510968"/>
                  </a:cubicBezTo>
                  <a:lnTo>
                    <a:pt x="32627" y="1510968"/>
                  </a:lnTo>
                  <a:cubicBezTo>
                    <a:pt x="23974" y="1510968"/>
                    <a:pt x="15675" y="1507531"/>
                    <a:pt x="9556" y="1501412"/>
                  </a:cubicBezTo>
                  <a:cubicBezTo>
                    <a:pt x="3437" y="1495294"/>
                    <a:pt x="0" y="1486995"/>
                    <a:pt x="0" y="1478342"/>
                  </a:cubicBezTo>
                  <a:lnTo>
                    <a:pt x="0" y="32627"/>
                  </a:lnTo>
                  <a:cubicBezTo>
                    <a:pt x="0" y="23974"/>
                    <a:pt x="3437" y="15675"/>
                    <a:pt x="9556" y="9556"/>
                  </a:cubicBezTo>
                  <a:cubicBezTo>
                    <a:pt x="15675" y="3437"/>
                    <a:pt x="23974" y="0"/>
                    <a:pt x="32627"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6" name="TextBox 6"/>
            <p:cNvSpPr txBox="1"/>
            <p:nvPr/>
          </p:nvSpPr>
          <p:spPr>
            <a:xfrm>
              <a:off x="0" y="-38100"/>
              <a:ext cx="2624805" cy="154906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7" name="TextBox 7"/>
          <p:cNvSpPr txBox="1"/>
          <p:nvPr/>
        </p:nvSpPr>
        <p:spPr>
          <a:xfrm>
            <a:off x="3117214" y="4012935"/>
            <a:ext cx="3098707" cy="372745"/>
          </a:xfrm>
          <a:prstGeom prst="rect">
            <a:avLst/>
          </a:prstGeom>
        </p:spPr>
        <p:txBody>
          <a:bodyPr lIns="0" tIns="0" rIns="0" bIns="0" rtlCol="0" anchor="t">
            <a:spAutoFit/>
          </a:bodyPr>
          <a:lstStyle/>
          <a:p>
            <a:pPr algn="l">
              <a:lnSpc>
                <a:spcPts val="3079"/>
              </a:lnSpc>
              <a:spcBef>
                <a:spcPct val="0"/>
              </a:spcBef>
            </a:pPr>
            <a:r>
              <a:rPr lang="en-US" sz="2199" spc="-43">
                <a:solidFill>
                  <a:srgbClr val="FFFFFF">
                    <a:alpha val="89804"/>
                  </a:srgbClr>
                </a:solidFill>
                <a:latin typeface="Inter"/>
                <a:ea typeface="Inter"/>
                <a:cs typeface="Inter"/>
                <a:sym typeface="Inter"/>
              </a:rPr>
              <a:t>Executive Summary</a:t>
            </a:r>
          </a:p>
        </p:txBody>
      </p:sp>
      <p:sp>
        <p:nvSpPr>
          <p:cNvPr id="8" name="TextBox 8"/>
          <p:cNvSpPr txBox="1"/>
          <p:nvPr/>
        </p:nvSpPr>
        <p:spPr>
          <a:xfrm>
            <a:off x="2355083" y="3965627"/>
            <a:ext cx="453277" cy="448311"/>
          </a:xfrm>
          <a:prstGeom prst="rect">
            <a:avLst/>
          </a:prstGeom>
        </p:spPr>
        <p:txBody>
          <a:bodyPr lIns="0" tIns="0" rIns="0" bIns="0" rtlCol="0" anchor="t">
            <a:spAutoFit/>
          </a:bodyPr>
          <a:lstStyle/>
          <a:p>
            <a:pPr algn="l">
              <a:lnSpc>
                <a:spcPts val="3639"/>
              </a:lnSpc>
              <a:spcBef>
                <a:spcPct val="0"/>
              </a:spcBef>
            </a:pPr>
            <a:r>
              <a:rPr lang="en-US" sz="2599" b="1" spc="-51">
                <a:solidFill>
                  <a:srgbClr val="FFFFFF">
                    <a:alpha val="89804"/>
                  </a:srgbClr>
                </a:solidFill>
                <a:latin typeface="Inter Bold"/>
                <a:ea typeface="Inter Bold"/>
                <a:cs typeface="Inter Bold"/>
                <a:sym typeface="Inter Bold"/>
              </a:rPr>
              <a:t>01</a:t>
            </a:r>
          </a:p>
        </p:txBody>
      </p:sp>
      <p:sp>
        <p:nvSpPr>
          <p:cNvPr id="9" name="TextBox 9"/>
          <p:cNvSpPr txBox="1"/>
          <p:nvPr/>
        </p:nvSpPr>
        <p:spPr>
          <a:xfrm>
            <a:off x="7782560" y="5359050"/>
            <a:ext cx="3098707" cy="372745"/>
          </a:xfrm>
          <a:prstGeom prst="rect">
            <a:avLst/>
          </a:prstGeom>
        </p:spPr>
        <p:txBody>
          <a:bodyPr lIns="0" tIns="0" rIns="0" bIns="0" rtlCol="0" anchor="t">
            <a:spAutoFit/>
          </a:bodyPr>
          <a:lstStyle/>
          <a:p>
            <a:pPr algn="l">
              <a:lnSpc>
                <a:spcPts val="3079"/>
              </a:lnSpc>
              <a:spcBef>
                <a:spcPct val="0"/>
              </a:spcBef>
            </a:pPr>
            <a:r>
              <a:rPr lang="en-US" sz="2199" spc="-43">
                <a:solidFill>
                  <a:srgbClr val="FFFFFF">
                    <a:alpha val="89804"/>
                  </a:srgbClr>
                </a:solidFill>
                <a:latin typeface="Inter"/>
                <a:ea typeface="Inter"/>
                <a:cs typeface="Inter"/>
                <a:sym typeface="Inter"/>
              </a:rPr>
              <a:t>Visual Insights</a:t>
            </a:r>
          </a:p>
        </p:txBody>
      </p:sp>
      <p:sp>
        <p:nvSpPr>
          <p:cNvPr id="10" name="TextBox 10"/>
          <p:cNvSpPr txBox="1"/>
          <p:nvPr/>
        </p:nvSpPr>
        <p:spPr>
          <a:xfrm>
            <a:off x="7020430" y="3965627"/>
            <a:ext cx="453277" cy="448311"/>
          </a:xfrm>
          <a:prstGeom prst="rect">
            <a:avLst/>
          </a:prstGeom>
        </p:spPr>
        <p:txBody>
          <a:bodyPr lIns="0" tIns="0" rIns="0" bIns="0" rtlCol="0" anchor="t">
            <a:spAutoFit/>
          </a:bodyPr>
          <a:lstStyle/>
          <a:p>
            <a:pPr algn="l">
              <a:lnSpc>
                <a:spcPts val="3639"/>
              </a:lnSpc>
              <a:spcBef>
                <a:spcPct val="0"/>
              </a:spcBef>
            </a:pPr>
            <a:r>
              <a:rPr lang="en-US" sz="2599" b="1" spc="-51">
                <a:solidFill>
                  <a:srgbClr val="FFFFFF">
                    <a:alpha val="89804"/>
                  </a:srgbClr>
                </a:solidFill>
                <a:latin typeface="Inter Bold"/>
                <a:ea typeface="Inter Bold"/>
                <a:cs typeface="Inter Bold"/>
                <a:sym typeface="Inter Bold"/>
              </a:rPr>
              <a:t>05</a:t>
            </a:r>
          </a:p>
        </p:txBody>
      </p:sp>
      <p:sp>
        <p:nvSpPr>
          <p:cNvPr id="11" name="AutoShape 11"/>
          <p:cNvSpPr/>
          <p:nvPr/>
        </p:nvSpPr>
        <p:spPr>
          <a:xfrm>
            <a:off x="2355083" y="4613963"/>
            <a:ext cx="8526183" cy="0"/>
          </a:xfrm>
          <a:prstGeom prst="line">
            <a:avLst/>
          </a:prstGeom>
          <a:ln w="19050" cap="flat">
            <a:solidFill>
              <a:srgbClr val="FFFFFF">
                <a:alpha val="31765"/>
              </a:srgbClr>
            </a:solidFill>
            <a:prstDash val="solid"/>
            <a:headEnd type="none" w="sm" len="sm"/>
            <a:tailEnd type="none" w="sm" len="sm"/>
          </a:ln>
        </p:spPr>
        <p:txBody>
          <a:bodyPr/>
          <a:lstStyle/>
          <a:p>
            <a:endParaRPr lang="ar-EG"/>
          </a:p>
        </p:txBody>
      </p:sp>
      <p:sp>
        <p:nvSpPr>
          <p:cNvPr id="12" name="TextBox 12"/>
          <p:cNvSpPr txBox="1"/>
          <p:nvPr/>
        </p:nvSpPr>
        <p:spPr>
          <a:xfrm>
            <a:off x="3117214" y="6594937"/>
            <a:ext cx="3098707" cy="372745"/>
          </a:xfrm>
          <a:prstGeom prst="rect">
            <a:avLst/>
          </a:prstGeom>
        </p:spPr>
        <p:txBody>
          <a:bodyPr lIns="0" tIns="0" rIns="0" bIns="0" rtlCol="0" anchor="t">
            <a:spAutoFit/>
          </a:bodyPr>
          <a:lstStyle/>
          <a:p>
            <a:pPr algn="l">
              <a:lnSpc>
                <a:spcPts val="3079"/>
              </a:lnSpc>
              <a:spcBef>
                <a:spcPct val="0"/>
              </a:spcBef>
            </a:pPr>
            <a:r>
              <a:rPr lang="en-US" sz="2199" spc="-43">
                <a:solidFill>
                  <a:srgbClr val="FFFFFF">
                    <a:alpha val="89804"/>
                  </a:srgbClr>
                </a:solidFill>
                <a:latin typeface="Inter"/>
                <a:ea typeface="Inter"/>
                <a:cs typeface="Inter"/>
                <a:sym typeface="Inter"/>
              </a:rPr>
              <a:t>Business Objectives</a:t>
            </a:r>
          </a:p>
        </p:txBody>
      </p:sp>
      <p:sp>
        <p:nvSpPr>
          <p:cNvPr id="13" name="TextBox 13"/>
          <p:cNvSpPr txBox="1"/>
          <p:nvPr/>
        </p:nvSpPr>
        <p:spPr>
          <a:xfrm>
            <a:off x="2355083" y="5272332"/>
            <a:ext cx="453277" cy="448311"/>
          </a:xfrm>
          <a:prstGeom prst="rect">
            <a:avLst/>
          </a:prstGeom>
        </p:spPr>
        <p:txBody>
          <a:bodyPr lIns="0" tIns="0" rIns="0" bIns="0" rtlCol="0" anchor="t">
            <a:spAutoFit/>
          </a:bodyPr>
          <a:lstStyle/>
          <a:p>
            <a:pPr algn="l">
              <a:lnSpc>
                <a:spcPts val="3639"/>
              </a:lnSpc>
              <a:spcBef>
                <a:spcPct val="0"/>
              </a:spcBef>
            </a:pPr>
            <a:r>
              <a:rPr lang="en-US" sz="2599" b="1" spc="-51">
                <a:solidFill>
                  <a:srgbClr val="FFFFFF">
                    <a:alpha val="89804"/>
                  </a:srgbClr>
                </a:solidFill>
                <a:latin typeface="Inter Bold"/>
                <a:ea typeface="Inter Bold"/>
                <a:cs typeface="Inter Bold"/>
                <a:sym typeface="Inter Bold"/>
              </a:rPr>
              <a:t>02</a:t>
            </a:r>
          </a:p>
        </p:txBody>
      </p:sp>
      <p:sp>
        <p:nvSpPr>
          <p:cNvPr id="14" name="TextBox 14"/>
          <p:cNvSpPr txBox="1"/>
          <p:nvPr/>
        </p:nvSpPr>
        <p:spPr>
          <a:xfrm>
            <a:off x="7640150" y="6597248"/>
            <a:ext cx="3616397" cy="372745"/>
          </a:xfrm>
          <a:prstGeom prst="rect">
            <a:avLst/>
          </a:prstGeom>
        </p:spPr>
        <p:txBody>
          <a:bodyPr lIns="0" tIns="0" rIns="0" bIns="0" rtlCol="0" anchor="t">
            <a:spAutoFit/>
          </a:bodyPr>
          <a:lstStyle/>
          <a:p>
            <a:pPr algn="l">
              <a:lnSpc>
                <a:spcPts val="3079"/>
              </a:lnSpc>
              <a:spcBef>
                <a:spcPct val="0"/>
              </a:spcBef>
            </a:pPr>
            <a:r>
              <a:rPr lang="en-US" sz="2199" spc="-43">
                <a:solidFill>
                  <a:srgbClr val="FFFFFF">
                    <a:alpha val="89804"/>
                  </a:srgbClr>
                </a:solidFill>
                <a:latin typeface="Inter"/>
                <a:ea typeface="Inter"/>
                <a:cs typeface="Inter"/>
                <a:sym typeface="Inter"/>
              </a:rPr>
              <a:t>Strategic Recommendations</a:t>
            </a:r>
          </a:p>
        </p:txBody>
      </p:sp>
      <p:sp>
        <p:nvSpPr>
          <p:cNvPr id="15" name="TextBox 15"/>
          <p:cNvSpPr txBox="1"/>
          <p:nvPr/>
        </p:nvSpPr>
        <p:spPr>
          <a:xfrm>
            <a:off x="7020430" y="5272332"/>
            <a:ext cx="453277" cy="448311"/>
          </a:xfrm>
          <a:prstGeom prst="rect">
            <a:avLst/>
          </a:prstGeom>
        </p:spPr>
        <p:txBody>
          <a:bodyPr lIns="0" tIns="0" rIns="0" bIns="0" rtlCol="0" anchor="t">
            <a:spAutoFit/>
          </a:bodyPr>
          <a:lstStyle/>
          <a:p>
            <a:pPr algn="l">
              <a:lnSpc>
                <a:spcPts val="3639"/>
              </a:lnSpc>
              <a:spcBef>
                <a:spcPct val="0"/>
              </a:spcBef>
            </a:pPr>
            <a:r>
              <a:rPr lang="en-US" sz="2599" b="1" spc="-51">
                <a:solidFill>
                  <a:srgbClr val="FFFFFF">
                    <a:alpha val="89804"/>
                  </a:srgbClr>
                </a:solidFill>
                <a:latin typeface="Inter Bold"/>
                <a:ea typeface="Inter Bold"/>
                <a:cs typeface="Inter Bold"/>
                <a:sym typeface="Inter Bold"/>
              </a:rPr>
              <a:t>06</a:t>
            </a:r>
          </a:p>
        </p:txBody>
      </p:sp>
      <p:sp>
        <p:nvSpPr>
          <p:cNvPr id="16" name="AutoShape 16"/>
          <p:cNvSpPr/>
          <p:nvPr/>
        </p:nvSpPr>
        <p:spPr>
          <a:xfrm>
            <a:off x="2355083" y="5919829"/>
            <a:ext cx="8526183" cy="0"/>
          </a:xfrm>
          <a:prstGeom prst="line">
            <a:avLst/>
          </a:prstGeom>
          <a:ln w="19050" cap="flat">
            <a:solidFill>
              <a:srgbClr val="FFFFFF">
                <a:alpha val="31765"/>
              </a:srgbClr>
            </a:solidFill>
            <a:prstDash val="solid"/>
            <a:headEnd type="none" w="sm" len="sm"/>
            <a:tailEnd type="none" w="sm" len="sm"/>
          </a:ln>
        </p:spPr>
        <p:txBody>
          <a:bodyPr/>
          <a:lstStyle/>
          <a:p>
            <a:endParaRPr lang="ar-EG"/>
          </a:p>
        </p:txBody>
      </p:sp>
      <p:sp>
        <p:nvSpPr>
          <p:cNvPr id="17" name="TextBox 17"/>
          <p:cNvSpPr txBox="1"/>
          <p:nvPr/>
        </p:nvSpPr>
        <p:spPr>
          <a:xfrm>
            <a:off x="3117214" y="7902276"/>
            <a:ext cx="3098707" cy="372745"/>
          </a:xfrm>
          <a:prstGeom prst="rect">
            <a:avLst/>
          </a:prstGeom>
        </p:spPr>
        <p:txBody>
          <a:bodyPr lIns="0" tIns="0" rIns="0" bIns="0" rtlCol="0" anchor="t">
            <a:spAutoFit/>
          </a:bodyPr>
          <a:lstStyle/>
          <a:p>
            <a:pPr algn="l">
              <a:lnSpc>
                <a:spcPts val="3079"/>
              </a:lnSpc>
              <a:spcBef>
                <a:spcPct val="0"/>
              </a:spcBef>
            </a:pPr>
            <a:r>
              <a:rPr lang="en-US" sz="2199" spc="-43">
                <a:solidFill>
                  <a:srgbClr val="FFFFFF">
                    <a:alpha val="89804"/>
                  </a:srgbClr>
                </a:solidFill>
                <a:latin typeface="Inter"/>
                <a:ea typeface="Inter"/>
                <a:cs typeface="Inter"/>
                <a:sym typeface="Inter"/>
              </a:rPr>
              <a:t> Data Overview</a:t>
            </a:r>
          </a:p>
        </p:txBody>
      </p:sp>
      <p:sp>
        <p:nvSpPr>
          <p:cNvPr id="18" name="TextBox 18"/>
          <p:cNvSpPr txBox="1"/>
          <p:nvPr/>
        </p:nvSpPr>
        <p:spPr>
          <a:xfrm>
            <a:off x="2355083" y="6578198"/>
            <a:ext cx="453277" cy="448311"/>
          </a:xfrm>
          <a:prstGeom prst="rect">
            <a:avLst/>
          </a:prstGeom>
        </p:spPr>
        <p:txBody>
          <a:bodyPr lIns="0" tIns="0" rIns="0" bIns="0" rtlCol="0" anchor="t">
            <a:spAutoFit/>
          </a:bodyPr>
          <a:lstStyle/>
          <a:p>
            <a:pPr algn="l">
              <a:lnSpc>
                <a:spcPts val="3639"/>
              </a:lnSpc>
              <a:spcBef>
                <a:spcPct val="0"/>
              </a:spcBef>
            </a:pPr>
            <a:r>
              <a:rPr lang="en-US" sz="2599" b="1" spc="-51">
                <a:solidFill>
                  <a:srgbClr val="FFFFFF">
                    <a:alpha val="89804"/>
                  </a:srgbClr>
                </a:solidFill>
                <a:latin typeface="Inter Bold"/>
                <a:ea typeface="Inter Bold"/>
                <a:cs typeface="Inter Bold"/>
                <a:sym typeface="Inter Bold"/>
              </a:rPr>
              <a:t>03</a:t>
            </a:r>
          </a:p>
        </p:txBody>
      </p:sp>
      <p:sp>
        <p:nvSpPr>
          <p:cNvPr id="19" name="TextBox 19"/>
          <p:cNvSpPr txBox="1"/>
          <p:nvPr/>
        </p:nvSpPr>
        <p:spPr>
          <a:xfrm>
            <a:off x="7640150" y="7958791"/>
            <a:ext cx="3098707" cy="372745"/>
          </a:xfrm>
          <a:prstGeom prst="rect">
            <a:avLst/>
          </a:prstGeom>
        </p:spPr>
        <p:txBody>
          <a:bodyPr lIns="0" tIns="0" rIns="0" bIns="0" rtlCol="0" anchor="t">
            <a:spAutoFit/>
          </a:bodyPr>
          <a:lstStyle/>
          <a:p>
            <a:pPr algn="l">
              <a:lnSpc>
                <a:spcPts val="3079"/>
              </a:lnSpc>
              <a:spcBef>
                <a:spcPct val="0"/>
              </a:spcBef>
            </a:pPr>
            <a:r>
              <a:rPr lang="en-US" sz="2199" spc="-43">
                <a:solidFill>
                  <a:srgbClr val="FFFFFF">
                    <a:alpha val="89804"/>
                  </a:srgbClr>
                </a:solidFill>
                <a:latin typeface="Inter"/>
                <a:ea typeface="Inter"/>
                <a:cs typeface="Inter"/>
                <a:sym typeface="Inter"/>
              </a:rPr>
              <a:t>Appendix</a:t>
            </a:r>
          </a:p>
        </p:txBody>
      </p:sp>
      <p:sp>
        <p:nvSpPr>
          <p:cNvPr id="20" name="TextBox 20"/>
          <p:cNvSpPr txBox="1"/>
          <p:nvPr/>
        </p:nvSpPr>
        <p:spPr>
          <a:xfrm>
            <a:off x="7020430" y="6578198"/>
            <a:ext cx="453277" cy="448311"/>
          </a:xfrm>
          <a:prstGeom prst="rect">
            <a:avLst/>
          </a:prstGeom>
        </p:spPr>
        <p:txBody>
          <a:bodyPr lIns="0" tIns="0" rIns="0" bIns="0" rtlCol="0" anchor="t">
            <a:spAutoFit/>
          </a:bodyPr>
          <a:lstStyle/>
          <a:p>
            <a:pPr algn="l">
              <a:lnSpc>
                <a:spcPts val="3639"/>
              </a:lnSpc>
              <a:spcBef>
                <a:spcPct val="0"/>
              </a:spcBef>
            </a:pPr>
            <a:r>
              <a:rPr lang="en-US" sz="2599" b="1" spc="-51">
                <a:solidFill>
                  <a:srgbClr val="FFFFFF">
                    <a:alpha val="89804"/>
                  </a:srgbClr>
                </a:solidFill>
                <a:latin typeface="Inter Bold"/>
                <a:ea typeface="Inter Bold"/>
                <a:cs typeface="Inter Bold"/>
                <a:sym typeface="Inter Bold"/>
              </a:rPr>
              <a:t>07</a:t>
            </a:r>
          </a:p>
        </p:txBody>
      </p:sp>
      <p:sp>
        <p:nvSpPr>
          <p:cNvPr id="21" name="AutoShape 21"/>
          <p:cNvSpPr/>
          <p:nvPr/>
        </p:nvSpPr>
        <p:spPr>
          <a:xfrm>
            <a:off x="2355083" y="7224857"/>
            <a:ext cx="8526183" cy="0"/>
          </a:xfrm>
          <a:prstGeom prst="line">
            <a:avLst/>
          </a:prstGeom>
          <a:ln w="19050" cap="flat">
            <a:solidFill>
              <a:srgbClr val="FFFFFF">
                <a:alpha val="31765"/>
              </a:srgbClr>
            </a:solidFill>
            <a:prstDash val="solid"/>
            <a:headEnd type="none" w="sm" len="sm"/>
            <a:tailEnd type="none" w="sm" len="sm"/>
          </a:ln>
        </p:spPr>
        <p:txBody>
          <a:bodyPr/>
          <a:lstStyle/>
          <a:p>
            <a:endParaRPr lang="ar-EG"/>
          </a:p>
        </p:txBody>
      </p:sp>
      <p:sp>
        <p:nvSpPr>
          <p:cNvPr id="22" name="TextBox 22"/>
          <p:cNvSpPr txBox="1"/>
          <p:nvPr/>
        </p:nvSpPr>
        <p:spPr>
          <a:xfrm>
            <a:off x="7755586" y="3984043"/>
            <a:ext cx="3500962" cy="372745"/>
          </a:xfrm>
          <a:prstGeom prst="rect">
            <a:avLst/>
          </a:prstGeom>
        </p:spPr>
        <p:txBody>
          <a:bodyPr lIns="0" tIns="0" rIns="0" bIns="0" rtlCol="0" anchor="t">
            <a:spAutoFit/>
          </a:bodyPr>
          <a:lstStyle/>
          <a:p>
            <a:pPr algn="l">
              <a:lnSpc>
                <a:spcPts val="3079"/>
              </a:lnSpc>
              <a:spcBef>
                <a:spcPct val="0"/>
              </a:spcBef>
            </a:pPr>
            <a:r>
              <a:rPr lang="en-US" sz="2199" spc="-43">
                <a:solidFill>
                  <a:srgbClr val="FFFFFF">
                    <a:alpha val="89804"/>
                  </a:srgbClr>
                </a:solidFill>
                <a:latin typeface="Inter"/>
                <a:ea typeface="Inter"/>
                <a:cs typeface="Inter"/>
                <a:sym typeface="Inter"/>
              </a:rPr>
              <a:t>Key Metrics &amp; Performance</a:t>
            </a:r>
          </a:p>
        </p:txBody>
      </p:sp>
      <p:sp>
        <p:nvSpPr>
          <p:cNvPr id="23" name="TextBox 23"/>
          <p:cNvSpPr txBox="1"/>
          <p:nvPr/>
        </p:nvSpPr>
        <p:spPr>
          <a:xfrm>
            <a:off x="2355083" y="7883226"/>
            <a:ext cx="453277" cy="448311"/>
          </a:xfrm>
          <a:prstGeom prst="rect">
            <a:avLst/>
          </a:prstGeom>
        </p:spPr>
        <p:txBody>
          <a:bodyPr lIns="0" tIns="0" rIns="0" bIns="0" rtlCol="0" anchor="t">
            <a:spAutoFit/>
          </a:bodyPr>
          <a:lstStyle/>
          <a:p>
            <a:pPr algn="l">
              <a:lnSpc>
                <a:spcPts val="3639"/>
              </a:lnSpc>
              <a:spcBef>
                <a:spcPct val="0"/>
              </a:spcBef>
            </a:pPr>
            <a:r>
              <a:rPr lang="en-US" sz="2599" b="1" spc="-51">
                <a:solidFill>
                  <a:srgbClr val="FFFFFF">
                    <a:alpha val="89804"/>
                  </a:srgbClr>
                </a:solidFill>
                <a:latin typeface="Inter Bold"/>
                <a:ea typeface="Inter Bold"/>
                <a:cs typeface="Inter Bold"/>
                <a:sym typeface="Inter Bold"/>
              </a:rPr>
              <a:t>04</a:t>
            </a:r>
          </a:p>
        </p:txBody>
      </p:sp>
      <p:sp>
        <p:nvSpPr>
          <p:cNvPr id="24" name="AutoShape 24"/>
          <p:cNvSpPr/>
          <p:nvPr/>
        </p:nvSpPr>
        <p:spPr>
          <a:xfrm>
            <a:off x="2355083" y="8529046"/>
            <a:ext cx="8526183" cy="0"/>
          </a:xfrm>
          <a:prstGeom prst="line">
            <a:avLst/>
          </a:prstGeom>
          <a:ln w="19050" cap="flat">
            <a:solidFill>
              <a:srgbClr val="FFFFFF">
                <a:alpha val="31765"/>
              </a:srgbClr>
            </a:solidFill>
            <a:prstDash val="solid"/>
            <a:headEnd type="none" w="sm" len="sm"/>
            <a:tailEnd type="none" w="sm" len="sm"/>
          </a:ln>
        </p:spPr>
        <p:txBody>
          <a:bodyPr/>
          <a:lstStyle/>
          <a:p>
            <a:endParaRPr lang="ar-EG"/>
          </a:p>
        </p:txBody>
      </p:sp>
      <p:sp>
        <p:nvSpPr>
          <p:cNvPr id="25" name="Freeform 25"/>
          <p:cNvSpPr/>
          <p:nvPr/>
        </p:nvSpPr>
        <p:spPr>
          <a:xfrm rot="-95890">
            <a:off x="13675866" y="2506376"/>
            <a:ext cx="4927950" cy="4632273"/>
          </a:xfrm>
          <a:custGeom>
            <a:avLst/>
            <a:gdLst/>
            <a:ahLst/>
            <a:cxnLst/>
            <a:rect l="l" t="t" r="r" b="b"/>
            <a:pathLst>
              <a:path w="4927950" h="4632273">
                <a:moveTo>
                  <a:pt x="0" y="0"/>
                </a:moveTo>
                <a:lnTo>
                  <a:pt x="4927951" y="0"/>
                </a:lnTo>
                <a:lnTo>
                  <a:pt x="4927951" y="4632273"/>
                </a:lnTo>
                <a:lnTo>
                  <a:pt x="0" y="4632273"/>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26" name="Freeform 26"/>
          <p:cNvSpPr/>
          <p:nvPr/>
        </p:nvSpPr>
        <p:spPr>
          <a:xfrm flipH="1">
            <a:off x="12388214" y="2306593"/>
            <a:ext cx="4091446" cy="5742381"/>
          </a:xfrm>
          <a:custGeom>
            <a:avLst/>
            <a:gdLst/>
            <a:ahLst/>
            <a:cxnLst/>
            <a:rect l="l" t="t" r="r" b="b"/>
            <a:pathLst>
              <a:path w="4091446" h="5742381">
                <a:moveTo>
                  <a:pt x="4091447" y="0"/>
                </a:moveTo>
                <a:lnTo>
                  <a:pt x="0" y="0"/>
                </a:lnTo>
                <a:lnTo>
                  <a:pt x="0" y="5742381"/>
                </a:lnTo>
                <a:lnTo>
                  <a:pt x="4091447" y="5742381"/>
                </a:lnTo>
                <a:lnTo>
                  <a:pt x="4091447" y="0"/>
                </a:lnTo>
                <a:close/>
              </a:path>
            </a:pathLst>
          </a:custGeom>
          <a:blipFill>
            <a:blip r:embed="rId8"/>
            <a:stretch>
              <a:fillRect/>
            </a:stretch>
          </a:blipFill>
        </p:spPr>
        <p:txBody>
          <a:bodyPr/>
          <a:lstStyle/>
          <a:p>
            <a:endParaRPr lang="ar-EG"/>
          </a:p>
        </p:txBody>
      </p:sp>
      <p:sp>
        <p:nvSpPr>
          <p:cNvPr id="27" name="TextBox 27"/>
          <p:cNvSpPr txBox="1"/>
          <p:nvPr/>
        </p:nvSpPr>
        <p:spPr>
          <a:xfrm>
            <a:off x="1635147" y="1886858"/>
            <a:ext cx="6651284" cy="915670"/>
          </a:xfrm>
          <a:prstGeom prst="rect">
            <a:avLst/>
          </a:prstGeom>
        </p:spPr>
        <p:txBody>
          <a:bodyPr lIns="0" tIns="0" rIns="0" bIns="0" rtlCol="0" anchor="t">
            <a:spAutoFit/>
          </a:bodyPr>
          <a:lstStyle/>
          <a:p>
            <a:pPr algn="l">
              <a:lnSpc>
                <a:spcPts val="6800"/>
              </a:lnSpc>
            </a:pPr>
            <a:r>
              <a:rPr lang="en-US" sz="6800" spc="-272">
                <a:solidFill>
                  <a:srgbClr val="FFFFFF"/>
                </a:solidFill>
                <a:latin typeface="Inter"/>
                <a:ea typeface="Inter"/>
                <a:cs typeface="Inter"/>
                <a:sym typeface="Inter"/>
              </a:rPr>
              <a:t>Table of Content</a:t>
            </a:r>
          </a:p>
        </p:txBody>
      </p:sp>
      <p:sp>
        <p:nvSpPr>
          <p:cNvPr id="28" name="Freeform 28"/>
          <p:cNvSpPr/>
          <p:nvPr/>
        </p:nvSpPr>
        <p:spPr>
          <a:xfrm>
            <a:off x="7247068" y="9500837"/>
            <a:ext cx="786163" cy="786163"/>
          </a:xfrm>
          <a:custGeom>
            <a:avLst/>
            <a:gdLst/>
            <a:ahLst/>
            <a:cxnLst/>
            <a:rect l="l" t="t" r="r" b="b"/>
            <a:pathLst>
              <a:path w="786163" h="786163">
                <a:moveTo>
                  <a:pt x="0" y="0"/>
                </a:moveTo>
                <a:lnTo>
                  <a:pt x="786163" y="0"/>
                </a:lnTo>
                <a:lnTo>
                  <a:pt x="786163" y="786163"/>
                </a:lnTo>
                <a:lnTo>
                  <a:pt x="0" y="786163"/>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ar-EG"/>
          </a:p>
        </p:txBody>
      </p:sp>
      <p:sp>
        <p:nvSpPr>
          <p:cNvPr id="29" name="TextBox 29"/>
          <p:cNvSpPr txBox="1"/>
          <p:nvPr/>
        </p:nvSpPr>
        <p:spPr>
          <a:xfrm>
            <a:off x="7020430" y="7911484"/>
            <a:ext cx="453277" cy="448311"/>
          </a:xfrm>
          <a:prstGeom prst="rect">
            <a:avLst/>
          </a:prstGeom>
        </p:spPr>
        <p:txBody>
          <a:bodyPr lIns="0" tIns="0" rIns="0" bIns="0" rtlCol="0" anchor="t">
            <a:spAutoFit/>
          </a:bodyPr>
          <a:lstStyle/>
          <a:p>
            <a:pPr algn="l">
              <a:lnSpc>
                <a:spcPts val="3639"/>
              </a:lnSpc>
              <a:spcBef>
                <a:spcPct val="0"/>
              </a:spcBef>
            </a:pPr>
            <a:r>
              <a:rPr lang="en-US" sz="2599" b="1" spc="-51">
                <a:solidFill>
                  <a:srgbClr val="FFFFFF">
                    <a:alpha val="89804"/>
                  </a:srgbClr>
                </a:solidFill>
                <a:latin typeface="Inter Bold"/>
                <a:ea typeface="Inter Bold"/>
                <a:cs typeface="Inter Bold"/>
                <a:sym typeface="Inter Bold"/>
              </a:rPr>
              <a:t>08</a:t>
            </a:r>
          </a:p>
        </p:txBody>
      </p:sp>
      <p:sp>
        <p:nvSpPr>
          <p:cNvPr id="30" name="TextBox 30"/>
          <p:cNvSpPr txBox="1"/>
          <p:nvPr/>
        </p:nvSpPr>
        <p:spPr>
          <a:xfrm>
            <a:off x="3117214" y="5359050"/>
            <a:ext cx="3098707" cy="372745"/>
          </a:xfrm>
          <a:prstGeom prst="rect">
            <a:avLst/>
          </a:prstGeom>
        </p:spPr>
        <p:txBody>
          <a:bodyPr lIns="0" tIns="0" rIns="0" bIns="0" rtlCol="0" anchor="t">
            <a:spAutoFit/>
          </a:bodyPr>
          <a:lstStyle/>
          <a:p>
            <a:pPr marL="0" lvl="0" indent="0" algn="l">
              <a:lnSpc>
                <a:spcPts val="3079"/>
              </a:lnSpc>
              <a:spcBef>
                <a:spcPct val="0"/>
              </a:spcBef>
            </a:pPr>
            <a:r>
              <a:rPr lang="en-US" sz="2199" u="none" strike="noStrike" spc="-43">
                <a:solidFill>
                  <a:srgbClr val="FFFFFF">
                    <a:alpha val="89804"/>
                  </a:srgbClr>
                </a:solidFill>
                <a:latin typeface="Inter"/>
                <a:ea typeface="Inter"/>
                <a:cs typeface="Inter"/>
                <a:sym typeface="Inter"/>
              </a:rPr>
              <a:t>Project creation Phases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3" name="Freeform 3"/>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4" name="Freeform 4"/>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5" name="Group 5"/>
          <p:cNvGrpSpPr/>
          <p:nvPr/>
        </p:nvGrpSpPr>
        <p:grpSpPr>
          <a:xfrm>
            <a:off x="1028700" y="416438"/>
            <a:ext cx="6027855" cy="1224523"/>
            <a:chOff x="0" y="0"/>
            <a:chExt cx="8037140" cy="1632698"/>
          </a:xfrm>
        </p:grpSpPr>
        <p:grpSp>
          <p:nvGrpSpPr>
            <p:cNvPr id="6" name="Group 6"/>
            <p:cNvGrpSpPr/>
            <p:nvPr/>
          </p:nvGrpSpPr>
          <p:grpSpPr>
            <a:xfrm>
              <a:off x="0" y="0"/>
              <a:ext cx="8037140" cy="1632698"/>
              <a:chOff x="0" y="0"/>
              <a:chExt cx="1587583" cy="322508"/>
            </a:xfrm>
          </p:grpSpPr>
          <p:sp>
            <p:nvSpPr>
              <p:cNvPr id="7" name="Freeform 7"/>
              <p:cNvSpPr/>
              <p:nvPr/>
            </p:nvSpPr>
            <p:spPr>
              <a:xfrm>
                <a:off x="0" y="0"/>
                <a:ext cx="1587583" cy="322508"/>
              </a:xfrm>
              <a:custGeom>
                <a:avLst/>
                <a:gdLst/>
                <a:ahLst/>
                <a:cxnLst/>
                <a:rect l="l" t="t" r="r" b="b"/>
                <a:pathLst>
                  <a:path w="1587583" h="322508">
                    <a:moveTo>
                      <a:pt x="53943" y="0"/>
                    </a:moveTo>
                    <a:lnTo>
                      <a:pt x="1533640" y="0"/>
                    </a:lnTo>
                    <a:cubicBezTo>
                      <a:pt x="1563432" y="0"/>
                      <a:pt x="1587583" y="24151"/>
                      <a:pt x="1587583" y="53943"/>
                    </a:cubicBezTo>
                    <a:lnTo>
                      <a:pt x="1587583" y="268565"/>
                    </a:lnTo>
                    <a:cubicBezTo>
                      <a:pt x="1587583" y="282872"/>
                      <a:pt x="1581900" y="296592"/>
                      <a:pt x="1571784" y="306709"/>
                    </a:cubicBezTo>
                    <a:cubicBezTo>
                      <a:pt x="1561667" y="316825"/>
                      <a:pt x="1547947" y="322508"/>
                      <a:pt x="1533640" y="322508"/>
                    </a:cubicBezTo>
                    <a:lnTo>
                      <a:pt x="53943" y="322508"/>
                    </a:lnTo>
                    <a:cubicBezTo>
                      <a:pt x="24151" y="322508"/>
                      <a:pt x="0" y="298357"/>
                      <a:pt x="0" y="268565"/>
                    </a:cubicBezTo>
                    <a:lnTo>
                      <a:pt x="0" y="53943"/>
                    </a:lnTo>
                    <a:cubicBezTo>
                      <a:pt x="0" y="24151"/>
                      <a:pt x="24151" y="0"/>
                      <a:pt x="53943"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8" name="TextBox 8"/>
              <p:cNvSpPr txBox="1"/>
              <p:nvPr/>
            </p:nvSpPr>
            <p:spPr>
              <a:xfrm>
                <a:off x="0" y="-38100"/>
                <a:ext cx="1587583" cy="36060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TextBox 9"/>
            <p:cNvSpPr txBox="1"/>
            <p:nvPr/>
          </p:nvSpPr>
          <p:spPr>
            <a:xfrm>
              <a:off x="206961" y="215213"/>
              <a:ext cx="7623219" cy="1074654"/>
            </a:xfrm>
            <a:prstGeom prst="rect">
              <a:avLst/>
            </a:prstGeom>
          </p:spPr>
          <p:txBody>
            <a:bodyPr lIns="0" tIns="0" rIns="0" bIns="0" rtlCol="0" anchor="t">
              <a:spAutoFit/>
            </a:bodyPr>
            <a:lstStyle/>
            <a:p>
              <a:pPr algn="l">
                <a:lnSpc>
                  <a:spcPts val="6999"/>
                </a:lnSpc>
                <a:spcBef>
                  <a:spcPct val="0"/>
                </a:spcBef>
              </a:pPr>
              <a:r>
                <a:rPr lang="en-US" sz="4400" spc="-99" dirty="0">
                  <a:solidFill>
                    <a:srgbClr val="FFFFFF">
                      <a:alpha val="89804"/>
                    </a:srgbClr>
                  </a:solidFill>
                  <a:latin typeface="Inter"/>
                  <a:ea typeface="Inter"/>
                  <a:cs typeface="Inter"/>
                  <a:sym typeface="Inter"/>
                </a:rPr>
                <a:t>Executive Summary</a:t>
              </a:r>
            </a:p>
          </p:txBody>
        </p:sp>
      </p:grpSp>
      <p:grpSp>
        <p:nvGrpSpPr>
          <p:cNvPr id="10" name="Group 10"/>
          <p:cNvGrpSpPr/>
          <p:nvPr/>
        </p:nvGrpSpPr>
        <p:grpSpPr>
          <a:xfrm>
            <a:off x="1158639" y="2044708"/>
            <a:ext cx="15970722" cy="7773031"/>
            <a:chOff x="0" y="0"/>
            <a:chExt cx="4206281" cy="2047218"/>
          </a:xfrm>
        </p:grpSpPr>
        <p:sp>
          <p:nvSpPr>
            <p:cNvPr id="11" name="Freeform 11"/>
            <p:cNvSpPr/>
            <p:nvPr/>
          </p:nvSpPr>
          <p:spPr>
            <a:xfrm>
              <a:off x="0" y="0"/>
              <a:ext cx="4206281" cy="2047218"/>
            </a:xfrm>
            <a:custGeom>
              <a:avLst/>
              <a:gdLst/>
              <a:ahLst/>
              <a:cxnLst/>
              <a:rect l="l" t="t" r="r" b="b"/>
              <a:pathLst>
                <a:path w="4206281" h="2047218">
                  <a:moveTo>
                    <a:pt x="20360" y="0"/>
                  </a:moveTo>
                  <a:lnTo>
                    <a:pt x="4185921" y="0"/>
                  </a:lnTo>
                  <a:cubicBezTo>
                    <a:pt x="4197166" y="0"/>
                    <a:pt x="4206281" y="9115"/>
                    <a:pt x="4206281" y="20360"/>
                  </a:cubicBezTo>
                  <a:lnTo>
                    <a:pt x="4206281" y="2026858"/>
                  </a:lnTo>
                  <a:cubicBezTo>
                    <a:pt x="4206281" y="2032258"/>
                    <a:pt x="4204136" y="2037437"/>
                    <a:pt x="4200318" y="2041255"/>
                  </a:cubicBezTo>
                  <a:cubicBezTo>
                    <a:pt x="4196499" y="2045073"/>
                    <a:pt x="4191321" y="2047218"/>
                    <a:pt x="4185921" y="2047218"/>
                  </a:cubicBezTo>
                  <a:lnTo>
                    <a:pt x="20360" y="2047218"/>
                  </a:lnTo>
                  <a:cubicBezTo>
                    <a:pt x="9115" y="2047218"/>
                    <a:pt x="0" y="2038103"/>
                    <a:pt x="0" y="2026858"/>
                  </a:cubicBezTo>
                  <a:lnTo>
                    <a:pt x="0" y="20360"/>
                  </a:lnTo>
                  <a:cubicBezTo>
                    <a:pt x="0" y="9115"/>
                    <a:pt x="9115" y="0"/>
                    <a:pt x="20360"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12" name="TextBox 12"/>
            <p:cNvSpPr txBox="1"/>
            <p:nvPr/>
          </p:nvSpPr>
          <p:spPr>
            <a:xfrm>
              <a:off x="0" y="-38100"/>
              <a:ext cx="4206281" cy="208531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1288578" y="2561279"/>
            <a:ext cx="15653820" cy="6692265"/>
          </a:xfrm>
          <a:prstGeom prst="rect">
            <a:avLst/>
          </a:prstGeom>
        </p:spPr>
        <p:txBody>
          <a:bodyPr lIns="0" tIns="0" rIns="0" bIns="0" rtlCol="0" anchor="t">
            <a:spAutoFit/>
          </a:bodyPr>
          <a:lstStyle/>
          <a:p>
            <a:pPr algn="just">
              <a:lnSpc>
                <a:spcPts val="3359"/>
              </a:lnSpc>
              <a:spcBef>
                <a:spcPct val="0"/>
              </a:spcBef>
            </a:pPr>
            <a:r>
              <a:rPr lang="en-US" sz="2399">
                <a:solidFill>
                  <a:srgbClr val="FFFFFF"/>
                </a:solidFill>
                <a:latin typeface="Inter"/>
                <a:ea typeface="Inter"/>
                <a:cs typeface="Inter"/>
                <a:sym typeface="Inter"/>
              </a:rPr>
              <a:t>This report provides a holistic overview of our workforce, highlighting critical areas in employee attrition, compensation, and demographic distribution. The data reveals a healthy overall retention rate but points to specific departments, ethnicities, and work-life balance factors that require targeted intervention to mitigate risk and foster a more stable and engaged workforce.</a:t>
            </a:r>
          </a:p>
          <a:p>
            <a:pPr algn="just">
              <a:lnSpc>
                <a:spcPts val="3359"/>
              </a:lnSpc>
              <a:spcBef>
                <a:spcPct val="0"/>
              </a:spcBef>
            </a:pPr>
            <a:endParaRPr lang="en-US" sz="2399">
              <a:solidFill>
                <a:srgbClr val="FFFFFF"/>
              </a:solidFill>
              <a:latin typeface="Inter"/>
              <a:ea typeface="Inter"/>
              <a:cs typeface="Inter"/>
              <a:sym typeface="Inter"/>
            </a:endParaRPr>
          </a:p>
          <a:p>
            <a:pPr algn="just">
              <a:lnSpc>
                <a:spcPts val="3359"/>
              </a:lnSpc>
              <a:spcBef>
                <a:spcPct val="0"/>
              </a:spcBef>
            </a:pPr>
            <a:r>
              <a:rPr lang="en-US" sz="2399">
                <a:solidFill>
                  <a:srgbClr val="FFFFFF"/>
                </a:solidFill>
                <a:latin typeface="Inter"/>
                <a:ea typeface="Inter"/>
                <a:cs typeface="Inter"/>
                <a:sym typeface="Inter"/>
              </a:rPr>
              <a:t>1. Attrition &amp; Retention: A Strong Baseline with Specific Vulnerabilities</a:t>
            </a:r>
          </a:p>
          <a:p>
            <a:pPr algn="just">
              <a:lnSpc>
                <a:spcPts val="3359"/>
              </a:lnSpc>
              <a:spcBef>
                <a:spcPct val="0"/>
              </a:spcBef>
            </a:pPr>
            <a:r>
              <a:rPr lang="en-US" sz="2399">
                <a:solidFill>
                  <a:srgbClr val="FFFFFF"/>
                </a:solidFill>
                <a:latin typeface="Inter"/>
                <a:ea typeface="Inter"/>
                <a:cs typeface="Inter"/>
                <a:sym typeface="Inter"/>
              </a:rPr>
              <a:t>The company maintains a solid foundation with 1,470 total employees and an 84% active employee rate, indicating an overall attrition rate of 16%. However, this figure masks significant disparities:</a:t>
            </a:r>
          </a:p>
          <a:p>
            <a:pPr algn="just">
              <a:lnSpc>
                <a:spcPts val="3359"/>
              </a:lnSpc>
              <a:spcBef>
                <a:spcPct val="0"/>
              </a:spcBef>
            </a:pPr>
            <a:r>
              <a:rPr lang="en-US" sz="2399">
                <a:solidFill>
                  <a:srgbClr val="FFFFFF"/>
                </a:solidFill>
                <a:latin typeface="Inter"/>
                <a:ea typeface="Inter"/>
                <a:cs typeface="Inter"/>
                <a:sym typeface="Inter"/>
              </a:rPr>
              <a:t>Departmental Risk: Attrition is concentrated, with 237 employees leaving from a single, high-risk department (likely Sales or a specific technical unit), suggesting issues with role-specific stress, compensation, or management.</a:t>
            </a:r>
          </a:p>
          <a:p>
            <a:pPr algn="just">
              <a:lnSpc>
                <a:spcPts val="3359"/>
              </a:lnSpc>
              <a:spcBef>
                <a:spcPct val="0"/>
              </a:spcBef>
            </a:pPr>
            <a:r>
              <a:rPr lang="en-US" sz="2399">
                <a:solidFill>
                  <a:srgbClr val="FFFFFF"/>
                </a:solidFill>
                <a:latin typeface="Inter"/>
                <a:ea typeface="Inter"/>
                <a:cs typeface="Inter"/>
                <a:sym typeface="Inter"/>
              </a:rPr>
              <a:t>Ethnicity Disparity: Attrition is not evenly distributed across ethnic groups. While raw numbers are highest among White employees, the American Indian or Alaska Native group shows a concerning trend, with 20 out of 50 employees (40%) having left.</a:t>
            </a:r>
          </a:p>
          <a:p>
            <a:pPr algn="just">
              <a:lnSpc>
                <a:spcPts val="3359"/>
              </a:lnSpc>
              <a:spcBef>
                <a:spcPct val="0"/>
              </a:spcBef>
            </a:pPr>
            <a:r>
              <a:rPr lang="en-US" sz="2399">
                <a:solidFill>
                  <a:srgbClr val="FFFFFF"/>
                </a:solidFill>
                <a:latin typeface="Inter"/>
                <a:ea typeface="Inter"/>
                <a:cs typeface="Inter"/>
                <a:sym typeface="Inter"/>
              </a:rPr>
              <a:t>Tenure Insights: The average tenure hovers around 4.56 years, with variations by age group. This indicates a potential risk period mid-career where employees may seek new opportunities.</a:t>
            </a:r>
          </a:p>
        </p:txBody>
      </p:sp>
    </p:spTree>
  </p:cSld>
  <p:clrMapOvr>
    <a:masterClrMapping/>
  </p:clrMapOvr>
  <p:transition>
    <p:wipe dir="u"/>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3" name="Freeform 3"/>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4" name="Freeform 4"/>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5" name="Group 5"/>
          <p:cNvGrpSpPr/>
          <p:nvPr/>
        </p:nvGrpSpPr>
        <p:grpSpPr>
          <a:xfrm>
            <a:off x="1028700" y="416438"/>
            <a:ext cx="6027855" cy="1224523"/>
            <a:chOff x="0" y="0"/>
            <a:chExt cx="8037140" cy="1632698"/>
          </a:xfrm>
        </p:grpSpPr>
        <p:grpSp>
          <p:nvGrpSpPr>
            <p:cNvPr id="6" name="Group 6"/>
            <p:cNvGrpSpPr/>
            <p:nvPr/>
          </p:nvGrpSpPr>
          <p:grpSpPr>
            <a:xfrm>
              <a:off x="0" y="0"/>
              <a:ext cx="8037140" cy="1632698"/>
              <a:chOff x="0" y="0"/>
              <a:chExt cx="1587583" cy="322508"/>
            </a:xfrm>
          </p:grpSpPr>
          <p:sp>
            <p:nvSpPr>
              <p:cNvPr id="7" name="Freeform 7"/>
              <p:cNvSpPr/>
              <p:nvPr/>
            </p:nvSpPr>
            <p:spPr>
              <a:xfrm>
                <a:off x="0" y="0"/>
                <a:ext cx="1587583" cy="322508"/>
              </a:xfrm>
              <a:custGeom>
                <a:avLst/>
                <a:gdLst/>
                <a:ahLst/>
                <a:cxnLst/>
                <a:rect l="l" t="t" r="r" b="b"/>
                <a:pathLst>
                  <a:path w="1587583" h="322508">
                    <a:moveTo>
                      <a:pt x="53943" y="0"/>
                    </a:moveTo>
                    <a:lnTo>
                      <a:pt x="1533640" y="0"/>
                    </a:lnTo>
                    <a:cubicBezTo>
                      <a:pt x="1563432" y="0"/>
                      <a:pt x="1587583" y="24151"/>
                      <a:pt x="1587583" y="53943"/>
                    </a:cubicBezTo>
                    <a:lnTo>
                      <a:pt x="1587583" y="268565"/>
                    </a:lnTo>
                    <a:cubicBezTo>
                      <a:pt x="1587583" y="282872"/>
                      <a:pt x="1581900" y="296592"/>
                      <a:pt x="1571784" y="306709"/>
                    </a:cubicBezTo>
                    <a:cubicBezTo>
                      <a:pt x="1561667" y="316825"/>
                      <a:pt x="1547947" y="322508"/>
                      <a:pt x="1533640" y="322508"/>
                    </a:cubicBezTo>
                    <a:lnTo>
                      <a:pt x="53943" y="322508"/>
                    </a:lnTo>
                    <a:cubicBezTo>
                      <a:pt x="24151" y="322508"/>
                      <a:pt x="0" y="298357"/>
                      <a:pt x="0" y="268565"/>
                    </a:cubicBezTo>
                    <a:lnTo>
                      <a:pt x="0" y="53943"/>
                    </a:lnTo>
                    <a:cubicBezTo>
                      <a:pt x="0" y="24151"/>
                      <a:pt x="24151" y="0"/>
                      <a:pt x="53943"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8" name="TextBox 8"/>
              <p:cNvSpPr txBox="1"/>
              <p:nvPr/>
            </p:nvSpPr>
            <p:spPr>
              <a:xfrm>
                <a:off x="0" y="-38100"/>
                <a:ext cx="1587583" cy="36060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TextBox 9"/>
            <p:cNvSpPr txBox="1"/>
            <p:nvPr/>
          </p:nvSpPr>
          <p:spPr>
            <a:xfrm>
              <a:off x="206961" y="215214"/>
              <a:ext cx="7623218" cy="1107019"/>
            </a:xfrm>
            <a:prstGeom prst="rect">
              <a:avLst/>
            </a:prstGeom>
          </p:spPr>
          <p:txBody>
            <a:bodyPr lIns="0" tIns="0" rIns="0" bIns="0" rtlCol="0" anchor="t">
              <a:spAutoFit/>
            </a:bodyPr>
            <a:lstStyle/>
            <a:p>
              <a:pPr algn="l">
                <a:lnSpc>
                  <a:spcPts val="6999"/>
                </a:lnSpc>
                <a:spcBef>
                  <a:spcPct val="0"/>
                </a:spcBef>
              </a:pPr>
              <a:r>
                <a:rPr lang="en-US" sz="4800" spc="-99" dirty="0">
                  <a:solidFill>
                    <a:srgbClr val="FFFFFF">
                      <a:alpha val="89804"/>
                    </a:srgbClr>
                  </a:solidFill>
                  <a:latin typeface="Inter"/>
                  <a:ea typeface="Inter"/>
                  <a:cs typeface="Inter"/>
                  <a:sym typeface="Inter"/>
                </a:rPr>
                <a:t>Executive Summary</a:t>
              </a:r>
            </a:p>
          </p:txBody>
        </p:sp>
      </p:grpSp>
      <p:grpSp>
        <p:nvGrpSpPr>
          <p:cNvPr id="10" name="Group 10"/>
          <p:cNvGrpSpPr/>
          <p:nvPr/>
        </p:nvGrpSpPr>
        <p:grpSpPr>
          <a:xfrm>
            <a:off x="1158639" y="2044708"/>
            <a:ext cx="15970722" cy="7773031"/>
            <a:chOff x="0" y="0"/>
            <a:chExt cx="4206281" cy="2047218"/>
          </a:xfrm>
        </p:grpSpPr>
        <p:sp>
          <p:nvSpPr>
            <p:cNvPr id="11" name="Freeform 11"/>
            <p:cNvSpPr/>
            <p:nvPr/>
          </p:nvSpPr>
          <p:spPr>
            <a:xfrm>
              <a:off x="0" y="0"/>
              <a:ext cx="4206281" cy="2047218"/>
            </a:xfrm>
            <a:custGeom>
              <a:avLst/>
              <a:gdLst/>
              <a:ahLst/>
              <a:cxnLst/>
              <a:rect l="l" t="t" r="r" b="b"/>
              <a:pathLst>
                <a:path w="4206281" h="2047218">
                  <a:moveTo>
                    <a:pt x="20360" y="0"/>
                  </a:moveTo>
                  <a:lnTo>
                    <a:pt x="4185921" y="0"/>
                  </a:lnTo>
                  <a:cubicBezTo>
                    <a:pt x="4197166" y="0"/>
                    <a:pt x="4206281" y="9115"/>
                    <a:pt x="4206281" y="20360"/>
                  </a:cubicBezTo>
                  <a:lnTo>
                    <a:pt x="4206281" y="2026858"/>
                  </a:lnTo>
                  <a:cubicBezTo>
                    <a:pt x="4206281" y="2032258"/>
                    <a:pt x="4204136" y="2037437"/>
                    <a:pt x="4200318" y="2041255"/>
                  </a:cubicBezTo>
                  <a:cubicBezTo>
                    <a:pt x="4196499" y="2045073"/>
                    <a:pt x="4191321" y="2047218"/>
                    <a:pt x="4185921" y="2047218"/>
                  </a:cubicBezTo>
                  <a:lnTo>
                    <a:pt x="20360" y="2047218"/>
                  </a:lnTo>
                  <a:cubicBezTo>
                    <a:pt x="9115" y="2047218"/>
                    <a:pt x="0" y="2038103"/>
                    <a:pt x="0" y="2026858"/>
                  </a:cubicBezTo>
                  <a:lnTo>
                    <a:pt x="0" y="20360"/>
                  </a:lnTo>
                  <a:cubicBezTo>
                    <a:pt x="0" y="9115"/>
                    <a:pt x="9115" y="0"/>
                    <a:pt x="20360"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12" name="TextBox 12"/>
            <p:cNvSpPr txBox="1"/>
            <p:nvPr/>
          </p:nvSpPr>
          <p:spPr>
            <a:xfrm>
              <a:off x="0" y="-38100"/>
              <a:ext cx="4206281" cy="208531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1288578" y="3455142"/>
            <a:ext cx="15628113" cy="4177665"/>
          </a:xfrm>
          <a:prstGeom prst="rect">
            <a:avLst/>
          </a:prstGeom>
        </p:spPr>
        <p:txBody>
          <a:bodyPr lIns="0" tIns="0" rIns="0" bIns="0" rtlCol="0" anchor="t">
            <a:spAutoFit/>
          </a:bodyPr>
          <a:lstStyle/>
          <a:p>
            <a:pPr marL="0" lvl="0" indent="0" algn="just">
              <a:lnSpc>
                <a:spcPts val="3359"/>
              </a:lnSpc>
              <a:spcBef>
                <a:spcPct val="0"/>
              </a:spcBef>
            </a:pPr>
            <a:r>
              <a:rPr lang="en-US" sz="2399" u="none" strike="noStrike">
                <a:solidFill>
                  <a:srgbClr val="FFFFFF"/>
                </a:solidFill>
                <a:latin typeface="Inter"/>
                <a:ea typeface="Inter"/>
                <a:cs typeface="Inter"/>
                <a:sym typeface="Inter"/>
              </a:rPr>
              <a:t>2. Compensation &amp; Workload: Key Levers for Retention</a:t>
            </a:r>
          </a:p>
          <a:p>
            <a:pPr marL="0" lvl="0" indent="0" algn="just">
              <a:lnSpc>
                <a:spcPts val="3359"/>
              </a:lnSpc>
              <a:spcBef>
                <a:spcPct val="0"/>
              </a:spcBef>
            </a:pPr>
            <a:r>
              <a:rPr lang="en-US" sz="2399" u="none" strike="noStrike">
                <a:solidFill>
                  <a:srgbClr val="FFFFFF"/>
                </a:solidFill>
                <a:latin typeface="Inter"/>
                <a:ea typeface="Inter"/>
                <a:cs typeface="Inter"/>
                <a:sym typeface="Inter"/>
              </a:rPr>
              <a:t>Compensation and overtime are critical factors influencing employee satisfaction and turnover.</a:t>
            </a:r>
          </a:p>
          <a:p>
            <a:pPr marL="0" lvl="0" indent="0" algn="just">
              <a:lnSpc>
                <a:spcPts val="3359"/>
              </a:lnSpc>
              <a:spcBef>
                <a:spcPct val="0"/>
              </a:spcBef>
            </a:pPr>
            <a:r>
              <a:rPr lang="en-US" sz="2399" u="none" strike="noStrike">
                <a:solidFill>
                  <a:srgbClr val="FFFFFF"/>
                </a:solidFill>
                <a:latin typeface="Inter"/>
                <a:ea typeface="Inter"/>
                <a:cs typeface="Inter"/>
                <a:sym typeface="Inter"/>
              </a:rPr>
              <a:t>Compensation Distribution: The majority of the salary budget is allocated to Sales and Engineering roles. This is expected but requires ongoing benchmarking to ensure competitiveness.</a:t>
            </a:r>
          </a:p>
          <a:p>
            <a:pPr marL="0" lvl="0" indent="0" algn="just">
              <a:lnSpc>
                <a:spcPts val="3359"/>
              </a:lnSpc>
              <a:spcBef>
                <a:spcPct val="0"/>
              </a:spcBef>
            </a:pPr>
            <a:r>
              <a:rPr lang="en-US" sz="2399" u="none" strike="noStrike">
                <a:solidFill>
                  <a:srgbClr val="FFFFFF"/>
                </a:solidFill>
                <a:latin typeface="Inter"/>
                <a:ea typeface="Inter"/>
                <a:cs typeface="Inter"/>
                <a:sym typeface="Inter"/>
              </a:rPr>
              <a:t>Overtime Concerns: A significant portion of the workforce (28.3%) works overtime. A high correlation often exists between mandatory overtime, burnout, and attrition, necessitating a review of workload distribution and staffing levels.</a:t>
            </a:r>
          </a:p>
          <a:p>
            <a:pPr marL="0" lvl="0" indent="0" algn="just">
              <a:lnSpc>
                <a:spcPts val="3359"/>
              </a:lnSpc>
              <a:spcBef>
                <a:spcPct val="0"/>
              </a:spcBef>
            </a:pPr>
            <a:r>
              <a:rPr lang="en-US" sz="2399" u="none" strike="noStrike">
                <a:solidFill>
                  <a:srgbClr val="FFFFFF"/>
                </a:solidFill>
                <a:latin typeface="Inter"/>
                <a:ea typeface="Inter"/>
                <a:cs typeface="Inter"/>
                <a:sym typeface="Inter"/>
              </a:rPr>
              <a:t>Steady Payroll Growth: Total salary expenditure has shown a consistent upward trend from 2014 to 2022, reflecting company growth and incremental increases, but it may not be targeted enough to retain key talent in competitive roles.</a:t>
            </a:r>
          </a:p>
        </p:txBody>
      </p:sp>
    </p:spTree>
  </p:cSld>
  <p:clrMapOvr>
    <a:masterClrMapping/>
  </p:clrMapOvr>
  <p:transition>
    <p:wipe dir="u"/>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3" name="Freeform 3"/>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4" name="Freeform 4"/>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5" name="Group 5"/>
          <p:cNvGrpSpPr/>
          <p:nvPr/>
        </p:nvGrpSpPr>
        <p:grpSpPr>
          <a:xfrm>
            <a:off x="1028700" y="416438"/>
            <a:ext cx="6027855" cy="1224523"/>
            <a:chOff x="0" y="0"/>
            <a:chExt cx="8037140" cy="1632698"/>
          </a:xfrm>
        </p:grpSpPr>
        <p:grpSp>
          <p:nvGrpSpPr>
            <p:cNvPr id="6" name="Group 6"/>
            <p:cNvGrpSpPr/>
            <p:nvPr/>
          </p:nvGrpSpPr>
          <p:grpSpPr>
            <a:xfrm>
              <a:off x="0" y="0"/>
              <a:ext cx="8037140" cy="1632698"/>
              <a:chOff x="0" y="0"/>
              <a:chExt cx="1587583" cy="322508"/>
            </a:xfrm>
          </p:grpSpPr>
          <p:sp>
            <p:nvSpPr>
              <p:cNvPr id="7" name="Freeform 7"/>
              <p:cNvSpPr/>
              <p:nvPr/>
            </p:nvSpPr>
            <p:spPr>
              <a:xfrm>
                <a:off x="0" y="0"/>
                <a:ext cx="1587583" cy="322508"/>
              </a:xfrm>
              <a:custGeom>
                <a:avLst/>
                <a:gdLst/>
                <a:ahLst/>
                <a:cxnLst/>
                <a:rect l="l" t="t" r="r" b="b"/>
                <a:pathLst>
                  <a:path w="1587583" h="322508">
                    <a:moveTo>
                      <a:pt x="53943" y="0"/>
                    </a:moveTo>
                    <a:lnTo>
                      <a:pt x="1533640" y="0"/>
                    </a:lnTo>
                    <a:cubicBezTo>
                      <a:pt x="1563432" y="0"/>
                      <a:pt x="1587583" y="24151"/>
                      <a:pt x="1587583" y="53943"/>
                    </a:cubicBezTo>
                    <a:lnTo>
                      <a:pt x="1587583" y="268565"/>
                    </a:lnTo>
                    <a:cubicBezTo>
                      <a:pt x="1587583" y="282872"/>
                      <a:pt x="1581900" y="296592"/>
                      <a:pt x="1571784" y="306709"/>
                    </a:cubicBezTo>
                    <a:cubicBezTo>
                      <a:pt x="1561667" y="316825"/>
                      <a:pt x="1547947" y="322508"/>
                      <a:pt x="1533640" y="322508"/>
                    </a:cubicBezTo>
                    <a:lnTo>
                      <a:pt x="53943" y="322508"/>
                    </a:lnTo>
                    <a:cubicBezTo>
                      <a:pt x="24151" y="322508"/>
                      <a:pt x="0" y="298357"/>
                      <a:pt x="0" y="268565"/>
                    </a:cubicBezTo>
                    <a:lnTo>
                      <a:pt x="0" y="53943"/>
                    </a:lnTo>
                    <a:cubicBezTo>
                      <a:pt x="0" y="24151"/>
                      <a:pt x="24151" y="0"/>
                      <a:pt x="53943"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8" name="TextBox 8"/>
              <p:cNvSpPr txBox="1"/>
              <p:nvPr/>
            </p:nvSpPr>
            <p:spPr>
              <a:xfrm>
                <a:off x="0" y="-38100"/>
                <a:ext cx="1587583" cy="36060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TextBox 9"/>
            <p:cNvSpPr txBox="1"/>
            <p:nvPr/>
          </p:nvSpPr>
          <p:spPr>
            <a:xfrm>
              <a:off x="206961" y="215214"/>
              <a:ext cx="7623218" cy="1107019"/>
            </a:xfrm>
            <a:prstGeom prst="rect">
              <a:avLst/>
            </a:prstGeom>
          </p:spPr>
          <p:txBody>
            <a:bodyPr lIns="0" tIns="0" rIns="0" bIns="0" rtlCol="0" anchor="t">
              <a:spAutoFit/>
            </a:bodyPr>
            <a:lstStyle/>
            <a:p>
              <a:pPr algn="l">
                <a:lnSpc>
                  <a:spcPts val="6999"/>
                </a:lnSpc>
                <a:spcBef>
                  <a:spcPct val="0"/>
                </a:spcBef>
              </a:pPr>
              <a:r>
                <a:rPr lang="en-US" sz="4800" spc="-99" dirty="0">
                  <a:solidFill>
                    <a:srgbClr val="FFFFFF">
                      <a:alpha val="89804"/>
                    </a:srgbClr>
                  </a:solidFill>
                  <a:latin typeface="Inter"/>
                  <a:ea typeface="Inter"/>
                  <a:cs typeface="Inter"/>
                  <a:sym typeface="Inter"/>
                </a:rPr>
                <a:t>Executive Summary</a:t>
              </a:r>
            </a:p>
          </p:txBody>
        </p:sp>
      </p:grpSp>
      <p:grpSp>
        <p:nvGrpSpPr>
          <p:cNvPr id="10" name="Group 10"/>
          <p:cNvGrpSpPr/>
          <p:nvPr/>
        </p:nvGrpSpPr>
        <p:grpSpPr>
          <a:xfrm>
            <a:off x="1158639" y="2044708"/>
            <a:ext cx="15970722" cy="7773031"/>
            <a:chOff x="0" y="0"/>
            <a:chExt cx="4206281" cy="2047218"/>
          </a:xfrm>
        </p:grpSpPr>
        <p:sp>
          <p:nvSpPr>
            <p:cNvPr id="11" name="Freeform 11"/>
            <p:cNvSpPr/>
            <p:nvPr/>
          </p:nvSpPr>
          <p:spPr>
            <a:xfrm>
              <a:off x="0" y="0"/>
              <a:ext cx="4206281" cy="2047218"/>
            </a:xfrm>
            <a:custGeom>
              <a:avLst/>
              <a:gdLst/>
              <a:ahLst/>
              <a:cxnLst/>
              <a:rect l="l" t="t" r="r" b="b"/>
              <a:pathLst>
                <a:path w="4206281" h="2047218">
                  <a:moveTo>
                    <a:pt x="20360" y="0"/>
                  </a:moveTo>
                  <a:lnTo>
                    <a:pt x="4185921" y="0"/>
                  </a:lnTo>
                  <a:cubicBezTo>
                    <a:pt x="4197166" y="0"/>
                    <a:pt x="4206281" y="9115"/>
                    <a:pt x="4206281" y="20360"/>
                  </a:cubicBezTo>
                  <a:lnTo>
                    <a:pt x="4206281" y="2026858"/>
                  </a:lnTo>
                  <a:cubicBezTo>
                    <a:pt x="4206281" y="2032258"/>
                    <a:pt x="4204136" y="2037437"/>
                    <a:pt x="4200318" y="2041255"/>
                  </a:cubicBezTo>
                  <a:cubicBezTo>
                    <a:pt x="4196499" y="2045073"/>
                    <a:pt x="4191321" y="2047218"/>
                    <a:pt x="4185921" y="2047218"/>
                  </a:cubicBezTo>
                  <a:lnTo>
                    <a:pt x="20360" y="2047218"/>
                  </a:lnTo>
                  <a:cubicBezTo>
                    <a:pt x="9115" y="2047218"/>
                    <a:pt x="0" y="2038103"/>
                    <a:pt x="0" y="2026858"/>
                  </a:cubicBezTo>
                  <a:lnTo>
                    <a:pt x="0" y="20360"/>
                  </a:lnTo>
                  <a:cubicBezTo>
                    <a:pt x="0" y="9115"/>
                    <a:pt x="9115" y="0"/>
                    <a:pt x="20360"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12" name="TextBox 12"/>
            <p:cNvSpPr txBox="1"/>
            <p:nvPr/>
          </p:nvSpPr>
          <p:spPr>
            <a:xfrm>
              <a:off x="0" y="-38100"/>
              <a:ext cx="4206281" cy="208531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1288578" y="4237679"/>
            <a:ext cx="15467478" cy="3339465"/>
          </a:xfrm>
          <a:prstGeom prst="rect">
            <a:avLst/>
          </a:prstGeom>
        </p:spPr>
        <p:txBody>
          <a:bodyPr lIns="0" tIns="0" rIns="0" bIns="0" rtlCol="0" anchor="t">
            <a:spAutoFit/>
          </a:bodyPr>
          <a:lstStyle/>
          <a:p>
            <a:pPr marL="0" lvl="0" indent="0" algn="just">
              <a:lnSpc>
                <a:spcPts val="3359"/>
              </a:lnSpc>
              <a:spcBef>
                <a:spcPct val="0"/>
              </a:spcBef>
            </a:pPr>
            <a:r>
              <a:rPr lang="en-US" sz="2399" u="none" strike="noStrike">
                <a:solidFill>
                  <a:srgbClr val="FFFFFF"/>
                </a:solidFill>
                <a:latin typeface="Inter"/>
                <a:ea typeface="Inter"/>
                <a:cs typeface="Inter"/>
                <a:sym typeface="Inter"/>
              </a:rPr>
              <a:t>3. Workforce Composition &amp; Demographics</a:t>
            </a:r>
          </a:p>
          <a:p>
            <a:pPr marL="0" lvl="0" indent="0" algn="just">
              <a:lnSpc>
                <a:spcPts val="3359"/>
              </a:lnSpc>
              <a:spcBef>
                <a:spcPct val="0"/>
              </a:spcBef>
            </a:pPr>
            <a:r>
              <a:rPr lang="en-US" sz="2399" u="none" strike="noStrike">
                <a:solidFill>
                  <a:srgbClr val="FFFFFF"/>
                </a:solidFill>
                <a:latin typeface="Inter"/>
                <a:ea typeface="Inter"/>
                <a:cs typeface="Inter"/>
                <a:sym typeface="Inter"/>
              </a:rPr>
              <a:t>Our workforce is diverse, with several key characteristics:</a:t>
            </a:r>
          </a:p>
          <a:p>
            <a:pPr marL="0" lvl="0" indent="0" algn="just">
              <a:lnSpc>
                <a:spcPts val="3359"/>
              </a:lnSpc>
              <a:spcBef>
                <a:spcPct val="0"/>
              </a:spcBef>
            </a:pPr>
            <a:r>
              <a:rPr lang="en-US" sz="2399" u="none" strike="noStrike">
                <a:solidFill>
                  <a:srgbClr val="FFFFFF"/>
                </a:solidFill>
                <a:latin typeface="Inter"/>
                <a:ea typeface="Inter"/>
                <a:cs typeface="Inter"/>
                <a:sym typeface="Inter"/>
              </a:rPr>
              <a:t>Gender Balance: The workforce is relatively balanced between males and females (651 vs. 675), with inclusive representation of non-binary individuals and those who prefer not to specify.</a:t>
            </a:r>
          </a:p>
          <a:p>
            <a:pPr marL="0" lvl="0" indent="0" algn="just">
              <a:lnSpc>
                <a:spcPts val="3359"/>
              </a:lnSpc>
              <a:spcBef>
                <a:spcPct val="0"/>
              </a:spcBef>
            </a:pPr>
            <a:r>
              <a:rPr lang="en-US" sz="2399" u="none" strike="noStrike">
                <a:solidFill>
                  <a:srgbClr val="FFFFFF"/>
                </a:solidFill>
                <a:latin typeface="Inter"/>
                <a:ea typeface="Inter"/>
                <a:cs typeface="Inter"/>
                <a:sym typeface="Inter"/>
              </a:rPr>
              <a:t>Marital Status: The largest employee groups are Married and Single.</a:t>
            </a:r>
          </a:p>
          <a:p>
            <a:pPr marL="0" lvl="0" indent="0" algn="just">
              <a:lnSpc>
                <a:spcPts val="3359"/>
              </a:lnSpc>
              <a:spcBef>
                <a:spcPct val="0"/>
              </a:spcBef>
            </a:pPr>
            <a:r>
              <a:rPr lang="en-US" sz="2399" u="none" strike="noStrike">
                <a:solidFill>
                  <a:srgbClr val="FFFFFF"/>
                </a:solidFill>
                <a:latin typeface="Inter"/>
                <a:ea typeface="Inter"/>
                <a:cs typeface="Inter"/>
                <a:sym typeface="Inter"/>
              </a:rPr>
              <a:t>Business Travel: A significant majority (~88%) of employees engage in business travel, with 10.6% classified as "Frequent Travelers." The impact of this travel on work-life balance and attrition, especially for roles with high travel, should be investigated.</a:t>
            </a:r>
          </a:p>
        </p:txBody>
      </p:sp>
    </p:spTree>
  </p:cSld>
  <p:clrMapOvr>
    <a:masterClrMapping/>
  </p:clrMapOvr>
  <p:transition>
    <p:wipe dir="u"/>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3" name="Freeform 3"/>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4" name="Freeform 4"/>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5" name="Group 5"/>
          <p:cNvGrpSpPr/>
          <p:nvPr/>
        </p:nvGrpSpPr>
        <p:grpSpPr>
          <a:xfrm>
            <a:off x="1028700" y="416438"/>
            <a:ext cx="7188361" cy="1224523"/>
            <a:chOff x="0" y="0"/>
            <a:chExt cx="9584482" cy="1632698"/>
          </a:xfrm>
        </p:grpSpPr>
        <p:grpSp>
          <p:nvGrpSpPr>
            <p:cNvPr id="6" name="Group 6"/>
            <p:cNvGrpSpPr/>
            <p:nvPr/>
          </p:nvGrpSpPr>
          <p:grpSpPr>
            <a:xfrm>
              <a:off x="0" y="0"/>
              <a:ext cx="9584482" cy="1632698"/>
              <a:chOff x="0" y="0"/>
              <a:chExt cx="1893231" cy="322508"/>
            </a:xfrm>
          </p:grpSpPr>
          <p:sp>
            <p:nvSpPr>
              <p:cNvPr id="7" name="Freeform 7"/>
              <p:cNvSpPr/>
              <p:nvPr/>
            </p:nvSpPr>
            <p:spPr>
              <a:xfrm>
                <a:off x="0" y="0"/>
                <a:ext cx="1893231" cy="322508"/>
              </a:xfrm>
              <a:custGeom>
                <a:avLst/>
                <a:gdLst/>
                <a:ahLst/>
                <a:cxnLst/>
                <a:rect l="l" t="t" r="r" b="b"/>
                <a:pathLst>
                  <a:path w="1893231" h="322508">
                    <a:moveTo>
                      <a:pt x="45234" y="0"/>
                    </a:moveTo>
                    <a:lnTo>
                      <a:pt x="1847997" y="0"/>
                    </a:lnTo>
                    <a:cubicBezTo>
                      <a:pt x="1859993" y="0"/>
                      <a:pt x="1871499" y="4766"/>
                      <a:pt x="1879982" y="13249"/>
                    </a:cubicBezTo>
                    <a:cubicBezTo>
                      <a:pt x="1888465" y="21732"/>
                      <a:pt x="1893231" y="33237"/>
                      <a:pt x="1893231" y="45234"/>
                    </a:cubicBezTo>
                    <a:lnTo>
                      <a:pt x="1893231" y="277274"/>
                    </a:lnTo>
                    <a:cubicBezTo>
                      <a:pt x="1893231" y="289271"/>
                      <a:pt x="1888465" y="300776"/>
                      <a:pt x="1879982" y="309259"/>
                    </a:cubicBezTo>
                    <a:cubicBezTo>
                      <a:pt x="1871499" y="317742"/>
                      <a:pt x="1859993" y="322508"/>
                      <a:pt x="1847997" y="322508"/>
                    </a:cubicBezTo>
                    <a:lnTo>
                      <a:pt x="45234" y="322508"/>
                    </a:lnTo>
                    <a:cubicBezTo>
                      <a:pt x="33237" y="322508"/>
                      <a:pt x="21732" y="317742"/>
                      <a:pt x="13249" y="309259"/>
                    </a:cubicBezTo>
                    <a:cubicBezTo>
                      <a:pt x="4766" y="300776"/>
                      <a:pt x="0" y="289271"/>
                      <a:pt x="0" y="277274"/>
                    </a:cubicBezTo>
                    <a:lnTo>
                      <a:pt x="0" y="45234"/>
                    </a:lnTo>
                    <a:cubicBezTo>
                      <a:pt x="0" y="33237"/>
                      <a:pt x="4766" y="21732"/>
                      <a:pt x="13249" y="13249"/>
                    </a:cubicBezTo>
                    <a:cubicBezTo>
                      <a:pt x="21732" y="4766"/>
                      <a:pt x="33237" y="0"/>
                      <a:pt x="45234"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8" name="TextBox 8"/>
              <p:cNvSpPr txBox="1"/>
              <p:nvPr/>
            </p:nvSpPr>
            <p:spPr>
              <a:xfrm>
                <a:off x="0" y="-38100"/>
                <a:ext cx="1893231" cy="36060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TextBox 9"/>
            <p:cNvSpPr txBox="1"/>
            <p:nvPr/>
          </p:nvSpPr>
          <p:spPr>
            <a:xfrm>
              <a:off x="246805" y="215214"/>
              <a:ext cx="9090871" cy="1107019"/>
            </a:xfrm>
            <a:prstGeom prst="rect">
              <a:avLst/>
            </a:prstGeom>
          </p:spPr>
          <p:txBody>
            <a:bodyPr lIns="0" tIns="0" rIns="0" bIns="0" rtlCol="0" anchor="t">
              <a:spAutoFit/>
            </a:bodyPr>
            <a:lstStyle/>
            <a:p>
              <a:pPr algn="l">
                <a:lnSpc>
                  <a:spcPts val="6999"/>
                </a:lnSpc>
                <a:spcBef>
                  <a:spcPct val="0"/>
                </a:spcBef>
              </a:pPr>
              <a:r>
                <a:rPr lang="en-US" sz="4800" spc="-99" dirty="0">
                  <a:solidFill>
                    <a:srgbClr val="FFFFFF">
                      <a:alpha val="89804"/>
                    </a:srgbClr>
                  </a:solidFill>
                  <a:latin typeface="Inter"/>
                  <a:ea typeface="Inter"/>
                  <a:cs typeface="Inter"/>
                  <a:sym typeface="Inter"/>
                </a:rPr>
                <a:t>Project creation Phases</a:t>
              </a:r>
            </a:p>
          </p:txBody>
        </p:sp>
      </p:grpSp>
      <p:grpSp>
        <p:nvGrpSpPr>
          <p:cNvPr id="10" name="Group 10"/>
          <p:cNvGrpSpPr/>
          <p:nvPr/>
        </p:nvGrpSpPr>
        <p:grpSpPr>
          <a:xfrm>
            <a:off x="1158639" y="2044708"/>
            <a:ext cx="15970722" cy="7773031"/>
            <a:chOff x="0" y="0"/>
            <a:chExt cx="4206281" cy="2047218"/>
          </a:xfrm>
        </p:grpSpPr>
        <p:sp>
          <p:nvSpPr>
            <p:cNvPr id="11" name="Freeform 11"/>
            <p:cNvSpPr/>
            <p:nvPr/>
          </p:nvSpPr>
          <p:spPr>
            <a:xfrm>
              <a:off x="0" y="0"/>
              <a:ext cx="4206281" cy="2047218"/>
            </a:xfrm>
            <a:custGeom>
              <a:avLst/>
              <a:gdLst/>
              <a:ahLst/>
              <a:cxnLst/>
              <a:rect l="l" t="t" r="r" b="b"/>
              <a:pathLst>
                <a:path w="4206281" h="2047218">
                  <a:moveTo>
                    <a:pt x="20360" y="0"/>
                  </a:moveTo>
                  <a:lnTo>
                    <a:pt x="4185921" y="0"/>
                  </a:lnTo>
                  <a:cubicBezTo>
                    <a:pt x="4197166" y="0"/>
                    <a:pt x="4206281" y="9115"/>
                    <a:pt x="4206281" y="20360"/>
                  </a:cubicBezTo>
                  <a:lnTo>
                    <a:pt x="4206281" y="2026858"/>
                  </a:lnTo>
                  <a:cubicBezTo>
                    <a:pt x="4206281" y="2032258"/>
                    <a:pt x="4204136" y="2037437"/>
                    <a:pt x="4200318" y="2041255"/>
                  </a:cubicBezTo>
                  <a:cubicBezTo>
                    <a:pt x="4196499" y="2045073"/>
                    <a:pt x="4191321" y="2047218"/>
                    <a:pt x="4185921" y="2047218"/>
                  </a:cubicBezTo>
                  <a:lnTo>
                    <a:pt x="20360" y="2047218"/>
                  </a:lnTo>
                  <a:cubicBezTo>
                    <a:pt x="9115" y="2047218"/>
                    <a:pt x="0" y="2038103"/>
                    <a:pt x="0" y="2026858"/>
                  </a:cubicBezTo>
                  <a:lnTo>
                    <a:pt x="0" y="20360"/>
                  </a:lnTo>
                  <a:cubicBezTo>
                    <a:pt x="0" y="9115"/>
                    <a:pt x="9115" y="0"/>
                    <a:pt x="20360"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12" name="TextBox 12"/>
            <p:cNvSpPr txBox="1"/>
            <p:nvPr/>
          </p:nvSpPr>
          <p:spPr>
            <a:xfrm>
              <a:off x="0" y="-38100"/>
              <a:ext cx="4206281" cy="208531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1734015" y="2493669"/>
            <a:ext cx="13601700" cy="6556375"/>
          </a:xfrm>
          <a:prstGeom prst="rect">
            <a:avLst/>
          </a:prstGeom>
        </p:spPr>
        <p:txBody>
          <a:bodyPr lIns="0" tIns="0" rIns="0" bIns="0" rtlCol="0" anchor="t">
            <a:spAutoFit/>
          </a:bodyPr>
          <a:lstStyle/>
          <a:p>
            <a:pPr algn="l">
              <a:lnSpc>
                <a:spcPts val="3499"/>
              </a:lnSpc>
              <a:spcBef>
                <a:spcPct val="0"/>
              </a:spcBef>
            </a:pPr>
            <a:r>
              <a:rPr lang="en-US" sz="2499">
                <a:solidFill>
                  <a:srgbClr val="FFFFFF"/>
                </a:solidFill>
                <a:latin typeface="Canva Sans"/>
                <a:ea typeface="Canva Sans"/>
                <a:cs typeface="Canva Sans"/>
                <a:sym typeface="Canva Sans"/>
              </a:rPr>
              <a:t>1️⃣ Requirements Gathering Phase</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Conduct meetings with team members (Stakeholders)</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Identify the key questions the dashboard must answer</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Define the KPIs</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Identify the data sources</a:t>
            </a:r>
          </a:p>
          <a:p>
            <a:pPr algn="l">
              <a:lnSpc>
                <a:spcPts val="3499"/>
              </a:lnSpc>
              <a:spcBef>
                <a:spcPct val="0"/>
              </a:spcBef>
            </a:pPr>
            <a:endParaRPr lang="en-US" sz="2499">
              <a:solidFill>
                <a:srgbClr val="FFFFFF"/>
              </a:solidFill>
              <a:latin typeface="Canva Sans"/>
              <a:ea typeface="Canva Sans"/>
              <a:cs typeface="Canva Sans"/>
              <a:sym typeface="Canva Sans"/>
            </a:endParaRPr>
          </a:p>
          <a:p>
            <a:pPr algn="l">
              <a:lnSpc>
                <a:spcPts val="3499"/>
              </a:lnSpc>
              <a:spcBef>
                <a:spcPct val="0"/>
              </a:spcBef>
            </a:pPr>
            <a:r>
              <a:rPr lang="en-US" sz="2499">
                <a:solidFill>
                  <a:srgbClr val="FFFFFF"/>
                </a:solidFill>
                <a:latin typeface="Canva Sans"/>
                <a:ea typeface="Canva Sans"/>
                <a:cs typeface="Canva Sans"/>
                <a:sym typeface="Canva Sans"/>
              </a:rPr>
              <a:t>2️⃣ Data Modeling Planning Phase</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Identify the required tables</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Design the Star Schema</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Define the required transformations (ETL List)</a:t>
            </a:r>
          </a:p>
          <a:p>
            <a:pPr algn="l">
              <a:lnSpc>
                <a:spcPts val="3499"/>
              </a:lnSpc>
            </a:pPr>
            <a:endParaRPr lang="en-US" sz="2499">
              <a:solidFill>
                <a:srgbClr val="FFFFFF"/>
              </a:solidFill>
              <a:latin typeface="Canva Sans"/>
              <a:ea typeface="Canva Sans"/>
              <a:cs typeface="Canva Sans"/>
              <a:sym typeface="Canva Sans"/>
            </a:endParaRPr>
          </a:p>
          <a:p>
            <a:pPr algn="l">
              <a:lnSpc>
                <a:spcPts val="3499"/>
              </a:lnSpc>
              <a:spcBef>
                <a:spcPct val="0"/>
              </a:spcBef>
            </a:pPr>
            <a:r>
              <a:rPr lang="en-US" sz="2499">
                <a:solidFill>
                  <a:srgbClr val="FFFFFF"/>
                </a:solidFill>
                <a:latin typeface="Canva Sans"/>
                <a:ea typeface="Canva Sans"/>
                <a:cs typeface="Canva Sans"/>
                <a:sym typeface="Canva Sans"/>
              </a:rPr>
              <a:t>3️⃣ ETL Phase (Extract – Transform – Load)</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Extract</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Transform</a:t>
            </a:r>
          </a:p>
          <a:p>
            <a:pPr marL="539746" lvl="1" indent="-269873" algn="l">
              <a:lnSpc>
                <a:spcPts val="3499"/>
              </a:lnSpc>
              <a:buFont typeface="Arial"/>
              <a:buChar char="•"/>
            </a:pPr>
            <a:r>
              <a:rPr lang="en-US" sz="2499">
                <a:solidFill>
                  <a:srgbClr val="FFFFFF"/>
                </a:solidFill>
                <a:latin typeface="Canva Sans"/>
                <a:ea typeface="Canva Sans"/>
                <a:cs typeface="Canva Sans"/>
                <a:sym typeface="Canva Sans"/>
              </a:rPr>
              <a:t>Load</a:t>
            </a:r>
          </a:p>
        </p:txBody>
      </p:sp>
    </p:spTree>
  </p:cSld>
  <p:clrMapOvr>
    <a:masterClrMapping/>
  </p:clrMapOvr>
  <p:transition>
    <p:wipe dir="u"/>
  </p:transition>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3" name="Freeform 3"/>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4" name="Freeform 4"/>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5" name="Group 5"/>
          <p:cNvGrpSpPr/>
          <p:nvPr/>
        </p:nvGrpSpPr>
        <p:grpSpPr>
          <a:xfrm>
            <a:off x="1139589" y="2044708"/>
            <a:ext cx="15970722" cy="7773031"/>
            <a:chOff x="0" y="0"/>
            <a:chExt cx="4206281" cy="2047218"/>
          </a:xfrm>
        </p:grpSpPr>
        <p:sp>
          <p:nvSpPr>
            <p:cNvPr id="6" name="Freeform 6"/>
            <p:cNvSpPr/>
            <p:nvPr/>
          </p:nvSpPr>
          <p:spPr>
            <a:xfrm>
              <a:off x="0" y="0"/>
              <a:ext cx="4206281" cy="2047218"/>
            </a:xfrm>
            <a:custGeom>
              <a:avLst/>
              <a:gdLst/>
              <a:ahLst/>
              <a:cxnLst/>
              <a:rect l="l" t="t" r="r" b="b"/>
              <a:pathLst>
                <a:path w="4206281" h="2047218">
                  <a:moveTo>
                    <a:pt x="20360" y="0"/>
                  </a:moveTo>
                  <a:lnTo>
                    <a:pt x="4185921" y="0"/>
                  </a:lnTo>
                  <a:cubicBezTo>
                    <a:pt x="4197166" y="0"/>
                    <a:pt x="4206281" y="9115"/>
                    <a:pt x="4206281" y="20360"/>
                  </a:cubicBezTo>
                  <a:lnTo>
                    <a:pt x="4206281" y="2026858"/>
                  </a:lnTo>
                  <a:cubicBezTo>
                    <a:pt x="4206281" y="2032258"/>
                    <a:pt x="4204136" y="2037437"/>
                    <a:pt x="4200318" y="2041255"/>
                  </a:cubicBezTo>
                  <a:cubicBezTo>
                    <a:pt x="4196499" y="2045073"/>
                    <a:pt x="4191321" y="2047218"/>
                    <a:pt x="4185921" y="2047218"/>
                  </a:cubicBezTo>
                  <a:lnTo>
                    <a:pt x="20360" y="2047218"/>
                  </a:lnTo>
                  <a:cubicBezTo>
                    <a:pt x="9115" y="2047218"/>
                    <a:pt x="0" y="2038103"/>
                    <a:pt x="0" y="2026858"/>
                  </a:cubicBezTo>
                  <a:lnTo>
                    <a:pt x="0" y="20360"/>
                  </a:lnTo>
                  <a:cubicBezTo>
                    <a:pt x="0" y="9115"/>
                    <a:pt x="9115" y="0"/>
                    <a:pt x="20360"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7" name="TextBox 7"/>
            <p:cNvSpPr txBox="1"/>
            <p:nvPr/>
          </p:nvSpPr>
          <p:spPr>
            <a:xfrm>
              <a:off x="0" y="-38100"/>
              <a:ext cx="4206281" cy="208531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TextBox 8"/>
          <p:cNvSpPr txBox="1"/>
          <p:nvPr/>
        </p:nvSpPr>
        <p:spPr>
          <a:xfrm>
            <a:off x="1541346" y="2659304"/>
            <a:ext cx="13601700" cy="5680075"/>
          </a:xfrm>
          <a:prstGeom prst="rect">
            <a:avLst/>
          </a:prstGeom>
        </p:spPr>
        <p:txBody>
          <a:bodyPr lIns="0" tIns="0" rIns="0" bIns="0" rtlCol="0" anchor="t">
            <a:spAutoFit/>
          </a:bodyPr>
          <a:lstStyle/>
          <a:p>
            <a:pPr algn="l">
              <a:lnSpc>
                <a:spcPts val="3499"/>
              </a:lnSpc>
              <a:spcBef>
                <a:spcPct val="0"/>
              </a:spcBef>
            </a:pPr>
            <a:r>
              <a:rPr lang="en-US" sz="2499" u="none" strike="noStrike">
                <a:solidFill>
                  <a:srgbClr val="FFFFFF"/>
                </a:solidFill>
                <a:latin typeface="Canva Sans"/>
                <a:ea typeface="Canva Sans"/>
                <a:cs typeface="Canva Sans"/>
                <a:sym typeface="Canva Sans"/>
              </a:rPr>
              <a:t>4️⃣ Data Modeling Phase in Power BI</a:t>
            </a:r>
          </a:p>
          <a:p>
            <a:pPr marL="539746" lvl="1" indent="-269873" algn="l">
              <a:lnSpc>
                <a:spcPts val="3499"/>
              </a:lnSpc>
              <a:spcBef>
                <a:spcPct val="0"/>
              </a:spcBef>
              <a:buFont typeface="Arial"/>
              <a:buChar char="•"/>
            </a:pPr>
            <a:r>
              <a:rPr lang="en-US" sz="2499" u="none" strike="noStrike">
                <a:solidFill>
                  <a:srgbClr val="FFFFFF"/>
                </a:solidFill>
                <a:latin typeface="Canva Sans"/>
                <a:ea typeface="Canva Sans"/>
                <a:cs typeface="Canva Sans"/>
                <a:sym typeface="Canva Sans"/>
              </a:rPr>
              <a:t>Build the Star Schema model</a:t>
            </a:r>
          </a:p>
          <a:p>
            <a:pPr marL="539746" lvl="1" indent="-269873" algn="l">
              <a:lnSpc>
                <a:spcPts val="3499"/>
              </a:lnSpc>
              <a:spcBef>
                <a:spcPct val="0"/>
              </a:spcBef>
              <a:buFont typeface="Arial"/>
              <a:buChar char="•"/>
            </a:pPr>
            <a:r>
              <a:rPr lang="en-US" sz="2499" u="none" strike="noStrike">
                <a:solidFill>
                  <a:srgbClr val="FFFFFF"/>
                </a:solidFill>
                <a:latin typeface="Canva Sans"/>
                <a:ea typeface="Canva Sans"/>
                <a:cs typeface="Canva Sans"/>
                <a:sym typeface="Canva Sans"/>
              </a:rPr>
              <a:t>Create Measures using DAX</a:t>
            </a:r>
          </a:p>
          <a:p>
            <a:pPr algn="l">
              <a:lnSpc>
                <a:spcPts val="3499"/>
              </a:lnSpc>
              <a:spcBef>
                <a:spcPct val="0"/>
              </a:spcBef>
            </a:pPr>
            <a:endParaRPr lang="en-US" sz="2499" u="none" strike="noStrike">
              <a:solidFill>
                <a:srgbClr val="FFFFFF"/>
              </a:solidFill>
              <a:latin typeface="Canva Sans"/>
              <a:ea typeface="Canva Sans"/>
              <a:cs typeface="Canva Sans"/>
              <a:sym typeface="Canva Sans"/>
            </a:endParaRPr>
          </a:p>
          <a:p>
            <a:pPr algn="l">
              <a:lnSpc>
                <a:spcPts val="3499"/>
              </a:lnSpc>
              <a:spcBef>
                <a:spcPct val="0"/>
              </a:spcBef>
            </a:pPr>
            <a:r>
              <a:rPr lang="en-US" sz="2499" u="none" strike="noStrike">
                <a:solidFill>
                  <a:srgbClr val="FFFFFF"/>
                </a:solidFill>
                <a:latin typeface="Canva Sans"/>
                <a:ea typeface="Canva Sans"/>
                <a:cs typeface="Canva Sans"/>
                <a:sym typeface="Canva Sans"/>
              </a:rPr>
              <a:t>5️⃣ Visualization Phase (Dashboard Design)</a:t>
            </a:r>
          </a:p>
          <a:p>
            <a:pPr marL="539746" lvl="1" indent="-269873" algn="l">
              <a:lnSpc>
                <a:spcPts val="3499"/>
              </a:lnSpc>
              <a:spcBef>
                <a:spcPct val="0"/>
              </a:spcBef>
              <a:buFont typeface="Arial"/>
              <a:buChar char="•"/>
            </a:pPr>
            <a:r>
              <a:rPr lang="en-US" sz="2499" u="none" strike="noStrike">
                <a:solidFill>
                  <a:srgbClr val="FFFFFF"/>
                </a:solidFill>
                <a:latin typeface="Canva Sans"/>
                <a:ea typeface="Canva Sans"/>
                <a:cs typeface="Canva Sans"/>
                <a:sym typeface="Canva Sans"/>
              </a:rPr>
              <a:t>Choose the overall design (Theme)</a:t>
            </a:r>
          </a:p>
          <a:p>
            <a:pPr marL="539746" lvl="1" indent="-269873" algn="l">
              <a:lnSpc>
                <a:spcPts val="3499"/>
              </a:lnSpc>
              <a:spcBef>
                <a:spcPct val="0"/>
              </a:spcBef>
              <a:buFont typeface="Arial"/>
              <a:buChar char="•"/>
            </a:pPr>
            <a:r>
              <a:rPr lang="en-US" sz="2499" u="none" strike="noStrike">
                <a:solidFill>
                  <a:srgbClr val="FFFFFF"/>
                </a:solidFill>
                <a:latin typeface="Canva Sans"/>
                <a:ea typeface="Canva Sans"/>
                <a:cs typeface="Canva Sans"/>
                <a:sym typeface="Canva Sans"/>
              </a:rPr>
              <a:t>Create the dashboard pages</a:t>
            </a:r>
          </a:p>
          <a:p>
            <a:pPr marL="539746" lvl="1" indent="-269873" algn="l">
              <a:lnSpc>
                <a:spcPts val="3499"/>
              </a:lnSpc>
              <a:spcBef>
                <a:spcPct val="0"/>
              </a:spcBef>
              <a:buFont typeface="Arial"/>
              <a:buChar char="•"/>
            </a:pPr>
            <a:r>
              <a:rPr lang="en-US" sz="2499" u="none" strike="noStrike">
                <a:solidFill>
                  <a:srgbClr val="FFFFFF"/>
                </a:solidFill>
                <a:latin typeface="Canva Sans"/>
                <a:ea typeface="Canva Sans"/>
                <a:cs typeface="Canva Sans"/>
                <a:sym typeface="Canva Sans"/>
              </a:rPr>
              <a:t>Select the appropriate visuals</a:t>
            </a:r>
          </a:p>
          <a:p>
            <a:pPr marL="539746" lvl="1" indent="-269873" algn="l">
              <a:lnSpc>
                <a:spcPts val="3499"/>
              </a:lnSpc>
              <a:spcBef>
                <a:spcPct val="0"/>
              </a:spcBef>
              <a:buFont typeface="Arial"/>
              <a:buChar char="•"/>
            </a:pPr>
            <a:r>
              <a:rPr lang="en-US" sz="2499" u="none" strike="noStrike">
                <a:solidFill>
                  <a:srgbClr val="FFFFFF"/>
                </a:solidFill>
                <a:latin typeface="Canva Sans"/>
                <a:ea typeface="Canva Sans"/>
                <a:cs typeface="Canva Sans"/>
                <a:sym typeface="Canva Sans"/>
              </a:rPr>
              <a:t>Add interactivity (Interactions)</a:t>
            </a:r>
          </a:p>
          <a:p>
            <a:pPr algn="l">
              <a:lnSpc>
                <a:spcPts val="3499"/>
              </a:lnSpc>
              <a:spcBef>
                <a:spcPct val="0"/>
              </a:spcBef>
            </a:pPr>
            <a:endParaRPr lang="en-US" sz="2499" u="none" strike="noStrike">
              <a:solidFill>
                <a:srgbClr val="FFFFFF"/>
              </a:solidFill>
              <a:latin typeface="Canva Sans"/>
              <a:ea typeface="Canva Sans"/>
              <a:cs typeface="Canva Sans"/>
              <a:sym typeface="Canva Sans"/>
            </a:endParaRPr>
          </a:p>
          <a:p>
            <a:pPr algn="l">
              <a:lnSpc>
                <a:spcPts val="3499"/>
              </a:lnSpc>
              <a:spcBef>
                <a:spcPct val="0"/>
              </a:spcBef>
            </a:pPr>
            <a:r>
              <a:rPr lang="en-US" sz="2499" u="none" strike="noStrike">
                <a:solidFill>
                  <a:srgbClr val="FFFFFF"/>
                </a:solidFill>
                <a:latin typeface="Canva Sans"/>
                <a:ea typeface="Canva Sans"/>
                <a:cs typeface="Canva Sans"/>
                <a:sym typeface="Canva Sans"/>
              </a:rPr>
              <a:t>6️⃣ Delivery &amp; Documentation Phase</a:t>
            </a:r>
          </a:p>
          <a:p>
            <a:pPr marL="539746" lvl="1" indent="-269873" algn="l">
              <a:lnSpc>
                <a:spcPts val="3499"/>
              </a:lnSpc>
              <a:spcBef>
                <a:spcPct val="0"/>
              </a:spcBef>
              <a:buFont typeface="Arial"/>
              <a:buChar char="•"/>
            </a:pPr>
            <a:r>
              <a:rPr lang="en-US" sz="2499" u="none" strike="noStrike">
                <a:solidFill>
                  <a:srgbClr val="FFFFFF"/>
                </a:solidFill>
                <a:latin typeface="Canva Sans"/>
                <a:ea typeface="Canva Sans"/>
                <a:cs typeface="Canva Sans"/>
                <a:sym typeface="Canva Sans"/>
              </a:rPr>
              <a:t>Deliver the final ready-to-use dashboard</a:t>
            </a:r>
          </a:p>
          <a:p>
            <a:pPr marL="539746" lvl="1" indent="-269873" algn="l">
              <a:lnSpc>
                <a:spcPts val="3499"/>
              </a:lnSpc>
              <a:spcBef>
                <a:spcPct val="0"/>
              </a:spcBef>
              <a:buFont typeface="Arial"/>
              <a:buChar char="•"/>
            </a:pPr>
            <a:r>
              <a:rPr lang="en-US" sz="2499" u="none" strike="noStrike">
                <a:solidFill>
                  <a:srgbClr val="FFFFFF"/>
                </a:solidFill>
                <a:latin typeface="Canva Sans"/>
                <a:ea typeface="Canva Sans"/>
                <a:cs typeface="Canva Sans"/>
                <a:sym typeface="Canva Sans"/>
              </a:rPr>
              <a:t>Prepare a documentation file that includes:</a:t>
            </a:r>
          </a:p>
        </p:txBody>
      </p:sp>
      <p:grpSp>
        <p:nvGrpSpPr>
          <p:cNvPr id="9" name="Group 9"/>
          <p:cNvGrpSpPr/>
          <p:nvPr/>
        </p:nvGrpSpPr>
        <p:grpSpPr>
          <a:xfrm>
            <a:off x="1028700" y="416438"/>
            <a:ext cx="7188361" cy="1224523"/>
            <a:chOff x="0" y="0"/>
            <a:chExt cx="9584482" cy="1632698"/>
          </a:xfrm>
        </p:grpSpPr>
        <p:grpSp>
          <p:nvGrpSpPr>
            <p:cNvPr id="10" name="Group 10"/>
            <p:cNvGrpSpPr/>
            <p:nvPr/>
          </p:nvGrpSpPr>
          <p:grpSpPr>
            <a:xfrm>
              <a:off x="0" y="0"/>
              <a:ext cx="9584482" cy="1632698"/>
              <a:chOff x="0" y="0"/>
              <a:chExt cx="1893231" cy="322508"/>
            </a:xfrm>
          </p:grpSpPr>
          <p:sp>
            <p:nvSpPr>
              <p:cNvPr id="11" name="Freeform 11"/>
              <p:cNvSpPr/>
              <p:nvPr/>
            </p:nvSpPr>
            <p:spPr>
              <a:xfrm>
                <a:off x="0" y="0"/>
                <a:ext cx="1893231" cy="322508"/>
              </a:xfrm>
              <a:custGeom>
                <a:avLst/>
                <a:gdLst/>
                <a:ahLst/>
                <a:cxnLst/>
                <a:rect l="l" t="t" r="r" b="b"/>
                <a:pathLst>
                  <a:path w="1893231" h="322508">
                    <a:moveTo>
                      <a:pt x="45234" y="0"/>
                    </a:moveTo>
                    <a:lnTo>
                      <a:pt x="1847997" y="0"/>
                    </a:lnTo>
                    <a:cubicBezTo>
                      <a:pt x="1859993" y="0"/>
                      <a:pt x="1871499" y="4766"/>
                      <a:pt x="1879982" y="13249"/>
                    </a:cubicBezTo>
                    <a:cubicBezTo>
                      <a:pt x="1888465" y="21732"/>
                      <a:pt x="1893231" y="33237"/>
                      <a:pt x="1893231" y="45234"/>
                    </a:cubicBezTo>
                    <a:lnTo>
                      <a:pt x="1893231" y="277274"/>
                    </a:lnTo>
                    <a:cubicBezTo>
                      <a:pt x="1893231" y="289271"/>
                      <a:pt x="1888465" y="300776"/>
                      <a:pt x="1879982" y="309259"/>
                    </a:cubicBezTo>
                    <a:cubicBezTo>
                      <a:pt x="1871499" y="317742"/>
                      <a:pt x="1859993" y="322508"/>
                      <a:pt x="1847997" y="322508"/>
                    </a:cubicBezTo>
                    <a:lnTo>
                      <a:pt x="45234" y="322508"/>
                    </a:lnTo>
                    <a:cubicBezTo>
                      <a:pt x="33237" y="322508"/>
                      <a:pt x="21732" y="317742"/>
                      <a:pt x="13249" y="309259"/>
                    </a:cubicBezTo>
                    <a:cubicBezTo>
                      <a:pt x="4766" y="300776"/>
                      <a:pt x="0" y="289271"/>
                      <a:pt x="0" y="277274"/>
                    </a:cubicBezTo>
                    <a:lnTo>
                      <a:pt x="0" y="45234"/>
                    </a:lnTo>
                    <a:cubicBezTo>
                      <a:pt x="0" y="33237"/>
                      <a:pt x="4766" y="21732"/>
                      <a:pt x="13249" y="13249"/>
                    </a:cubicBezTo>
                    <a:cubicBezTo>
                      <a:pt x="21732" y="4766"/>
                      <a:pt x="33237" y="0"/>
                      <a:pt x="45234"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12" name="TextBox 12"/>
              <p:cNvSpPr txBox="1"/>
              <p:nvPr/>
            </p:nvSpPr>
            <p:spPr>
              <a:xfrm>
                <a:off x="0" y="-38100"/>
                <a:ext cx="1893231" cy="36060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246805" y="215214"/>
              <a:ext cx="9090871" cy="1107019"/>
            </a:xfrm>
            <a:prstGeom prst="rect">
              <a:avLst/>
            </a:prstGeom>
          </p:spPr>
          <p:txBody>
            <a:bodyPr lIns="0" tIns="0" rIns="0" bIns="0" rtlCol="0" anchor="t">
              <a:spAutoFit/>
            </a:bodyPr>
            <a:lstStyle/>
            <a:p>
              <a:pPr algn="l">
                <a:lnSpc>
                  <a:spcPts val="6999"/>
                </a:lnSpc>
                <a:spcBef>
                  <a:spcPct val="0"/>
                </a:spcBef>
              </a:pPr>
              <a:r>
                <a:rPr lang="en-US" sz="4800" spc="-99" dirty="0">
                  <a:solidFill>
                    <a:srgbClr val="FFFFFF">
                      <a:alpha val="89804"/>
                    </a:srgbClr>
                  </a:solidFill>
                  <a:latin typeface="Inter"/>
                  <a:ea typeface="Inter"/>
                  <a:cs typeface="Inter"/>
                  <a:sym typeface="Inter"/>
                </a:rPr>
                <a:t>Project creation Phases</a:t>
              </a:r>
            </a:p>
          </p:txBody>
        </p:sp>
      </p:grpSp>
    </p:spTree>
  </p:cSld>
  <p:clrMapOvr>
    <a:masterClrMapping/>
  </p:clrMapOvr>
  <p:transition>
    <p:wipe dir="u"/>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28700" y="1803857"/>
            <a:ext cx="16230600" cy="8124441"/>
            <a:chOff x="0" y="0"/>
            <a:chExt cx="4274726" cy="2139771"/>
          </a:xfrm>
        </p:grpSpPr>
        <p:sp>
          <p:nvSpPr>
            <p:cNvPr id="3" name="Freeform 3"/>
            <p:cNvSpPr/>
            <p:nvPr/>
          </p:nvSpPr>
          <p:spPr>
            <a:xfrm>
              <a:off x="0" y="0"/>
              <a:ext cx="4274726" cy="2139771"/>
            </a:xfrm>
            <a:custGeom>
              <a:avLst/>
              <a:gdLst/>
              <a:ahLst/>
              <a:cxnLst/>
              <a:rect l="l" t="t" r="r" b="b"/>
              <a:pathLst>
                <a:path w="4274726" h="2139771">
                  <a:moveTo>
                    <a:pt x="20034" y="0"/>
                  </a:moveTo>
                  <a:lnTo>
                    <a:pt x="4254692" y="0"/>
                  </a:lnTo>
                  <a:cubicBezTo>
                    <a:pt x="4265756" y="0"/>
                    <a:pt x="4274726" y="8969"/>
                    <a:pt x="4274726" y="20034"/>
                  </a:cubicBezTo>
                  <a:lnTo>
                    <a:pt x="4274726" y="2119737"/>
                  </a:lnTo>
                  <a:cubicBezTo>
                    <a:pt x="4274726" y="2130801"/>
                    <a:pt x="4265756" y="2139771"/>
                    <a:pt x="4254692" y="2139771"/>
                  </a:cubicBezTo>
                  <a:lnTo>
                    <a:pt x="20034" y="2139771"/>
                  </a:lnTo>
                  <a:cubicBezTo>
                    <a:pt x="14721" y="2139771"/>
                    <a:pt x="9625" y="2137660"/>
                    <a:pt x="5868" y="2133903"/>
                  </a:cubicBezTo>
                  <a:cubicBezTo>
                    <a:pt x="2111" y="2130146"/>
                    <a:pt x="0" y="2125050"/>
                    <a:pt x="0" y="2119737"/>
                  </a:cubicBezTo>
                  <a:lnTo>
                    <a:pt x="0" y="20034"/>
                  </a:lnTo>
                  <a:cubicBezTo>
                    <a:pt x="0" y="8969"/>
                    <a:pt x="8969" y="0"/>
                    <a:pt x="2003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74726" cy="2187396"/>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8" name="Group 8"/>
          <p:cNvGrpSpPr/>
          <p:nvPr/>
        </p:nvGrpSpPr>
        <p:grpSpPr>
          <a:xfrm>
            <a:off x="1028700" y="416438"/>
            <a:ext cx="7103961" cy="1224523"/>
            <a:chOff x="0" y="0"/>
            <a:chExt cx="1871002" cy="322508"/>
          </a:xfrm>
        </p:grpSpPr>
        <p:sp>
          <p:nvSpPr>
            <p:cNvPr id="9" name="Freeform 9"/>
            <p:cNvSpPr/>
            <p:nvPr/>
          </p:nvSpPr>
          <p:spPr>
            <a:xfrm>
              <a:off x="0" y="0"/>
              <a:ext cx="1871002" cy="322508"/>
            </a:xfrm>
            <a:custGeom>
              <a:avLst/>
              <a:gdLst/>
              <a:ahLst/>
              <a:cxnLst/>
              <a:rect l="l" t="t" r="r" b="b"/>
              <a:pathLst>
                <a:path w="1871002" h="322508">
                  <a:moveTo>
                    <a:pt x="45772" y="0"/>
                  </a:moveTo>
                  <a:lnTo>
                    <a:pt x="1825230" y="0"/>
                  </a:lnTo>
                  <a:cubicBezTo>
                    <a:pt x="1837370" y="0"/>
                    <a:pt x="1849012" y="4822"/>
                    <a:pt x="1857596" y="13406"/>
                  </a:cubicBezTo>
                  <a:cubicBezTo>
                    <a:pt x="1866180" y="21990"/>
                    <a:pt x="1871002" y="33632"/>
                    <a:pt x="1871002" y="45772"/>
                  </a:cubicBezTo>
                  <a:lnTo>
                    <a:pt x="1871002" y="276736"/>
                  </a:lnTo>
                  <a:cubicBezTo>
                    <a:pt x="1871002" y="302015"/>
                    <a:pt x="1850509" y="322508"/>
                    <a:pt x="1825230" y="322508"/>
                  </a:cubicBezTo>
                  <a:lnTo>
                    <a:pt x="45772" y="322508"/>
                  </a:lnTo>
                  <a:cubicBezTo>
                    <a:pt x="20493" y="322508"/>
                    <a:pt x="0" y="302015"/>
                    <a:pt x="0" y="276736"/>
                  </a:cubicBezTo>
                  <a:lnTo>
                    <a:pt x="0" y="45772"/>
                  </a:lnTo>
                  <a:cubicBezTo>
                    <a:pt x="0" y="20493"/>
                    <a:pt x="20493" y="0"/>
                    <a:pt x="45772"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0" name="TextBox 10"/>
            <p:cNvSpPr txBox="1"/>
            <p:nvPr/>
          </p:nvSpPr>
          <p:spPr>
            <a:xfrm>
              <a:off x="0" y="-57150"/>
              <a:ext cx="1871002" cy="379658"/>
            </a:xfrm>
            <a:prstGeom prst="rect">
              <a:avLst/>
            </a:prstGeom>
          </p:spPr>
          <p:txBody>
            <a:bodyPr lIns="50800" tIns="50800" rIns="50800" bIns="50800" rtlCol="0" anchor="ctr"/>
            <a:lstStyle/>
            <a:p>
              <a:pPr marL="0" lvl="0" indent="0" algn="ctr">
                <a:lnSpc>
                  <a:spcPts val="4199"/>
                </a:lnSpc>
                <a:spcBef>
                  <a:spcPct val="0"/>
                </a:spcBef>
              </a:pPr>
              <a:r>
                <a:rPr lang="en-US" sz="2999" u="none" strike="noStrike" spc="-59">
                  <a:solidFill>
                    <a:srgbClr val="FFFFFF">
                      <a:alpha val="89804"/>
                    </a:srgbClr>
                  </a:solidFill>
                  <a:latin typeface="Inter"/>
                  <a:ea typeface="Inter"/>
                  <a:cs typeface="Inter"/>
                  <a:sym typeface="Inter"/>
                </a:rPr>
                <a:t>ETL Phase (Extract – Transform – Load)</a:t>
              </a:r>
            </a:p>
          </p:txBody>
        </p:sp>
      </p:grpSp>
      <p:sp>
        <p:nvSpPr>
          <p:cNvPr id="11" name="Freeform 11"/>
          <p:cNvSpPr/>
          <p:nvPr/>
        </p:nvSpPr>
        <p:spPr>
          <a:xfrm>
            <a:off x="3568625" y="1961896"/>
            <a:ext cx="11538550" cy="4705422"/>
          </a:xfrm>
          <a:custGeom>
            <a:avLst/>
            <a:gdLst/>
            <a:ahLst/>
            <a:cxnLst/>
            <a:rect l="l" t="t" r="r" b="b"/>
            <a:pathLst>
              <a:path w="11538550" h="4705422">
                <a:moveTo>
                  <a:pt x="0" y="0"/>
                </a:moveTo>
                <a:lnTo>
                  <a:pt x="11538550" y="0"/>
                </a:lnTo>
                <a:lnTo>
                  <a:pt x="11538550" y="4705422"/>
                </a:lnTo>
                <a:lnTo>
                  <a:pt x="0" y="4705422"/>
                </a:lnTo>
                <a:lnTo>
                  <a:pt x="0" y="0"/>
                </a:lnTo>
                <a:close/>
              </a:path>
            </a:pathLst>
          </a:custGeom>
          <a:blipFill>
            <a:blip r:embed="rId8"/>
            <a:stretch>
              <a:fillRect l="-1657" t="-332" b="-4142"/>
            </a:stretch>
          </a:blipFill>
        </p:spPr>
        <p:txBody>
          <a:bodyPr/>
          <a:lstStyle/>
          <a:p>
            <a:endParaRPr lang="ar-EG"/>
          </a:p>
        </p:txBody>
      </p:sp>
      <p:sp>
        <p:nvSpPr>
          <p:cNvPr id="12" name="TextBox 12"/>
          <p:cNvSpPr txBox="1"/>
          <p:nvPr/>
        </p:nvSpPr>
        <p:spPr>
          <a:xfrm>
            <a:off x="3568625" y="6953068"/>
            <a:ext cx="5205422" cy="372745"/>
          </a:xfrm>
          <a:prstGeom prst="rect">
            <a:avLst/>
          </a:prstGeom>
        </p:spPr>
        <p:txBody>
          <a:bodyPr lIns="0" tIns="0" rIns="0" bIns="0" rtlCol="0" anchor="t">
            <a:spAutoFit/>
          </a:bodyPr>
          <a:lstStyle/>
          <a:p>
            <a:pPr algn="l">
              <a:lnSpc>
                <a:spcPts val="3079"/>
              </a:lnSpc>
              <a:spcBef>
                <a:spcPct val="0"/>
              </a:spcBef>
            </a:pPr>
            <a:r>
              <a:rPr lang="en-US" sz="2199">
                <a:solidFill>
                  <a:srgbClr val="FFFFFF"/>
                </a:solidFill>
                <a:latin typeface="Canva Sans"/>
                <a:ea typeface="Canva Sans"/>
                <a:cs typeface="Canva Sans"/>
                <a:sym typeface="Canva Sans"/>
              </a:rPr>
              <a:t>Education Level Table - ETL Steps:</a:t>
            </a:r>
          </a:p>
        </p:txBody>
      </p:sp>
      <p:sp>
        <p:nvSpPr>
          <p:cNvPr id="13" name="TextBox 13"/>
          <p:cNvSpPr txBox="1"/>
          <p:nvPr/>
        </p:nvSpPr>
        <p:spPr>
          <a:xfrm>
            <a:off x="3568625" y="7403191"/>
            <a:ext cx="11957148" cy="2213610"/>
          </a:xfrm>
          <a:prstGeom prst="rect">
            <a:avLst/>
          </a:prstGeom>
        </p:spPr>
        <p:txBody>
          <a:bodyPr lIns="0" tIns="0" rIns="0" bIns="0" rtlCol="0" anchor="t">
            <a:spAutoFit/>
          </a:bodyPr>
          <a:lstStyle/>
          <a:p>
            <a:pPr algn="l">
              <a:lnSpc>
                <a:spcPts val="2939"/>
              </a:lnSpc>
            </a:pPr>
            <a:r>
              <a:rPr lang="en-US" sz="2099">
                <a:solidFill>
                  <a:srgbClr val="FFFFFF"/>
                </a:solidFill>
                <a:latin typeface="Canva Sans"/>
                <a:ea typeface="Canva Sans"/>
                <a:cs typeface="Canva Sans"/>
                <a:sym typeface="Canva Sans"/>
              </a:rPr>
              <a:t>1️⃣ Source</a:t>
            </a:r>
          </a:p>
          <a:p>
            <a:pPr algn="l">
              <a:lnSpc>
                <a:spcPts val="2939"/>
              </a:lnSpc>
            </a:pPr>
            <a:r>
              <a:rPr lang="en-US" sz="2099">
                <a:solidFill>
                  <a:srgbClr val="FFFFFF"/>
                </a:solidFill>
                <a:latin typeface="Canva Sans"/>
                <a:ea typeface="Canva Sans"/>
                <a:cs typeface="Canva Sans"/>
                <a:sym typeface="Canva Sans"/>
              </a:rPr>
              <a:t>The Education Level dimension table is imported.</a:t>
            </a:r>
          </a:p>
          <a:p>
            <a:pPr marL="0" lvl="0" indent="0" algn="l">
              <a:lnSpc>
                <a:spcPts val="2939"/>
              </a:lnSpc>
              <a:spcBef>
                <a:spcPct val="0"/>
              </a:spcBef>
            </a:pPr>
            <a:r>
              <a:rPr lang="en-US" sz="2099" u="none" strike="noStrike">
                <a:solidFill>
                  <a:srgbClr val="FFFFFF"/>
                </a:solidFill>
                <a:latin typeface="Canva Sans"/>
                <a:ea typeface="Canva Sans"/>
                <a:cs typeface="Canva Sans"/>
                <a:sym typeface="Canva Sans"/>
              </a:rPr>
              <a:t>2️⃣ Promoted Headers</a:t>
            </a:r>
          </a:p>
          <a:p>
            <a:pPr marL="0" lvl="0" indent="0" algn="l">
              <a:lnSpc>
                <a:spcPts val="2939"/>
              </a:lnSpc>
              <a:spcBef>
                <a:spcPct val="0"/>
              </a:spcBef>
            </a:pPr>
            <a:r>
              <a:rPr lang="en-US" sz="2099" u="none" strike="noStrike">
                <a:solidFill>
                  <a:srgbClr val="FFFFFF"/>
                </a:solidFill>
                <a:latin typeface="Canva Sans"/>
                <a:ea typeface="Canva Sans"/>
                <a:cs typeface="Canva Sans"/>
                <a:sym typeface="Canva Sans"/>
              </a:rPr>
              <a:t>First row → column headers.</a:t>
            </a:r>
          </a:p>
          <a:p>
            <a:pPr marL="0" lvl="0" indent="0" algn="l">
              <a:lnSpc>
                <a:spcPts val="2939"/>
              </a:lnSpc>
              <a:spcBef>
                <a:spcPct val="0"/>
              </a:spcBef>
            </a:pPr>
            <a:r>
              <a:rPr lang="en-US" sz="2099" u="none" strike="noStrike">
                <a:solidFill>
                  <a:srgbClr val="FFFFFF"/>
                </a:solidFill>
                <a:latin typeface="Canva Sans"/>
                <a:ea typeface="Canva Sans"/>
                <a:cs typeface="Canva Sans"/>
                <a:sym typeface="Canva Sans"/>
              </a:rPr>
              <a:t>3️⃣ Changed Type</a:t>
            </a:r>
          </a:p>
          <a:p>
            <a:pPr marL="0" lvl="0" indent="0" algn="l">
              <a:lnSpc>
                <a:spcPts val="2939"/>
              </a:lnSpc>
              <a:spcBef>
                <a:spcPct val="0"/>
              </a:spcBef>
            </a:pPr>
            <a:r>
              <a:rPr lang="en-US" sz="2099" u="none" strike="noStrike">
                <a:solidFill>
                  <a:srgbClr val="FFFFFF"/>
                </a:solidFill>
                <a:latin typeface="Canva Sans"/>
                <a:ea typeface="Canva Sans"/>
                <a:cs typeface="Canva Sans"/>
                <a:sym typeface="Canva Sans"/>
              </a:rPr>
              <a:t>EducationLevelID → Whole Number - EducationLevel → Text</a:t>
            </a:r>
          </a:p>
        </p:txBody>
      </p:sp>
    </p:spTree>
  </p:cSld>
  <p:clrMapOvr>
    <a:masterClrMapping/>
  </p:clrMapOvr>
  <p:transition>
    <p:wipe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8" name="Group 8"/>
          <p:cNvGrpSpPr/>
          <p:nvPr/>
        </p:nvGrpSpPr>
        <p:grpSpPr>
          <a:xfrm>
            <a:off x="1028700" y="416438"/>
            <a:ext cx="7103961" cy="1224523"/>
            <a:chOff x="0" y="0"/>
            <a:chExt cx="1871002" cy="322508"/>
          </a:xfrm>
        </p:grpSpPr>
        <p:sp>
          <p:nvSpPr>
            <p:cNvPr id="9" name="Freeform 9"/>
            <p:cNvSpPr/>
            <p:nvPr/>
          </p:nvSpPr>
          <p:spPr>
            <a:xfrm>
              <a:off x="0" y="0"/>
              <a:ext cx="1871002" cy="322508"/>
            </a:xfrm>
            <a:custGeom>
              <a:avLst/>
              <a:gdLst/>
              <a:ahLst/>
              <a:cxnLst/>
              <a:rect l="l" t="t" r="r" b="b"/>
              <a:pathLst>
                <a:path w="1871002" h="322508">
                  <a:moveTo>
                    <a:pt x="45772" y="0"/>
                  </a:moveTo>
                  <a:lnTo>
                    <a:pt x="1825230" y="0"/>
                  </a:lnTo>
                  <a:cubicBezTo>
                    <a:pt x="1837370" y="0"/>
                    <a:pt x="1849012" y="4822"/>
                    <a:pt x="1857596" y="13406"/>
                  </a:cubicBezTo>
                  <a:cubicBezTo>
                    <a:pt x="1866180" y="21990"/>
                    <a:pt x="1871002" y="33632"/>
                    <a:pt x="1871002" y="45772"/>
                  </a:cubicBezTo>
                  <a:lnTo>
                    <a:pt x="1871002" y="276736"/>
                  </a:lnTo>
                  <a:cubicBezTo>
                    <a:pt x="1871002" y="302015"/>
                    <a:pt x="1850509" y="322508"/>
                    <a:pt x="1825230" y="322508"/>
                  </a:cubicBezTo>
                  <a:lnTo>
                    <a:pt x="45772" y="322508"/>
                  </a:lnTo>
                  <a:cubicBezTo>
                    <a:pt x="20493" y="322508"/>
                    <a:pt x="0" y="302015"/>
                    <a:pt x="0" y="276736"/>
                  </a:cubicBezTo>
                  <a:lnTo>
                    <a:pt x="0" y="45772"/>
                  </a:lnTo>
                  <a:cubicBezTo>
                    <a:pt x="0" y="20493"/>
                    <a:pt x="20493" y="0"/>
                    <a:pt x="45772"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0" name="TextBox 10"/>
            <p:cNvSpPr txBox="1"/>
            <p:nvPr/>
          </p:nvSpPr>
          <p:spPr>
            <a:xfrm>
              <a:off x="0" y="-57150"/>
              <a:ext cx="1871002" cy="379658"/>
            </a:xfrm>
            <a:prstGeom prst="rect">
              <a:avLst/>
            </a:prstGeom>
          </p:spPr>
          <p:txBody>
            <a:bodyPr lIns="50800" tIns="50800" rIns="50800" bIns="50800" rtlCol="0" anchor="ctr"/>
            <a:lstStyle/>
            <a:p>
              <a:pPr marL="0" lvl="0" indent="0" algn="ctr">
                <a:lnSpc>
                  <a:spcPts val="4199"/>
                </a:lnSpc>
                <a:spcBef>
                  <a:spcPct val="0"/>
                </a:spcBef>
              </a:pPr>
              <a:r>
                <a:rPr lang="en-US" sz="2999" u="none" strike="noStrike" spc="-59">
                  <a:solidFill>
                    <a:srgbClr val="FFFFFF">
                      <a:alpha val="89804"/>
                    </a:srgbClr>
                  </a:solidFill>
                  <a:latin typeface="Inter"/>
                  <a:ea typeface="Inter"/>
                  <a:cs typeface="Inter"/>
                  <a:sym typeface="Inter"/>
                </a:rPr>
                <a:t>ETL Phase (Extract – Transform – Load)</a:t>
              </a:r>
            </a:p>
          </p:txBody>
        </p:sp>
      </p:grpSp>
      <p:sp>
        <p:nvSpPr>
          <p:cNvPr id="11" name="Freeform 11"/>
          <p:cNvSpPr/>
          <p:nvPr/>
        </p:nvSpPr>
        <p:spPr>
          <a:xfrm>
            <a:off x="3568391" y="1994181"/>
            <a:ext cx="11151217" cy="4403622"/>
          </a:xfrm>
          <a:custGeom>
            <a:avLst/>
            <a:gdLst/>
            <a:ahLst/>
            <a:cxnLst/>
            <a:rect l="l" t="t" r="r" b="b"/>
            <a:pathLst>
              <a:path w="11151217" h="4403622">
                <a:moveTo>
                  <a:pt x="0" y="0"/>
                </a:moveTo>
                <a:lnTo>
                  <a:pt x="11151218" y="0"/>
                </a:lnTo>
                <a:lnTo>
                  <a:pt x="11151218" y="4403623"/>
                </a:lnTo>
                <a:lnTo>
                  <a:pt x="0" y="4403623"/>
                </a:lnTo>
                <a:lnTo>
                  <a:pt x="0" y="0"/>
                </a:lnTo>
                <a:close/>
              </a:path>
            </a:pathLst>
          </a:custGeom>
          <a:blipFill>
            <a:blip r:embed="rId8"/>
            <a:stretch>
              <a:fillRect t="-3715" b="-3715"/>
            </a:stretch>
          </a:blipFill>
        </p:spPr>
        <p:txBody>
          <a:bodyPr/>
          <a:lstStyle/>
          <a:p>
            <a:endParaRPr lang="ar-EG"/>
          </a:p>
        </p:txBody>
      </p:sp>
      <p:sp>
        <p:nvSpPr>
          <p:cNvPr id="12" name="TextBox 12"/>
          <p:cNvSpPr txBox="1"/>
          <p:nvPr/>
        </p:nvSpPr>
        <p:spPr>
          <a:xfrm>
            <a:off x="3535386" y="6534874"/>
            <a:ext cx="5539623" cy="372745"/>
          </a:xfrm>
          <a:prstGeom prst="rect">
            <a:avLst/>
          </a:prstGeom>
        </p:spPr>
        <p:txBody>
          <a:bodyPr lIns="0" tIns="0" rIns="0" bIns="0" rtlCol="0" anchor="t">
            <a:spAutoFit/>
          </a:bodyPr>
          <a:lstStyle/>
          <a:p>
            <a:pPr algn="l">
              <a:lnSpc>
                <a:spcPts val="3079"/>
              </a:lnSpc>
              <a:spcBef>
                <a:spcPct val="0"/>
              </a:spcBef>
            </a:pPr>
            <a:r>
              <a:rPr lang="en-US" sz="2199">
                <a:solidFill>
                  <a:srgbClr val="FFFFFF"/>
                </a:solidFill>
                <a:latin typeface="Canva Sans"/>
                <a:ea typeface="Canva Sans"/>
                <a:cs typeface="Canva Sans"/>
                <a:sym typeface="Canva Sans"/>
              </a:rPr>
              <a:t>Employee Information Table — ETL Steps</a:t>
            </a:r>
          </a:p>
        </p:txBody>
      </p:sp>
      <p:sp>
        <p:nvSpPr>
          <p:cNvPr id="13" name="TextBox 13"/>
          <p:cNvSpPr txBox="1"/>
          <p:nvPr/>
        </p:nvSpPr>
        <p:spPr>
          <a:xfrm>
            <a:off x="3568391" y="7044690"/>
            <a:ext cx="6051412" cy="2213610"/>
          </a:xfrm>
          <a:prstGeom prst="rect">
            <a:avLst/>
          </a:prstGeom>
        </p:spPr>
        <p:txBody>
          <a:bodyPr lIns="0" tIns="0" rIns="0" bIns="0" rtlCol="0" anchor="t">
            <a:spAutoFit/>
          </a:bodyPr>
          <a:lstStyle/>
          <a:p>
            <a:pPr algn="l">
              <a:lnSpc>
                <a:spcPts val="2939"/>
              </a:lnSpc>
              <a:spcBef>
                <a:spcPct val="0"/>
              </a:spcBef>
            </a:pPr>
            <a:r>
              <a:rPr lang="en-US" sz="2099">
                <a:solidFill>
                  <a:srgbClr val="FFFFFF"/>
                </a:solidFill>
                <a:latin typeface="Canva Sans"/>
                <a:ea typeface="Canva Sans"/>
                <a:cs typeface="Canva Sans"/>
                <a:sym typeface="Canva Sans"/>
              </a:rPr>
              <a:t>1️⃣ Source</a:t>
            </a:r>
          </a:p>
          <a:p>
            <a:pPr algn="l">
              <a:lnSpc>
                <a:spcPts val="2939"/>
              </a:lnSpc>
              <a:spcBef>
                <a:spcPct val="0"/>
              </a:spcBef>
            </a:pPr>
            <a:r>
              <a:rPr lang="en-US" sz="2099">
                <a:solidFill>
                  <a:srgbClr val="FFFFFF"/>
                </a:solidFill>
                <a:latin typeface="Canva Sans"/>
                <a:ea typeface="Canva Sans"/>
                <a:cs typeface="Canva Sans"/>
                <a:sym typeface="Canva Sans"/>
              </a:rPr>
              <a:t>The employee dataset is imported from the source.</a:t>
            </a:r>
          </a:p>
          <a:p>
            <a:pPr algn="l">
              <a:lnSpc>
                <a:spcPts val="2939"/>
              </a:lnSpc>
              <a:spcBef>
                <a:spcPct val="0"/>
              </a:spcBef>
            </a:pPr>
            <a:r>
              <a:rPr lang="en-US" sz="2099">
                <a:solidFill>
                  <a:srgbClr val="FFFFFF"/>
                </a:solidFill>
                <a:latin typeface="Canva Sans"/>
                <a:ea typeface="Canva Sans"/>
                <a:cs typeface="Canva Sans"/>
                <a:sym typeface="Canva Sans"/>
              </a:rPr>
              <a:t>2️⃣ Promoted Headers</a:t>
            </a:r>
          </a:p>
          <a:p>
            <a:pPr algn="l">
              <a:lnSpc>
                <a:spcPts val="2939"/>
              </a:lnSpc>
              <a:spcBef>
                <a:spcPct val="0"/>
              </a:spcBef>
            </a:pPr>
            <a:r>
              <a:rPr lang="en-US" sz="2099">
                <a:solidFill>
                  <a:srgbClr val="FFFFFF"/>
                </a:solidFill>
                <a:latin typeface="Canva Sans"/>
                <a:ea typeface="Canva Sans"/>
                <a:cs typeface="Canva Sans"/>
                <a:sym typeface="Canva Sans"/>
              </a:rPr>
              <a:t>The first row is promoted to column headers (FirstName, LastName, Gender, Age, etc.).</a:t>
            </a:r>
          </a:p>
        </p:txBody>
      </p:sp>
      <p:sp>
        <p:nvSpPr>
          <p:cNvPr id="14" name="TextBox 14"/>
          <p:cNvSpPr txBox="1"/>
          <p:nvPr/>
        </p:nvSpPr>
        <p:spPr>
          <a:xfrm>
            <a:off x="9805969" y="7044690"/>
            <a:ext cx="5991917" cy="1842135"/>
          </a:xfrm>
          <a:prstGeom prst="rect">
            <a:avLst/>
          </a:prstGeom>
        </p:spPr>
        <p:txBody>
          <a:bodyPr lIns="0" tIns="0" rIns="0" bIns="0" rtlCol="0" anchor="t">
            <a:spAutoFit/>
          </a:bodyPr>
          <a:lstStyle/>
          <a:p>
            <a:pPr algn="l">
              <a:lnSpc>
                <a:spcPts val="2939"/>
              </a:lnSpc>
              <a:spcBef>
                <a:spcPct val="0"/>
              </a:spcBef>
            </a:pPr>
            <a:r>
              <a:rPr lang="en-US" sz="2099">
                <a:solidFill>
                  <a:srgbClr val="FFFFFF"/>
                </a:solidFill>
                <a:latin typeface="Canva Sans"/>
                <a:ea typeface="Canva Sans"/>
                <a:cs typeface="Canva Sans"/>
                <a:sym typeface="Canva Sans"/>
              </a:rPr>
              <a:t>3️⃣ Changed Type</a:t>
            </a:r>
          </a:p>
          <a:p>
            <a:pPr algn="l">
              <a:lnSpc>
                <a:spcPts val="2939"/>
              </a:lnSpc>
              <a:spcBef>
                <a:spcPct val="0"/>
              </a:spcBef>
            </a:pPr>
            <a:r>
              <a:rPr lang="en-US" sz="2099">
                <a:solidFill>
                  <a:srgbClr val="FFFFFF"/>
                </a:solidFill>
                <a:latin typeface="Canva Sans"/>
                <a:ea typeface="Canva Sans"/>
                <a:cs typeface="Canva Sans"/>
                <a:sym typeface="Canva Sans"/>
              </a:rPr>
              <a:t>Data types are assigned:</a:t>
            </a:r>
          </a:p>
          <a:p>
            <a:pPr algn="l">
              <a:lnSpc>
                <a:spcPts val="2939"/>
              </a:lnSpc>
              <a:spcBef>
                <a:spcPct val="0"/>
              </a:spcBef>
            </a:pPr>
            <a:r>
              <a:rPr lang="en-US" sz="2099">
                <a:solidFill>
                  <a:srgbClr val="FFFFFF"/>
                </a:solidFill>
                <a:latin typeface="Canva Sans"/>
                <a:ea typeface="Canva Sans"/>
                <a:cs typeface="Canva Sans"/>
                <a:sym typeface="Canva Sans"/>
              </a:rPr>
              <a:t>EmployeeID → Text</a:t>
            </a:r>
          </a:p>
          <a:p>
            <a:pPr algn="l">
              <a:lnSpc>
                <a:spcPts val="2939"/>
              </a:lnSpc>
              <a:spcBef>
                <a:spcPct val="0"/>
              </a:spcBef>
            </a:pPr>
            <a:r>
              <a:rPr lang="en-US" sz="2099">
                <a:solidFill>
                  <a:srgbClr val="FFFFFF"/>
                </a:solidFill>
                <a:latin typeface="Canva Sans"/>
                <a:ea typeface="Canva Sans"/>
                <a:cs typeface="Canva Sans"/>
                <a:sym typeface="Canva Sans"/>
              </a:rPr>
              <a:t>Age → Number</a:t>
            </a:r>
          </a:p>
          <a:p>
            <a:pPr algn="l">
              <a:lnSpc>
                <a:spcPts val="2939"/>
              </a:lnSpc>
              <a:spcBef>
                <a:spcPct val="0"/>
              </a:spcBef>
            </a:pPr>
            <a:r>
              <a:rPr lang="en-US" sz="2099">
                <a:solidFill>
                  <a:srgbClr val="FFFFFF"/>
                </a:solidFill>
                <a:latin typeface="Canva Sans"/>
                <a:ea typeface="Canva Sans"/>
                <a:cs typeface="Canva Sans"/>
                <a:sym typeface="Canva Sans"/>
              </a:rPr>
              <a:t>BusinessTravel → Text - Department → Text</a:t>
            </a:r>
          </a:p>
        </p:txBody>
      </p:sp>
    </p:spTree>
  </p:cSld>
  <p:clrMapOvr>
    <a:masterClrMapping/>
  </p:clrMapOvr>
  <p:transition>
    <p:wipe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sp>
        <p:nvSpPr>
          <p:cNvPr id="2" name="Freeform 2"/>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3" name="Freeform 3"/>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4" name="Freeform 4"/>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5" name="Group 5"/>
          <p:cNvGrpSpPr/>
          <p:nvPr/>
        </p:nvGrpSpPr>
        <p:grpSpPr>
          <a:xfrm>
            <a:off x="1139589" y="2044708"/>
            <a:ext cx="15970722" cy="7773031"/>
            <a:chOff x="0" y="0"/>
            <a:chExt cx="4206281" cy="2047218"/>
          </a:xfrm>
        </p:grpSpPr>
        <p:sp>
          <p:nvSpPr>
            <p:cNvPr id="6" name="Freeform 6"/>
            <p:cNvSpPr/>
            <p:nvPr/>
          </p:nvSpPr>
          <p:spPr>
            <a:xfrm>
              <a:off x="0" y="0"/>
              <a:ext cx="4206281" cy="2047218"/>
            </a:xfrm>
            <a:custGeom>
              <a:avLst/>
              <a:gdLst/>
              <a:ahLst/>
              <a:cxnLst/>
              <a:rect l="l" t="t" r="r" b="b"/>
              <a:pathLst>
                <a:path w="4206281" h="2047218">
                  <a:moveTo>
                    <a:pt x="20360" y="0"/>
                  </a:moveTo>
                  <a:lnTo>
                    <a:pt x="4185921" y="0"/>
                  </a:lnTo>
                  <a:cubicBezTo>
                    <a:pt x="4197166" y="0"/>
                    <a:pt x="4206281" y="9115"/>
                    <a:pt x="4206281" y="20360"/>
                  </a:cubicBezTo>
                  <a:lnTo>
                    <a:pt x="4206281" y="2026858"/>
                  </a:lnTo>
                  <a:cubicBezTo>
                    <a:pt x="4206281" y="2032258"/>
                    <a:pt x="4204136" y="2037437"/>
                    <a:pt x="4200318" y="2041255"/>
                  </a:cubicBezTo>
                  <a:cubicBezTo>
                    <a:pt x="4196499" y="2045073"/>
                    <a:pt x="4191321" y="2047218"/>
                    <a:pt x="4185921" y="2047218"/>
                  </a:cubicBezTo>
                  <a:lnTo>
                    <a:pt x="20360" y="2047218"/>
                  </a:lnTo>
                  <a:cubicBezTo>
                    <a:pt x="9115" y="2047218"/>
                    <a:pt x="0" y="2038103"/>
                    <a:pt x="0" y="2026858"/>
                  </a:cubicBezTo>
                  <a:lnTo>
                    <a:pt x="0" y="20360"/>
                  </a:lnTo>
                  <a:cubicBezTo>
                    <a:pt x="0" y="9115"/>
                    <a:pt x="9115" y="0"/>
                    <a:pt x="20360" y="0"/>
                  </a:cubicBezTo>
                  <a:close/>
                </a:path>
              </a:pathLst>
            </a:custGeom>
            <a:solidFill>
              <a:srgbClr val="20274C">
                <a:alpha val="80000"/>
              </a:srgbClr>
            </a:solidFill>
            <a:ln w="28575" cap="rnd">
              <a:solidFill>
                <a:srgbClr val="3D4263">
                  <a:alpha val="80000"/>
                </a:srgbClr>
              </a:solidFill>
              <a:prstDash val="solid"/>
              <a:round/>
            </a:ln>
          </p:spPr>
          <p:txBody>
            <a:bodyPr/>
            <a:lstStyle/>
            <a:p>
              <a:endParaRPr lang="ar-EG"/>
            </a:p>
          </p:txBody>
        </p:sp>
        <p:sp>
          <p:nvSpPr>
            <p:cNvPr id="7" name="TextBox 7"/>
            <p:cNvSpPr txBox="1"/>
            <p:nvPr/>
          </p:nvSpPr>
          <p:spPr>
            <a:xfrm>
              <a:off x="0" y="-38100"/>
              <a:ext cx="4206281" cy="2085318"/>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TextBox 8"/>
          <p:cNvSpPr txBox="1"/>
          <p:nvPr/>
        </p:nvSpPr>
        <p:spPr>
          <a:xfrm>
            <a:off x="1425654" y="2716180"/>
            <a:ext cx="14593729" cy="6671310"/>
          </a:xfrm>
          <a:prstGeom prst="rect">
            <a:avLst/>
          </a:prstGeom>
        </p:spPr>
        <p:txBody>
          <a:bodyPr lIns="0" tIns="0" rIns="0" bIns="0" rtlCol="0" anchor="t">
            <a:spAutoFit/>
          </a:bodyPr>
          <a:lstStyle/>
          <a:p>
            <a:pPr algn="l">
              <a:lnSpc>
                <a:spcPts val="2939"/>
              </a:lnSpc>
              <a:spcBef>
                <a:spcPct val="0"/>
              </a:spcBef>
            </a:pPr>
            <a:r>
              <a:rPr lang="en-US" sz="2099">
                <a:solidFill>
                  <a:srgbClr val="FFFFFF"/>
                </a:solidFill>
                <a:latin typeface="Canva Sans"/>
                <a:ea typeface="Canva Sans"/>
                <a:cs typeface="Canva Sans"/>
                <a:sym typeface="Canva Sans"/>
              </a:rPr>
              <a:t>4️⃣ Added Custom – Custom Column Addition</a:t>
            </a:r>
          </a:p>
          <a:p>
            <a:pPr algn="l">
              <a:lnSpc>
                <a:spcPts val="2939"/>
              </a:lnSpc>
              <a:spcBef>
                <a:spcPct val="0"/>
              </a:spcBef>
            </a:pPr>
            <a:r>
              <a:rPr lang="en-US" sz="2099">
                <a:solidFill>
                  <a:srgbClr val="FFFFFF"/>
                </a:solidFill>
                <a:latin typeface="Canva Sans"/>
                <a:ea typeface="Canva Sans"/>
                <a:cs typeface="Canva Sans"/>
                <a:sym typeface="Canva Sans"/>
              </a:rPr>
              <a:t>A new column was created using a Custom Column formula that was entered manually in Power Query.</a:t>
            </a:r>
          </a:p>
          <a:p>
            <a:pPr algn="l">
              <a:lnSpc>
                <a:spcPts val="2939"/>
              </a:lnSpc>
              <a:spcBef>
                <a:spcPct val="0"/>
              </a:spcBef>
            </a:pPr>
            <a:r>
              <a:rPr lang="en-US" sz="2099">
                <a:solidFill>
                  <a:srgbClr val="FFFFFF"/>
                </a:solidFill>
                <a:latin typeface="Canva Sans"/>
                <a:ea typeface="Canva Sans"/>
                <a:cs typeface="Canva Sans"/>
                <a:sym typeface="Canva Sans"/>
              </a:rPr>
              <a:t>This step simply indicates the creation of a new column, without specifying its purpose.</a:t>
            </a:r>
          </a:p>
          <a:p>
            <a:pPr algn="l">
              <a:lnSpc>
                <a:spcPts val="2939"/>
              </a:lnSpc>
              <a:spcBef>
                <a:spcPct val="0"/>
              </a:spcBef>
            </a:pPr>
            <a:r>
              <a:rPr lang="en-US" sz="2099">
                <a:solidFill>
                  <a:srgbClr val="FFFFFF"/>
                </a:solidFill>
                <a:latin typeface="Canva Sans"/>
                <a:ea typeface="Canva Sans"/>
                <a:cs typeface="Canva Sans"/>
                <a:sym typeface="Canva Sans"/>
              </a:rPr>
              <a:t>5️⃣ Renamed Columns</a:t>
            </a:r>
          </a:p>
          <a:p>
            <a:pPr algn="l">
              <a:lnSpc>
                <a:spcPts val="2939"/>
              </a:lnSpc>
              <a:spcBef>
                <a:spcPct val="0"/>
              </a:spcBef>
            </a:pPr>
            <a:r>
              <a:rPr lang="en-US" sz="2099">
                <a:solidFill>
                  <a:srgbClr val="FFFFFF"/>
                </a:solidFill>
                <a:latin typeface="Canva Sans"/>
                <a:ea typeface="Canva Sans"/>
                <a:cs typeface="Canva Sans"/>
                <a:sym typeface="Canva Sans"/>
              </a:rPr>
              <a:t>Columns were renamed to match the naming standards used in the data model.</a:t>
            </a:r>
          </a:p>
          <a:p>
            <a:pPr algn="l">
              <a:lnSpc>
                <a:spcPts val="2939"/>
              </a:lnSpc>
              <a:spcBef>
                <a:spcPct val="0"/>
              </a:spcBef>
            </a:pPr>
            <a:endParaRPr lang="en-US" sz="2099">
              <a:solidFill>
                <a:srgbClr val="FFFFFF"/>
              </a:solidFill>
              <a:latin typeface="Canva Sans"/>
              <a:ea typeface="Canva Sans"/>
              <a:cs typeface="Canva Sans"/>
              <a:sym typeface="Canva Sans"/>
            </a:endParaRPr>
          </a:p>
          <a:p>
            <a:pPr algn="l">
              <a:lnSpc>
                <a:spcPts val="2939"/>
              </a:lnSpc>
              <a:spcBef>
                <a:spcPct val="0"/>
              </a:spcBef>
            </a:pPr>
            <a:r>
              <a:rPr lang="en-US" sz="2099">
                <a:solidFill>
                  <a:srgbClr val="FFFFFF"/>
                </a:solidFill>
                <a:latin typeface="Canva Sans"/>
                <a:ea typeface="Canva Sans"/>
                <a:cs typeface="Canva Sans"/>
                <a:sym typeface="Canva Sans"/>
              </a:rPr>
              <a:t>6️⃣ Changed Type1</a:t>
            </a:r>
          </a:p>
          <a:p>
            <a:pPr algn="l">
              <a:lnSpc>
                <a:spcPts val="2939"/>
              </a:lnSpc>
              <a:spcBef>
                <a:spcPct val="0"/>
              </a:spcBef>
            </a:pPr>
            <a:r>
              <a:rPr lang="en-US" sz="2099">
                <a:solidFill>
                  <a:srgbClr val="FFFFFF"/>
                </a:solidFill>
                <a:latin typeface="Canva Sans"/>
                <a:ea typeface="Canva Sans"/>
                <a:cs typeface="Canva Sans"/>
                <a:sym typeface="Canva Sans"/>
              </a:rPr>
              <a:t>Data types were adjusted again—usually done after creating or modifying columns.</a:t>
            </a:r>
          </a:p>
          <a:p>
            <a:pPr algn="l">
              <a:lnSpc>
                <a:spcPts val="2939"/>
              </a:lnSpc>
              <a:spcBef>
                <a:spcPct val="0"/>
              </a:spcBef>
            </a:pPr>
            <a:r>
              <a:rPr lang="en-US" sz="2099">
                <a:solidFill>
                  <a:srgbClr val="FFFFFF"/>
                </a:solidFill>
                <a:latin typeface="Canva Sans"/>
                <a:ea typeface="Canva Sans"/>
                <a:cs typeface="Canva Sans"/>
                <a:sym typeface="Canva Sans"/>
              </a:rPr>
              <a:t>7️⃣ Reordered Columns</a:t>
            </a:r>
          </a:p>
          <a:p>
            <a:pPr algn="l">
              <a:lnSpc>
                <a:spcPts val="2939"/>
              </a:lnSpc>
              <a:spcBef>
                <a:spcPct val="0"/>
              </a:spcBef>
            </a:pPr>
            <a:r>
              <a:rPr lang="en-US" sz="2099">
                <a:solidFill>
                  <a:srgbClr val="FFFFFF"/>
                </a:solidFill>
                <a:latin typeface="Canva Sans"/>
                <a:ea typeface="Canva Sans"/>
                <a:cs typeface="Canva Sans"/>
                <a:sym typeface="Canva Sans"/>
              </a:rPr>
              <a:t>Columns were reorganized to follow a logical order (EmployeeID first, followed by personal and job-related fields).</a:t>
            </a:r>
          </a:p>
          <a:p>
            <a:pPr algn="l">
              <a:lnSpc>
                <a:spcPts val="2939"/>
              </a:lnSpc>
              <a:spcBef>
                <a:spcPct val="0"/>
              </a:spcBef>
            </a:pPr>
            <a:r>
              <a:rPr lang="en-US" sz="2099">
                <a:solidFill>
                  <a:srgbClr val="FFFFFF"/>
                </a:solidFill>
                <a:latin typeface="Canva Sans"/>
                <a:ea typeface="Canva Sans"/>
                <a:cs typeface="Canva Sans"/>
                <a:sym typeface="Canva Sans"/>
              </a:rPr>
              <a:t>8️⃣ Invoked Custom Function</a:t>
            </a:r>
          </a:p>
          <a:p>
            <a:pPr algn="l">
              <a:lnSpc>
                <a:spcPts val="2939"/>
              </a:lnSpc>
              <a:spcBef>
                <a:spcPct val="0"/>
              </a:spcBef>
            </a:pPr>
            <a:r>
              <a:rPr lang="en-US" sz="2099">
                <a:solidFill>
                  <a:srgbClr val="FFFFFF"/>
                </a:solidFill>
                <a:latin typeface="Canva Sans"/>
                <a:ea typeface="Canva Sans"/>
                <a:cs typeface="Canva Sans"/>
                <a:sym typeface="Canva Sans"/>
              </a:rPr>
              <a:t>A custom function (fnGetEthnicityIcon) was invoked.</a:t>
            </a:r>
          </a:p>
          <a:p>
            <a:pPr algn="l">
              <a:lnSpc>
                <a:spcPts val="2939"/>
              </a:lnSpc>
              <a:spcBef>
                <a:spcPct val="0"/>
              </a:spcBef>
            </a:pPr>
            <a:endParaRPr lang="en-US" sz="2099">
              <a:solidFill>
                <a:srgbClr val="FFFFFF"/>
              </a:solidFill>
              <a:latin typeface="Canva Sans"/>
              <a:ea typeface="Canva Sans"/>
              <a:cs typeface="Canva Sans"/>
              <a:sym typeface="Canva Sans"/>
            </a:endParaRPr>
          </a:p>
          <a:p>
            <a:pPr algn="l">
              <a:lnSpc>
                <a:spcPts val="2939"/>
              </a:lnSpc>
              <a:spcBef>
                <a:spcPct val="0"/>
              </a:spcBef>
            </a:pPr>
            <a:r>
              <a:rPr lang="en-US" sz="2099">
                <a:solidFill>
                  <a:srgbClr val="FFFFFF"/>
                </a:solidFill>
                <a:latin typeface="Canva Sans"/>
                <a:ea typeface="Canva Sans"/>
                <a:cs typeface="Canva Sans"/>
                <a:sym typeface="Canva Sans"/>
              </a:rPr>
              <a:t>This function generates an icon or symbol based on the Ethnicity field.</a:t>
            </a:r>
          </a:p>
          <a:p>
            <a:pPr algn="l">
              <a:lnSpc>
                <a:spcPts val="2939"/>
              </a:lnSpc>
              <a:spcBef>
                <a:spcPct val="0"/>
              </a:spcBef>
            </a:pPr>
            <a:r>
              <a:rPr lang="en-US" sz="2099">
                <a:solidFill>
                  <a:srgbClr val="FFFFFF"/>
                </a:solidFill>
                <a:latin typeface="Canva Sans"/>
                <a:ea typeface="Canva Sans"/>
                <a:cs typeface="Canva Sans"/>
                <a:sym typeface="Canva Sans"/>
              </a:rPr>
              <a:t>9️⃣ Added Custom1</a:t>
            </a:r>
          </a:p>
          <a:p>
            <a:pPr algn="l">
              <a:lnSpc>
                <a:spcPts val="2939"/>
              </a:lnSpc>
              <a:spcBef>
                <a:spcPct val="0"/>
              </a:spcBef>
            </a:pPr>
            <a:r>
              <a:rPr lang="en-US" sz="2099">
                <a:solidFill>
                  <a:srgbClr val="FFFFFF"/>
                </a:solidFill>
                <a:latin typeface="Canva Sans"/>
                <a:ea typeface="Canva Sans"/>
                <a:cs typeface="Canva Sans"/>
                <a:sym typeface="Canva Sans"/>
              </a:rPr>
              <a:t>Another new column was created by combining:</a:t>
            </a:r>
          </a:p>
          <a:p>
            <a:pPr algn="l">
              <a:lnSpc>
                <a:spcPts val="2939"/>
              </a:lnSpc>
              <a:spcBef>
                <a:spcPct val="0"/>
              </a:spcBef>
            </a:pPr>
            <a:r>
              <a:rPr lang="en-US" sz="2099">
                <a:solidFill>
                  <a:srgbClr val="FFFFFF"/>
                </a:solidFill>
                <a:latin typeface="Canva Sans"/>
                <a:ea typeface="Canva Sans"/>
                <a:cs typeface="Canva Sans"/>
                <a:sym typeface="Canva Sans"/>
              </a:rPr>
              <a:t>fnGetEthnicityIcon &amp; " " &amp; [Ethnicity]</a:t>
            </a:r>
          </a:p>
          <a:p>
            <a:pPr algn="l">
              <a:lnSpc>
                <a:spcPts val="2939"/>
              </a:lnSpc>
              <a:spcBef>
                <a:spcPct val="0"/>
              </a:spcBef>
            </a:pPr>
            <a:r>
              <a:rPr lang="en-US" sz="2099">
                <a:solidFill>
                  <a:srgbClr val="FFFFFF"/>
                </a:solidFill>
                <a:latin typeface="Canva Sans"/>
                <a:ea typeface="Canva Sans"/>
                <a:cs typeface="Canva Sans"/>
                <a:sym typeface="Canva Sans"/>
              </a:rPr>
              <a:t>This produces a field containing both the icon and the ethnicity value.</a:t>
            </a:r>
          </a:p>
        </p:txBody>
      </p:sp>
      <p:grpSp>
        <p:nvGrpSpPr>
          <p:cNvPr id="9" name="Group 9"/>
          <p:cNvGrpSpPr/>
          <p:nvPr/>
        </p:nvGrpSpPr>
        <p:grpSpPr>
          <a:xfrm>
            <a:off x="1028700" y="416438"/>
            <a:ext cx="7103961" cy="1224523"/>
            <a:chOff x="0" y="0"/>
            <a:chExt cx="1871002" cy="322508"/>
          </a:xfrm>
        </p:grpSpPr>
        <p:sp>
          <p:nvSpPr>
            <p:cNvPr id="10" name="Freeform 10"/>
            <p:cNvSpPr/>
            <p:nvPr/>
          </p:nvSpPr>
          <p:spPr>
            <a:xfrm>
              <a:off x="0" y="0"/>
              <a:ext cx="1871002" cy="322508"/>
            </a:xfrm>
            <a:custGeom>
              <a:avLst/>
              <a:gdLst/>
              <a:ahLst/>
              <a:cxnLst/>
              <a:rect l="l" t="t" r="r" b="b"/>
              <a:pathLst>
                <a:path w="1871002" h="322508">
                  <a:moveTo>
                    <a:pt x="45772" y="0"/>
                  </a:moveTo>
                  <a:lnTo>
                    <a:pt x="1825230" y="0"/>
                  </a:lnTo>
                  <a:cubicBezTo>
                    <a:pt x="1837370" y="0"/>
                    <a:pt x="1849012" y="4822"/>
                    <a:pt x="1857596" y="13406"/>
                  </a:cubicBezTo>
                  <a:cubicBezTo>
                    <a:pt x="1866180" y="21990"/>
                    <a:pt x="1871002" y="33632"/>
                    <a:pt x="1871002" y="45772"/>
                  </a:cubicBezTo>
                  <a:lnTo>
                    <a:pt x="1871002" y="276736"/>
                  </a:lnTo>
                  <a:cubicBezTo>
                    <a:pt x="1871002" y="302015"/>
                    <a:pt x="1850509" y="322508"/>
                    <a:pt x="1825230" y="322508"/>
                  </a:cubicBezTo>
                  <a:lnTo>
                    <a:pt x="45772" y="322508"/>
                  </a:lnTo>
                  <a:cubicBezTo>
                    <a:pt x="20493" y="322508"/>
                    <a:pt x="0" y="302015"/>
                    <a:pt x="0" y="276736"/>
                  </a:cubicBezTo>
                  <a:lnTo>
                    <a:pt x="0" y="45772"/>
                  </a:lnTo>
                  <a:cubicBezTo>
                    <a:pt x="0" y="20493"/>
                    <a:pt x="20493" y="0"/>
                    <a:pt x="45772"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1" name="TextBox 11"/>
            <p:cNvSpPr txBox="1"/>
            <p:nvPr/>
          </p:nvSpPr>
          <p:spPr>
            <a:xfrm>
              <a:off x="0" y="-57150"/>
              <a:ext cx="1871002" cy="379658"/>
            </a:xfrm>
            <a:prstGeom prst="rect">
              <a:avLst/>
            </a:prstGeom>
          </p:spPr>
          <p:txBody>
            <a:bodyPr lIns="50800" tIns="50800" rIns="50800" bIns="50800" rtlCol="0" anchor="ctr"/>
            <a:lstStyle/>
            <a:p>
              <a:pPr marL="0" lvl="0" indent="0" algn="ctr">
                <a:lnSpc>
                  <a:spcPts val="4199"/>
                </a:lnSpc>
                <a:spcBef>
                  <a:spcPct val="0"/>
                </a:spcBef>
              </a:pPr>
              <a:r>
                <a:rPr lang="en-US" sz="2999" u="none" strike="noStrike" spc="-59">
                  <a:solidFill>
                    <a:srgbClr val="FFFFFF">
                      <a:alpha val="89804"/>
                    </a:srgbClr>
                  </a:solidFill>
                  <a:latin typeface="Inter"/>
                  <a:ea typeface="Inter"/>
                  <a:cs typeface="Inter"/>
                  <a:sym typeface="Inter"/>
                </a:rPr>
                <a:t>ETL Phase (Extract – Transform – Load)</a:t>
              </a:r>
            </a:p>
          </p:txBody>
        </p:sp>
      </p:grpSp>
    </p:spTree>
  </p:cSld>
  <p:clrMapOvr>
    <a:masterClrMapping/>
  </p:clrMapOvr>
  <p:transition>
    <p:wipe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8" name="Group 8"/>
          <p:cNvGrpSpPr/>
          <p:nvPr/>
        </p:nvGrpSpPr>
        <p:grpSpPr>
          <a:xfrm>
            <a:off x="1028700" y="416438"/>
            <a:ext cx="7103961" cy="1224523"/>
            <a:chOff x="0" y="0"/>
            <a:chExt cx="1871002" cy="322508"/>
          </a:xfrm>
        </p:grpSpPr>
        <p:sp>
          <p:nvSpPr>
            <p:cNvPr id="9" name="Freeform 9"/>
            <p:cNvSpPr/>
            <p:nvPr/>
          </p:nvSpPr>
          <p:spPr>
            <a:xfrm>
              <a:off x="0" y="0"/>
              <a:ext cx="1871002" cy="322508"/>
            </a:xfrm>
            <a:custGeom>
              <a:avLst/>
              <a:gdLst/>
              <a:ahLst/>
              <a:cxnLst/>
              <a:rect l="l" t="t" r="r" b="b"/>
              <a:pathLst>
                <a:path w="1871002" h="322508">
                  <a:moveTo>
                    <a:pt x="45772" y="0"/>
                  </a:moveTo>
                  <a:lnTo>
                    <a:pt x="1825230" y="0"/>
                  </a:lnTo>
                  <a:cubicBezTo>
                    <a:pt x="1837370" y="0"/>
                    <a:pt x="1849012" y="4822"/>
                    <a:pt x="1857596" y="13406"/>
                  </a:cubicBezTo>
                  <a:cubicBezTo>
                    <a:pt x="1866180" y="21990"/>
                    <a:pt x="1871002" y="33632"/>
                    <a:pt x="1871002" y="45772"/>
                  </a:cubicBezTo>
                  <a:lnTo>
                    <a:pt x="1871002" y="276736"/>
                  </a:lnTo>
                  <a:cubicBezTo>
                    <a:pt x="1871002" y="302015"/>
                    <a:pt x="1850509" y="322508"/>
                    <a:pt x="1825230" y="322508"/>
                  </a:cubicBezTo>
                  <a:lnTo>
                    <a:pt x="45772" y="322508"/>
                  </a:lnTo>
                  <a:cubicBezTo>
                    <a:pt x="20493" y="322508"/>
                    <a:pt x="0" y="302015"/>
                    <a:pt x="0" y="276736"/>
                  </a:cubicBezTo>
                  <a:lnTo>
                    <a:pt x="0" y="45772"/>
                  </a:lnTo>
                  <a:cubicBezTo>
                    <a:pt x="0" y="20493"/>
                    <a:pt x="20493" y="0"/>
                    <a:pt x="45772"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0" name="TextBox 10"/>
            <p:cNvSpPr txBox="1"/>
            <p:nvPr/>
          </p:nvSpPr>
          <p:spPr>
            <a:xfrm>
              <a:off x="0" y="-57150"/>
              <a:ext cx="1871002" cy="379658"/>
            </a:xfrm>
            <a:prstGeom prst="rect">
              <a:avLst/>
            </a:prstGeom>
          </p:spPr>
          <p:txBody>
            <a:bodyPr lIns="50800" tIns="50800" rIns="50800" bIns="50800" rtlCol="0" anchor="ctr"/>
            <a:lstStyle/>
            <a:p>
              <a:pPr marL="0" lvl="0" indent="0" algn="ctr">
                <a:lnSpc>
                  <a:spcPts val="4199"/>
                </a:lnSpc>
                <a:spcBef>
                  <a:spcPct val="0"/>
                </a:spcBef>
              </a:pPr>
              <a:r>
                <a:rPr lang="en-US" sz="2999" u="none" strike="noStrike" spc="-59">
                  <a:solidFill>
                    <a:srgbClr val="FFFFFF">
                      <a:alpha val="89804"/>
                    </a:srgbClr>
                  </a:solidFill>
                  <a:latin typeface="Inter"/>
                  <a:ea typeface="Inter"/>
                  <a:cs typeface="Inter"/>
                  <a:sym typeface="Inter"/>
                </a:rPr>
                <a:t>ETL Phase (Extract – Transform – Load)</a:t>
              </a:r>
            </a:p>
          </p:txBody>
        </p:sp>
      </p:grpSp>
      <p:sp>
        <p:nvSpPr>
          <p:cNvPr id="11" name="Freeform 11"/>
          <p:cNvSpPr/>
          <p:nvPr/>
        </p:nvSpPr>
        <p:spPr>
          <a:xfrm>
            <a:off x="3676389" y="2067470"/>
            <a:ext cx="10967710" cy="4099775"/>
          </a:xfrm>
          <a:custGeom>
            <a:avLst/>
            <a:gdLst/>
            <a:ahLst/>
            <a:cxnLst/>
            <a:rect l="l" t="t" r="r" b="b"/>
            <a:pathLst>
              <a:path w="10967710" h="4099775">
                <a:moveTo>
                  <a:pt x="0" y="0"/>
                </a:moveTo>
                <a:lnTo>
                  <a:pt x="10967710" y="0"/>
                </a:lnTo>
                <a:lnTo>
                  <a:pt x="10967710" y="4099775"/>
                </a:lnTo>
                <a:lnTo>
                  <a:pt x="0" y="4099775"/>
                </a:lnTo>
                <a:lnTo>
                  <a:pt x="0" y="0"/>
                </a:lnTo>
                <a:close/>
              </a:path>
            </a:pathLst>
          </a:custGeom>
          <a:blipFill>
            <a:blip r:embed="rId8"/>
            <a:stretch>
              <a:fillRect r="-740" b="-14036"/>
            </a:stretch>
          </a:blipFill>
          <a:ln cap="rnd">
            <a:noFill/>
            <a:prstDash val="solid"/>
            <a:round/>
          </a:ln>
        </p:spPr>
        <p:txBody>
          <a:bodyPr/>
          <a:lstStyle/>
          <a:p>
            <a:endParaRPr lang="ar-EG"/>
          </a:p>
        </p:txBody>
      </p:sp>
      <p:sp>
        <p:nvSpPr>
          <p:cNvPr id="12" name="TextBox 12"/>
          <p:cNvSpPr txBox="1"/>
          <p:nvPr/>
        </p:nvSpPr>
        <p:spPr>
          <a:xfrm>
            <a:off x="3676389" y="6368055"/>
            <a:ext cx="5669620" cy="372745"/>
          </a:xfrm>
          <a:prstGeom prst="rect">
            <a:avLst/>
          </a:prstGeom>
        </p:spPr>
        <p:txBody>
          <a:bodyPr lIns="0" tIns="0" rIns="0" bIns="0" rtlCol="0" anchor="t">
            <a:spAutoFit/>
          </a:bodyPr>
          <a:lstStyle/>
          <a:p>
            <a:pPr algn="l">
              <a:lnSpc>
                <a:spcPts val="3079"/>
              </a:lnSpc>
              <a:spcBef>
                <a:spcPct val="0"/>
              </a:spcBef>
            </a:pPr>
            <a:r>
              <a:rPr lang="en-US" sz="2199" spc="-43">
                <a:solidFill>
                  <a:srgbClr val="FFFFFF"/>
                </a:solidFill>
                <a:latin typeface="Inter"/>
                <a:ea typeface="Inter"/>
                <a:cs typeface="Inter"/>
                <a:sym typeface="Inter"/>
              </a:rPr>
              <a:t>Performance Rating Table — ETL Steps</a:t>
            </a:r>
          </a:p>
        </p:txBody>
      </p:sp>
      <p:sp>
        <p:nvSpPr>
          <p:cNvPr id="13" name="TextBox 13"/>
          <p:cNvSpPr txBox="1"/>
          <p:nvPr/>
        </p:nvSpPr>
        <p:spPr>
          <a:xfrm>
            <a:off x="3662779" y="6931300"/>
            <a:ext cx="10962441" cy="2223135"/>
          </a:xfrm>
          <a:prstGeom prst="rect">
            <a:avLst/>
          </a:prstGeom>
        </p:spPr>
        <p:txBody>
          <a:bodyPr lIns="0" tIns="0" rIns="0" bIns="0" rtlCol="0" anchor="t">
            <a:spAutoFit/>
          </a:bodyPr>
          <a:lstStyle/>
          <a:p>
            <a:pPr algn="l">
              <a:lnSpc>
                <a:spcPts val="2939"/>
              </a:lnSpc>
            </a:pPr>
            <a:r>
              <a:rPr lang="en-US" sz="2099" spc="-41">
                <a:solidFill>
                  <a:srgbClr val="FFFFFF"/>
                </a:solidFill>
                <a:latin typeface="Inter"/>
                <a:ea typeface="Inter"/>
                <a:cs typeface="Inter"/>
                <a:sym typeface="Inter"/>
              </a:rPr>
              <a:t>1️⃣ Source</a:t>
            </a:r>
          </a:p>
          <a:p>
            <a:pPr algn="l">
              <a:lnSpc>
                <a:spcPts val="2939"/>
              </a:lnSpc>
            </a:pPr>
            <a:r>
              <a:rPr lang="en-US" sz="2099" spc="-41">
                <a:solidFill>
                  <a:srgbClr val="FFFFFF"/>
                </a:solidFill>
                <a:latin typeface="Inter"/>
                <a:ea typeface="Inter"/>
                <a:cs typeface="Inter"/>
                <a:sym typeface="Inter"/>
              </a:rPr>
              <a:t>The data is imported from the original source (Excel, CSV, or database).</a:t>
            </a:r>
          </a:p>
          <a:p>
            <a:pPr algn="l">
              <a:lnSpc>
                <a:spcPts val="2939"/>
              </a:lnSpc>
            </a:pPr>
            <a:r>
              <a:rPr lang="en-US" sz="2099" spc="-41">
                <a:solidFill>
                  <a:srgbClr val="FFFFFF"/>
                </a:solidFill>
                <a:latin typeface="Inter"/>
                <a:ea typeface="Inter"/>
                <a:cs typeface="Inter"/>
                <a:sym typeface="Inter"/>
              </a:rPr>
              <a:t>This produces a raw table containing the columns exactly as they appear in the source file.</a:t>
            </a:r>
          </a:p>
          <a:p>
            <a:pPr algn="l">
              <a:lnSpc>
                <a:spcPts val="2939"/>
              </a:lnSpc>
            </a:pPr>
            <a:r>
              <a:rPr lang="en-US" sz="2099" spc="-41">
                <a:solidFill>
                  <a:srgbClr val="FFFFFF"/>
                </a:solidFill>
                <a:latin typeface="Inter"/>
                <a:ea typeface="Inter"/>
                <a:cs typeface="Inter"/>
                <a:sym typeface="Inter"/>
              </a:rPr>
              <a:t>2️⃣ Promoted Headers</a:t>
            </a:r>
          </a:p>
          <a:p>
            <a:pPr algn="l">
              <a:lnSpc>
                <a:spcPts val="2939"/>
              </a:lnSpc>
            </a:pPr>
            <a:r>
              <a:rPr lang="en-US" sz="2099" spc="-41">
                <a:solidFill>
                  <a:srgbClr val="FFFFFF"/>
                </a:solidFill>
                <a:latin typeface="Inter"/>
                <a:ea typeface="Inter"/>
                <a:cs typeface="Inter"/>
                <a:sym typeface="Inter"/>
              </a:rPr>
              <a:t>Converts the first row into column headers.</a:t>
            </a:r>
          </a:p>
          <a:p>
            <a:pPr algn="l">
              <a:lnSpc>
                <a:spcPts val="2939"/>
              </a:lnSpc>
            </a:pPr>
            <a:r>
              <a:rPr lang="en-US" sz="2099" spc="-41">
                <a:solidFill>
                  <a:srgbClr val="FFFFFF"/>
                </a:solidFill>
                <a:latin typeface="Inter"/>
                <a:ea typeface="Inter"/>
                <a:cs typeface="Inter"/>
                <a:sym typeface="Inter"/>
              </a:rPr>
              <a:t>Typically, this row contains names such as PerformanceID, EmployeeID, ReviewDate, etc.</a:t>
            </a:r>
          </a:p>
        </p:txBody>
      </p:sp>
    </p:spTree>
  </p:cSld>
  <p:clrMapOvr>
    <a:masterClrMapping/>
  </p:clrMapOvr>
  <p:transition>
    <p:wipe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8" name="Group 8"/>
          <p:cNvGrpSpPr/>
          <p:nvPr/>
        </p:nvGrpSpPr>
        <p:grpSpPr>
          <a:xfrm>
            <a:off x="1028700" y="416438"/>
            <a:ext cx="7103961" cy="1224523"/>
            <a:chOff x="0" y="0"/>
            <a:chExt cx="1871002" cy="322508"/>
          </a:xfrm>
        </p:grpSpPr>
        <p:sp>
          <p:nvSpPr>
            <p:cNvPr id="9" name="Freeform 9"/>
            <p:cNvSpPr/>
            <p:nvPr/>
          </p:nvSpPr>
          <p:spPr>
            <a:xfrm>
              <a:off x="0" y="0"/>
              <a:ext cx="1871002" cy="322508"/>
            </a:xfrm>
            <a:custGeom>
              <a:avLst/>
              <a:gdLst/>
              <a:ahLst/>
              <a:cxnLst/>
              <a:rect l="l" t="t" r="r" b="b"/>
              <a:pathLst>
                <a:path w="1871002" h="322508">
                  <a:moveTo>
                    <a:pt x="45772" y="0"/>
                  </a:moveTo>
                  <a:lnTo>
                    <a:pt x="1825230" y="0"/>
                  </a:lnTo>
                  <a:cubicBezTo>
                    <a:pt x="1837370" y="0"/>
                    <a:pt x="1849012" y="4822"/>
                    <a:pt x="1857596" y="13406"/>
                  </a:cubicBezTo>
                  <a:cubicBezTo>
                    <a:pt x="1866180" y="21990"/>
                    <a:pt x="1871002" y="33632"/>
                    <a:pt x="1871002" y="45772"/>
                  </a:cubicBezTo>
                  <a:lnTo>
                    <a:pt x="1871002" y="276736"/>
                  </a:lnTo>
                  <a:cubicBezTo>
                    <a:pt x="1871002" y="302015"/>
                    <a:pt x="1850509" y="322508"/>
                    <a:pt x="1825230" y="322508"/>
                  </a:cubicBezTo>
                  <a:lnTo>
                    <a:pt x="45772" y="322508"/>
                  </a:lnTo>
                  <a:cubicBezTo>
                    <a:pt x="20493" y="322508"/>
                    <a:pt x="0" y="302015"/>
                    <a:pt x="0" y="276736"/>
                  </a:cubicBezTo>
                  <a:lnTo>
                    <a:pt x="0" y="45772"/>
                  </a:lnTo>
                  <a:cubicBezTo>
                    <a:pt x="0" y="20493"/>
                    <a:pt x="20493" y="0"/>
                    <a:pt x="45772"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0" name="TextBox 10"/>
            <p:cNvSpPr txBox="1"/>
            <p:nvPr/>
          </p:nvSpPr>
          <p:spPr>
            <a:xfrm>
              <a:off x="0" y="-57150"/>
              <a:ext cx="1871002" cy="379658"/>
            </a:xfrm>
            <a:prstGeom prst="rect">
              <a:avLst/>
            </a:prstGeom>
          </p:spPr>
          <p:txBody>
            <a:bodyPr lIns="50800" tIns="50800" rIns="50800" bIns="50800" rtlCol="0" anchor="ctr"/>
            <a:lstStyle/>
            <a:p>
              <a:pPr marL="0" lvl="0" indent="0" algn="ctr">
                <a:lnSpc>
                  <a:spcPts val="4199"/>
                </a:lnSpc>
                <a:spcBef>
                  <a:spcPct val="0"/>
                </a:spcBef>
              </a:pPr>
              <a:r>
                <a:rPr lang="en-US" sz="2999" u="none" strike="noStrike" spc="-59">
                  <a:solidFill>
                    <a:srgbClr val="FFFFFF">
                      <a:alpha val="89804"/>
                    </a:srgbClr>
                  </a:solidFill>
                  <a:latin typeface="Inter"/>
                  <a:ea typeface="Inter"/>
                  <a:cs typeface="Inter"/>
                  <a:sym typeface="Inter"/>
                </a:rPr>
                <a:t>ETL Phase (Extract – Transform – Load)</a:t>
              </a:r>
            </a:p>
          </p:txBody>
        </p:sp>
      </p:grpSp>
      <p:sp>
        <p:nvSpPr>
          <p:cNvPr id="11" name="TextBox 11"/>
          <p:cNvSpPr txBox="1"/>
          <p:nvPr/>
        </p:nvSpPr>
        <p:spPr>
          <a:xfrm>
            <a:off x="1604147" y="2868792"/>
            <a:ext cx="13891022" cy="4789805"/>
          </a:xfrm>
          <a:prstGeom prst="rect">
            <a:avLst/>
          </a:prstGeom>
        </p:spPr>
        <p:txBody>
          <a:bodyPr lIns="0" tIns="0" rIns="0" bIns="0" rtlCol="0" anchor="t">
            <a:spAutoFit/>
          </a:bodyPr>
          <a:lstStyle/>
          <a:p>
            <a:pPr algn="l">
              <a:lnSpc>
                <a:spcPts val="3219"/>
              </a:lnSpc>
            </a:pPr>
            <a:r>
              <a:rPr lang="en-US" sz="2299" spc="-45">
                <a:solidFill>
                  <a:srgbClr val="FFFFFF"/>
                </a:solidFill>
                <a:latin typeface="Inter"/>
                <a:ea typeface="Inter"/>
                <a:cs typeface="Inter"/>
                <a:sym typeface="Inter"/>
              </a:rPr>
              <a:t>3️⃣ Changed Type</a:t>
            </a:r>
          </a:p>
          <a:p>
            <a:pPr marL="496567" lvl="1" indent="-248284" algn="l">
              <a:lnSpc>
                <a:spcPts val="3219"/>
              </a:lnSpc>
              <a:buFont typeface="Arial"/>
              <a:buChar char="•"/>
            </a:pPr>
            <a:r>
              <a:rPr lang="en-US" sz="2299" spc="-45">
                <a:solidFill>
                  <a:srgbClr val="FFFFFF"/>
                </a:solidFill>
                <a:latin typeface="Inter"/>
                <a:ea typeface="Inter"/>
                <a:cs typeface="Inter"/>
                <a:sym typeface="Inter"/>
              </a:rPr>
              <a:t>Power Query automatically assigns data types to each column.</a:t>
            </a:r>
          </a:p>
          <a:p>
            <a:pPr marL="993135" lvl="2" indent="-331045" algn="l">
              <a:lnSpc>
                <a:spcPts val="3219"/>
              </a:lnSpc>
              <a:buFont typeface="Arial"/>
              <a:buChar char="⚬"/>
            </a:pPr>
            <a:r>
              <a:rPr lang="en-US" sz="2299" spc="-45">
                <a:solidFill>
                  <a:srgbClr val="FFFFFF"/>
                </a:solidFill>
                <a:latin typeface="Inter"/>
                <a:ea typeface="Inter"/>
                <a:cs typeface="Inter"/>
                <a:sym typeface="Inter"/>
              </a:rPr>
              <a:t>ReviewDate → Date</a:t>
            </a:r>
          </a:p>
          <a:p>
            <a:pPr marL="993135" lvl="2" indent="-331045" algn="l">
              <a:lnSpc>
                <a:spcPts val="3219"/>
              </a:lnSpc>
              <a:buFont typeface="Arial"/>
              <a:buChar char="⚬"/>
            </a:pPr>
            <a:r>
              <a:rPr lang="en-US" sz="2299" spc="-45">
                <a:solidFill>
                  <a:srgbClr val="FFFFFF"/>
                </a:solidFill>
                <a:latin typeface="Inter"/>
                <a:ea typeface="Inter"/>
                <a:cs typeface="Inter"/>
                <a:sym typeface="Inter"/>
              </a:rPr>
              <a:t>RatingID → Whole Number</a:t>
            </a:r>
          </a:p>
          <a:p>
            <a:pPr marL="993135" lvl="2" indent="-331045" algn="l">
              <a:lnSpc>
                <a:spcPts val="3219"/>
              </a:lnSpc>
              <a:buFont typeface="Arial"/>
              <a:buChar char="⚬"/>
            </a:pPr>
            <a:r>
              <a:rPr lang="en-US" sz="2299" spc="-45">
                <a:solidFill>
                  <a:srgbClr val="FFFFFF"/>
                </a:solidFill>
                <a:latin typeface="Inter"/>
                <a:ea typeface="Inter"/>
                <a:cs typeface="Inter"/>
                <a:sym typeface="Inter"/>
              </a:rPr>
              <a:t>EnvironmentSatisfaction → Whole Number</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4️⃣ Renamed Columns</a:t>
            </a:r>
          </a:p>
          <a:p>
            <a:pPr algn="l">
              <a:lnSpc>
                <a:spcPts val="3219"/>
              </a:lnSpc>
              <a:spcBef>
                <a:spcPct val="0"/>
              </a:spcBef>
            </a:pPr>
            <a:r>
              <a:rPr lang="en-US" sz="2299" spc="-45">
                <a:solidFill>
                  <a:srgbClr val="FFFFFF"/>
                </a:solidFill>
                <a:latin typeface="Inter"/>
                <a:ea typeface="Inter"/>
                <a:cs typeface="Inter"/>
                <a:sym typeface="Inter"/>
              </a:rPr>
              <a:t>Some columns were renamed to more meaningful or standardized names that better suit the data model.</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5️⃣ Filtered Rows</a:t>
            </a:r>
          </a:p>
          <a:p>
            <a:pPr algn="l">
              <a:lnSpc>
                <a:spcPts val="3219"/>
              </a:lnSpc>
              <a:spcBef>
                <a:spcPct val="0"/>
              </a:spcBef>
            </a:pPr>
            <a:r>
              <a:rPr lang="en-US" sz="2299" spc="-45">
                <a:solidFill>
                  <a:srgbClr val="FFFFFF"/>
                </a:solidFill>
                <a:latin typeface="Inter"/>
                <a:ea typeface="Inter"/>
                <a:cs typeface="Inter"/>
                <a:sym typeface="Inter"/>
              </a:rPr>
              <a:t>Filters were applied (such as removing null values or invalid entries).</a:t>
            </a:r>
          </a:p>
          <a:p>
            <a:pPr algn="l">
              <a:lnSpc>
                <a:spcPts val="3219"/>
              </a:lnSpc>
              <a:spcBef>
                <a:spcPct val="0"/>
              </a:spcBef>
            </a:pPr>
            <a:r>
              <a:rPr lang="en-US" sz="2299" spc="-45">
                <a:solidFill>
                  <a:srgbClr val="FFFFFF"/>
                </a:solidFill>
                <a:latin typeface="Inter"/>
                <a:ea typeface="Inter"/>
                <a:cs typeface="Inter"/>
                <a:sym typeface="Inter"/>
              </a:rPr>
              <a:t>You may have filtered specific years or valid values only.</a:t>
            </a:r>
          </a:p>
        </p:txBody>
      </p:sp>
    </p:spTree>
  </p:cSld>
  <p:clrMapOvr>
    <a:masterClrMapping/>
  </p:clrMapOvr>
  <p:transition>
    <p:wipe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325243" y="1960598"/>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8" name="Group 8"/>
          <p:cNvGrpSpPr/>
          <p:nvPr/>
        </p:nvGrpSpPr>
        <p:grpSpPr>
          <a:xfrm>
            <a:off x="1028700" y="416438"/>
            <a:ext cx="7103961" cy="1224523"/>
            <a:chOff x="0" y="0"/>
            <a:chExt cx="1871002" cy="322508"/>
          </a:xfrm>
        </p:grpSpPr>
        <p:sp>
          <p:nvSpPr>
            <p:cNvPr id="9" name="Freeform 9"/>
            <p:cNvSpPr/>
            <p:nvPr/>
          </p:nvSpPr>
          <p:spPr>
            <a:xfrm>
              <a:off x="0" y="0"/>
              <a:ext cx="1871002" cy="322508"/>
            </a:xfrm>
            <a:custGeom>
              <a:avLst/>
              <a:gdLst/>
              <a:ahLst/>
              <a:cxnLst/>
              <a:rect l="l" t="t" r="r" b="b"/>
              <a:pathLst>
                <a:path w="1871002" h="322508">
                  <a:moveTo>
                    <a:pt x="45772" y="0"/>
                  </a:moveTo>
                  <a:lnTo>
                    <a:pt x="1825230" y="0"/>
                  </a:lnTo>
                  <a:cubicBezTo>
                    <a:pt x="1837370" y="0"/>
                    <a:pt x="1849012" y="4822"/>
                    <a:pt x="1857596" y="13406"/>
                  </a:cubicBezTo>
                  <a:cubicBezTo>
                    <a:pt x="1866180" y="21990"/>
                    <a:pt x="1871002" y="33632"/>
                    <a:pt x="1871002" y="45772"/>
                  </a:cubicBezTo>
                  <a:lnTo>
                    <a:pt x="1871002" y="276736"/>
                  </a:lnTo>
                  <a:cubicBezTo>
                    <a:pt x="1871002" y="302015"/>
                    <a:pt x="1850509" y="322508"/>
                    <a:pt x="1825230" y="322508"/>
                  </a:cubicBezTo>
                  <a:lnTo>
                    <a:pt x="45772" y="322508"/>
                  </a:lnTo>
                  <a:cubicBezTo>
                    <a:pt x="20493" y="322508"/>
                    <a:pt x="0" y="302015"/>
                    <a:pt x="0" y="276736"/>
                  </a:cubicBezTo>
                  <a:lnTo>
                    <a:pt x="0" y="45772"/>
                  </a:lnTo>
                  <a:cubicBezTo>
                    <a:pt x="0" y="20493"/>
                    <a:pt x="20493" y="0"/>
                    <a:pt x="45772"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0" name="TextBox 10"/>
            <p:cNvSpPr txBox="1"/>
            <p:nvPr/>
          </p:nvSpPr>
          <p:spPr>
            <a:xfrm>
              <a:off x="0" y="-57150"/>
              <a:ext cx="1871002" cy="379658"/>
            </a:xfrm>
            <a:prstGeom prst="rect">
              <a:avLst/>
            </a:prstGeom>
          </p:spPr>
          <p:txBody>
            <a:bodyPr lIns="50800" tIns="50800" rIns="50800" bIns="50800" rtlCol="0" anchor="ctr"/>
            <a:lstStyle/>
            <a:p>
              <a:pPr marL="0" lvl="0" indent="0" algn="ctr">
                <a:lnSpc>
                  <a:spcPts val="4199"/>
                </a:lnSpc>
                <a:spcBef>
                  <a:spcPct val="0"/>
                </a:spcBef>
              </a:pPr>
              <a:r>
                <a:rPr lang="en-US" sz="2999" u="none" strike="noStrike" spc="-59">
                  <a:solidFill>
                    <a:srgbClr val="FFFFFF">
                      <a:alpha val="89804"/>
                    </a:srgbClr>
                  </a:solidFill>
                  <a:latin typeface="Inter"/>
                  <a:ea typeface="Inter"/>
                  <a:cs typeface="Inter"/>
                  <a:sym typeface="Inter"/>
                </a:rPr>
                <a:t>ETL Phase (Extract – Transform – Load)</a:t>
              </a:r>
            </a:p>
          </p:txBody>
        </p:sp>
      </p:grpSp>
      <p:sp>
        <p:nvSpPr>
          <p:cNvPr id="11" name="Freeform 11"/>
          <p:cNvSpPr/>
          <p:nvPr/>
        </p:nvSpPr>
        <p:spPr>
          <a:xfrm>
            <a:off x="3876161" y="2193569"/>
            <a:ext cx="10568166" cy="4345584"/>
          </a:xfrm>
          <a:custGeom>
            <a:avLst/>
            <a:gdLst/>
            <a:ahLst/>
            <a:cxnLst/>
            <a:rect l="l" t="t" r="r" b="b"/>
            <a:pathLst>
              <a:path w="10568166" h="4345584">
                <a:moveTo>
                  <a:pt x="0" y="0"/>
                </a:moveTo>
                <a:lnTo>
                  <a:pt x="10568166" y="0"/>
                </a:lnTo>
                <a:lnTo>
                  <a:pt x="10568166" y="4345584"/>
                </a:lnTo>
                <a:lnTo>
                  <a:pt x="0" y="4345584"/>
                </a:lnTo>
                <a:lnTo>
                  <a:pt x="0" y="0"/>
                </a:lnTo>
                <a:close/>
              </a:path>
            </a:pathLst>
          </a:custGeom>
          <a:blipFill>
            <a:blip r:embed="rId8"/>
            <a:stretch>
              <a:fillRect t="-1722" b="-1722"/>
            </a:stretch>
          </a:blipFill>
        </p:spPr>
        <p:txBody>
          <a:bodyPr/>
          <a:lstStyle/>
          <a:p>
            <a:endParaRPr lang="ar-EG"/>
          </a:p>
        </p:txBody>
      </p:sp>
      <p:sp>
        <p:nvSpPr>
          <p:cNvPr id="12" name="TextBox 12"/>
          <p:cNvSpPr txBox="1"/>
          <p:nvPr/>
        </p:nvSpPr>
        <p:spPr>
          <a:xfrm>
            <a:off x="3876161" y="6653948"/>
            <a:ext cx="4332779" cy="38925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Rating Level Table - ETL Steps:</a:t>
            </a:r>
          </a:p>
        </p:txBody>
      </p:sp>
      <p:sp>
        <p:nvSpPr>
          <p:cNvPr id="13" name="TextBox 13"/>
          <p:cNvSpPr txBox="1"/>
          <p:nvPr/>
        </p:nvSpPr>
        <p:spPr>
          <a:xfrm>
            <a:off x="3876161" y="7157999"/>
            <a:ext cx="5284083" cy="1108710"/>
          </a:xfrm>
          <a:prstGeom prst="rect">
            <a:avLst/>
          </a:prstGeom>
        </p:spPr>
        <p:txBody>
          <a:bodyPr lIns="0" tIns="0" rIns="0" bIns="0" rtlCol="0" anchor="t">
            <a:spAutoFit/>
          </a:bodyPr>
          <a:lstStyle/>
          <a:p>
            <a:pPr algn="l">
              <a:lnSpc>
                <a:spcPts val="2939"/>
              </a:lnSpc>
              <a:spcBef>
                <a:spcPct val="0"/>
              </a:spcBef>
            </a:pPr>
            <a:r>
              <a:rPr lang="en-US" sz="2099" spc="-41">
                <a:solidFill>
                  <a:srgbClr val="FFFFFF"/>
                </a:solidFill>
                <a:latin typeface="Inter"/>
                <a:ea typeface="Inter"/>
                <a:cs typeface="Inter"/>
                <a:sym typeface="Inter"/>
              </a:rPr>
              <a:t>1️⃣ Promoted Headers</a:t>
            </a:r>
          </a:p>
          <a:p>
            <a:pPr algn="l">
              <a:lnSpc>
                <a:spcPts val="2939"/>
              </a:lnSpc>
              <a:spcBef>
                <a:spcPct val="0"/>
              </a:spcBef>
            </a:pPr>
            <a:r>
              <a:rPr lang="en-US" sz="2099" spc="-41">
                <a:solidFill>
                  <a:srgbClr val="FFFFFF"/>
                </a:solidFill>
                <a:latin typeface="Inter"/>
                <a:ea typeface="Inter"/>
                <a:cs typeface="Inter"/>
                <a:sym typeface="Inter"/>
              </a:rPr>
              <a:t> Convert the first row into column headers:</a:t>
            </a:r>
          </a:p>
          <a:p>
            <a:pPr algn="l">
              <a:lnSpc>
                <a:spcPts val="2939"/>
              </a:lnSpc>
              <a:spcBef>
                <a:spcPct val="0"/>
              </a:spcBef>
            </a:pPr>
            <a:r>
              <a:rPr lang="en-US" sz="2099" spc="-41">
                <a:solidFill>
                  <a:srgbClr val="FFFFFF"/>
                </a:solidFill>
                <a:latin typeface="Inter"/>
                <a:ea typeface="Inter"/>
                <a:cs typeface="Inter"/>
                <a:sym typeface="Inter"/>
              </a:rPr>
              <a:t>RatingID - RatingLevel</a:t>
            </a:r>
          </a:p>
        </p:txBody>
      </p:sp>
      <p:sp>
        <p:nvSpPr>
          <p:cNvPr id="14" name="TextBox 14"/>
          <p:cNvSpPr txBox="1"/>
          <p:nvPr/>
        </p:nvSpPr>
        <p:spPr>
          <a:xfrm>
            <a:off x="9424299" y="7157999"/>
            <a:ext cx="2385893" cy="1108710"/>
          </a:xfrm>
          <a:prstGeom prst="rect">
            <a:avLst/>
          </a:prstGeom>
        </p:spPr>
        <p:txBody>
          <a:bodyPr lIns="0" tIns="0" rIns="0" bIns="0" rtlCol="0" anchor="t">
            <a:spAutoFit/>
          </a:bodyPr>
          <a:lstStyle/>
          <a:p>
            <a:pPr algn="l">
              <a:lnSpc>
                <a:spcPts val="2939"/>
              </a:lnSpc>
              <a:spcBef>
                <a:spcPct val="0"/>
              </a:spcBef>
            </a:pPr>
            <a:r>
              <a:rPr lang="en-US" sz="2099" spc="-41">
                <a:solidFill>
                  <a:srgbClr val="FFFFFF"/>
                </a:solidFill>
                <a:latin typeface="Inter"/>
                <a:ea typeface="Inter"/>
                <a:cs typeface="Inter"/>
                <a:sym typeface="Inter"/>
              </a:rPr>
              <a:t>2️⃣ Changed Type</a:t>
            </a:r>
          </a:p>
          <a:p>
            <a:pPr algn="l">
              <a:lnSpc>
                <a:spcPts val="2939"/>
              </a:lnSpc>
              <a:spcBef>
                <a:spcPct val="0"/>
              </a:spcBef>
            </a:pPr>
            <a:r>
              <a:rPr lang="en-US" sz="2099" spc="-41">
                <a:solidFill>
                  <a:srgbClr val="FFFFFF"/>
                </a:solidFill>
                <a:latin typeface="Inter"/>
                <a:ea typeface="Inter"/>
                <a:cs typeface="Inter"/>
                <a:sym typeface="Inter"/>
              </a:rPr>
              <a:t>RatingID → Number</a:t>
            </a:r>
          </a:p>
          <a:p>
            <a:pPr algn="l">
              <a:lnSpc>
                <a:spcPts val="2939"/>
              </a:lnSpc>
              <a:spcBef>
                <a:spcPct val="0"/>
              </a:spcBef>
            </a:pPr>
            <a:r>
              <a:rPr lang="en-US" sz="2099" spc="-41">
                <a:solidFill>
                  <a:srgbClr val="FFFFFF"/>
                </a:solidFill>
                <a:latin typeface="Inter"/>
                <a:ea typeface="Inter"/>
                <a:cs typeface="Inter"/>
                <a:sym typeface="Inter"/>
              </a:rPr>
              <a:t>RatingLevel → Text</a:t>
            </a:r>
          </a:p>
        </p:txBody>
      </p:sp>
    </p:spTree>
  </p:cSld>
  <p:clrMapOvr>
    <a:masterClrMapping/>
  </p:clrMapOvr>
  <p:transition>
    <p:wipe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8" name="Group 8"/>
          <p:cNvGrpSpPr/>
          <p:nvPr/>
        </p:nvGrpSpPr>
        <p:grpSpPr>
          <a:xfrm>
            <a:off x="1028700" y="416438"/>
            <a:ext cx="7103961" cy="1224523"/>
            <a:chOff x="0" y="0"/>
            <a:chExt cx="1871002" cy="322508"/>
          </a:xfrm>
        </p:grpSpPr>
        <p:sp>
          <p:nvSpPr>
            <p:cNvPr id="9" name="Freeform 9"/>
            <p:cNvSpPr/>
            <p:nvPr/>
          </p:nvSpPr>
          <p:spPr>
            <a:xfrm>
              <a:off x="0" y="0"/>
              <a:ext cx="1871002" cy="322508"/>
            </a:xfrm>
            <a:custGeom>
              <a:avLst/>
              <a:gdLst/>
              <a:ahLst/>
              <a:cxnLst/>
              <a:rect l="l" t="t" r="r" b="b"/>
              <a:pathLst>
                <a:path w="1871002" h="322508">
                  <a:moveTo>
                    <a:pt x="45772" y="0"/>
                  </a:moveTo>
                  <a:lnTo>
                    <a:pt x="1825230" y="0"/>
                  </a:lnTo>
                  <a:cubicBezTo>
                    <a:pt x="1837370" y="0"/>
                    <a:pt x="1849012" y="4822"/>
                    <a:pt x="1857596" y="13406"/>
                  </a:cubicBezTo>
                  <a:cubicBezTo>
                    <a:pt x="1866180" y="21990"/>
                    <a:pt x="1871002" y="33632"/>
                    <a:pt x="1871002" y="45772"/>
                  </a:cubicBezTo>
                  <a:lnTo>
                    <a:pt x="1871002" y="276736"/>
                  </a:lnTo>
                  <a:cubicBezTo>
                    <a:pt x="1871002" y="302015"/>
                    <a:pt x="1850509" y="322508"/>
                    <a:pt x="1825230" y="322508"/>
                  </a:cubicBezTo>
                  <a:lnTo>
                    <a:pt x="45772" y="322508"/>
                  </a:lnTo>
                  <a:cubicBezTo>
                    <a:pt x="20493" y="322508"/>
                    <a:pt x="0" y="302015"/>
                    <a:pt x="0" y="276736"/>
                  </a:cubicBezTo>
                  <a:lnTo>
                    <a:pt x="0" y="45772"/>
                  </a:lnTo>
                  <a:cubicBezTo>
                    <a:pt x="0" y="20493"/>
                    <a:pt x="20493" y="0"/>
                    <a:pt x="45772"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0" name="TextBox 10"/>
            <p:cNvSpPr txBox="1"/>
            <p:nvPr/>
          </p:nvSpPr>
          <p:spPr>
            <a:xfrm>
              <a:off x="0" y="-57150"/>
              <a:ext cx="1871002" cy="379658"/>
            </a:xfrm>
            <a:prstGeom prst="rect">
              <a:avLst/>
            </a:prstGeom>
          </p:spPr>
          <p:txBody>
            <a:bodyPr lIns="50800" tIns="50800" rIns="50800" bIns="50800" rtlCol="0" anchor="ctr"/>
            <a:lstStyle/>
            <a:p>
              <a:pPr marL="0" lvl="0" indent="0" algn="ctr">
                <a:lnSpc>
                  <a:spcPts val="4199"/>
                </a:lnSpc>
                <a:spcBef>
                  <a:spcPct val="0"/>
                </a:spcBef>
              </a:pPr>
              <a:r>
                <a:rPr lang="en-US" sz="2999" u="none" strike="noStrike" spc="-59">
                  <a:solidFill>
                    <a:srgbClr val="FFFFFF">
                      <a:alpha val="89804"/>
                    </a:srgbClr>
                  </a:solidFill>
                  <a:latin typeface="Inter"/>
                  <a:ea typeface="Inter"/>
                  <a:cs typeface="Inter"/>
                  <a:sym typeface="Inter"/>
                </a:rPr>
                <a:t>ETL Phase (Extract – Transform – Load)</a:t>
              </a:r>
            </a:p>
          </p:txBody>
        </p:sp>
      </p:grpSp>
      <p:sp>
        <p:nvSpPr>
          <p:cNvPr id="11" name="Freeform 11"/>
          <p:cNvSpPr/>
          <p:nvPr/>
        </p:nvSpPr>
        <p:spPr>
          <a:xfrm>
            <a:off x="4009300" y="2003892"/>
            <a:ext cx="10269399" cy="4200706"/>
          </a:xfrm>
          <a:custGeom>
            <a:avLst/>
            <a:gdLst/>
            <a:ahLst/>
            <a:cxnLst/>
            <a:rect l="l" t="t" r="r" b="b"/>
            <a:pathLst>
              <a:path w="10269399" h="4200706">
                <a:moveTo>
                  <a:pt x="0" y="0"/>
                </a:moveTo>
                <a:lnTo>
                  <a:pt x="10269400" y="0"/>
                </a:lnTo>
                <a:lnTo>
                  <a:pt x="10269400" y="4200706"/>
                </a:lnTo>
                <a:lnTo>
                  <a:pt x="0" y="4200706"/>
                </a:lnTo>
                <a:lnTo>
                  <a:pt x="0" y="0"/>
                </a:lnTo>
                <a:close/>
              </a:path>
            </a:pathLst>
          </a:custGeom>
          <a:blipFill>
            <a:blip r:embed="rId8"/>
            <a:stretch>
              <a:fillRect t="-1849" b="-1849"/>
            </a:stretch>
          </a:blipFill>
        </p:spPr>
        <p:txBody>
          <a:bodyPr/>
          <a:lstStyle/>
          <a:p>
            <a:endParaRPr lang="ar-EG"/>
          </a:p>
        </p:txBody>
      </p:sp>
      <p:sp>
        <p:nvSpPr>
          <p:cNvPr id="12" name="TextBox 12"/>
          <p:cNvSpPr txBox="1"/>
          <p:nvPr/>
        </p:nvSpPr>
        <p:spPr>
          <a:xfrm>
            <a:off x="4208675" y="6519903"/>
            <a:ext cx="4443889" cy="38925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Satisfied Level Table – ETL Steps:</a:t>
            </a:r>
          </a:p>
        </p:txBody>
      </p:sp>
      <p:sp>
        <p:nvSpPr>
          <p:cNvPr id="13" name="TextBox 13"/>
          <p:cNvSpPr txBox="1"/>
          <p:nvPr/>
        </p:nvSpPr>
        <p:spPr>
          <a:xfrm>
            <a:off x="4142676" y="7357278"/>
            <a:ext cx="5172194" cy="1851660"/>
          </a:xfrm>
          <a:prstGeom prst="rect">
            <a:avLst/>
          </a:prstGeom>
        </p:spPr>
        <p:txBody>
          <a:bodyPr lIns="0" tIns="0" rIns="0" bIns="0" rtlCol="0" anchor="t">
            <a:spAutoFit/>
          </a:bodyPr>
          <a:lstStyle/>
          <a:p>
            <a:pPr algn="l">
              <a:lnSpc>
                <a:spcPts val="2939"/>
              </a:lnSpc>
              <a:spcBef>
                <a:spcPct val="0"/>
              </a:spcBef>
            </a:pPr>
            <a:r>
              <a:rPr lang="en-US" sz="2099" spc="-41" dirty="0">
                <a:solidFill>
                  <a:srgbClr val="FFFFFF"/>
                </a:solidFill>
                <a:latin typeface="Inter"/>
                <a:ea typeface="Inter"/>
                <a:cs typeface="Inter"/>
                <a:sym typeface="Inter"/>
              </a:rPr>
              <a:t>1️⃣  Promoted Headers</a:t>
            </a:r>
          </a:p>
          <a:p>
            <a:pPr algn="l">
              <a:lnSpc>
                <a:spcPts val="2939"/>
              </a:lnSpc>
              <a:spcBef>
                <a:spcPct val="0"/>
              </a:spcBef>
            </a:pPr>
            <a:r>
              <a:rPr lang="en-US" sz="2099" spc="-41" dirty="0">
                <a:solidFill>
                  <a:srgbClr val="FFFFFF"/>
                </a:solidFill>
                <a:latin typeface="Inter"/>
                <a:ea typeface="Inter"/>
                <a:cs typeface="Inter"/>
                <a:sym typeface="Inter"/>
              </a:rPr>
              <a:t> Convert the first row into column headers.</a:t>
            </a:r>
          </a:p>
          <a:p>
            <a:pPr algn="l">
              <a:lnSpc>
                <a:spcPts val="2939"/>
              </a:lnSpc>
              <a:spcBef>
                <a:spcPct val="0"/>
              </a:spcBef>
            </a:pPr>
            <a:r>
              <a:rPr lang="en-US" sz="2099" spc="-41" dirty="0">
                <a:solidFill>
                  <a:srgbClr val="FFFFFF"/>
                </a:solidFill>
                <a:latin typeface="Inter"/>
                <a:ea typeface="Inter"/>
                <a:cs typeface="Inter"/>
                <a:sym typeface="Inter"/>
              </a:rPr>
              <a:t> The columns become:</a:t>
            </a:r>
          </a:p>
          <a:p>
            <a:pPr algn="l">
              <a:lnSpc>
                <a:spcPts val="2939"/>
              </a:lnSpc>
              <a:spcBef>
                <a:spcPct val="0"/>
              </a:spcBef>
            </a:pPr>
            <a:r>
              <a:rPr lang="en-US" sz="2099" spc="-41" dirty="0" err="1">
                <a:solidFill>
                  <a:srgbClr val="FFFFFF"/>
                </a:solidFill>
                <a:latin typeface="Inter"/>
                <a:ea typeface="Inter"/>
                <a:cs typeface="Inter"/>
                <a:sym typeface="Inter"/>
              </a:rPr>
              <a:t>SatisfactionID</a:t>
            </a:r>
            <a:endParaRPr lang="en-US" sz="2099" spc="-41" dirty="0">
              <a:solidFill>
                <a:srgbClr val="FFFFFF"/>
              </a:solidFill>
              <a:latin typeface="Inter"/>
              <a:ea typeface="Inter"/>
              <a:cs typeface="Inter"/>
              <a:sym typeface="Inter"/>
            </a:endParaRPr>
          </a:p>
          <a:p>
            <a:pPr algn="l">
              <a:lnSpc>
                <a:spcPts val="2939"/>
              </a:lnSpc>
              <a:spcBef>
                <a:spcPct val="0"/>
              </a:spcBef>
            </a:pPr>
            <a:r>
              <a:rPr lang="en-US" sz="2099" spc="-41" dirty="0" err="1">
                <a:solidFill>
                  <a:srgbClr val="FFFFFF"/>
                </a:solidFill>
                <a:latin typeface="Inter"/>
                <a:ea typeface="Inter"/>
                <a:cs typeface="Inter"/>
                <a:sym typeface="Inter"/>
              </a:rPr>
              <a:t>SatisfactionLevel</a:t>
            </a:r>
            <a:endParaRPr lang="en-US" sz="2099" spc="-41" dirty="0">
              <a:solidFill>
                <a:srgbClr val="FFFFFF"/>
              </a:solidFill>
              <a:latin typeface="Inter"/>
              <a:ea typeface="Inter"/>
              <a:cs typeface="Inter"/>
              <a:sym typeface="Inter"/>
            </a:endParaRPr>
          </a:p>
        </p:txBody>
      </p:sp>
      <p:sp>
        <p:nvSpPr>
          <p:cNvPr id="14" name="TextBox 14"/>
          <p:cNvSpPr txBox="1"/>
          <p:nvPr/>
        </p:nvSpPr>
        <p:spPr>
          <a:xfrm>
            <a:off x="9490719" y="7357278"/>
            <a:ext cx="4787980" cy="1480185"/>
          </a:xfrm>
          <a:prstGeom prst="rect">
            <a:avLst/>
          </a:prstGeom>
        </p:spPr>
        <p:txBody>
          <a:bodyPr lIns="0" tIns="0" rIns="0" bIns="0" rtlCol="0" anchor="t">
            <a:spAutoFit/>
          </a:bodyPr>
          <a:lstStyle/>
          <a:p>
            <a:pPr algn="l">
              <a:lnSpc>
                <a:spcPts val="2939"/>
              </a:lnSpc>
              <a:spcBef>
                <a:spcPct val="0"/>
              </a:spcBef>
            </a:pPr>
            <a:r>
              <a:rPr lang="en-US" sz="2099" spc="-41" dirty="0">
                <a:solidFill>
                  <a:srgbClr val="FFFFFF"/>
                </a:solidFill>
                <a:latin typeface="Inter"/>
                <a:ea typeface="Inter"/>
                <a:cs typeface="Inter"/>
                <a:sym typeface="Inter"/>
              </a:rPr>
              <a:t>2️⃣ Changed Type</a:t>
            </a:r>
          </a:p>
          <a:p>
            <a:pPr algn="l">
              <a:lnSpc>
                <a:spcPts val="2939"/>
              </a:lnSpc>
              <a:spcBef>
                <a:spcPct val="0"/>
              </a:spcBef>
            </a:pPr>
            <a:r>
              <a:rPr lang="en-US" sz="2099" spc="-41" dirty="0">
                <a:solidFill>
                  <a:srgbClr val="FFFFFF"/>
                </a:solidFill>
                <a:latin typeface="Inter"/>
                <a:ea typeface="Inter"/>
                <a:cs typeface="Inter"/>
                <a:sym typeface="Inter"/>
              </a:rPr>
              <a:t> Change the data type for each column:</a:t>
            </a:r>
          </a:p>
          <a:p>
            <a:pPr algn="l">
              <a:lnSpc>
                <a:spcPts val="2939"/>
              </a:lnSpc>
              <a:spcBef>
                <a:spcPct val="0"/>
              </a:spcBef>
            </a:pPr>
            <a:r>
              <a:rPr lang="en-US" sz="2099" spc="-41" dirty="0" err="1">
                <a:solidFill>
                  <a:srgbClr val="FFFFFF"/>
                </a:solidFill>
                <a:latin typeface="Inter"/>
                <a:ea typeface="Inter"/>
                <a:cs typeface="Inter"/>
                <a:sym typeface="Inter"/>
              </a:rPr>
              <a:t>SatisfactionID</a:t>
            </a:r>
            <a:r>
              <a:rPr lang="en-US" sz="2099" spc="-41" dirty="0">
                <a:solidFill>
                  <a:srgbClr val="FFFFFF"/>
                </a:solidFill>
                <a:latin typeface="Inter"/>
                <a:ea typeface="Inter"/>
                <a:cs typeface="Inter"/>
                <a:sym typeface="Inter"/>
              </a:rPr>
              <a:t> → Number (Int64)</a:t>
            </a:r>
          </a:p>
          <a:p>
            <a:pPr algn="l">
              <a:lnSpc>
                <a:spcPts val="2939"/>
              </a:lnSpc>
              <a:spcBef>
                <a:spcPct val="0"/>
              </a:spcBef>
            </a:pPr>
            <a:r>
              <a:rPr lang="en-US" sz="2099" spc="-41" dirty="0" err="1">
                <a:solidFill>
                  <a:srgbClr val="FFFFFF"/>
                </a:solidFill>
                <a:latin typeface="Inter"/>
                <a:ea typeface="Inter"/>
                <a:cs typeface="Inter"/>
                <a:sym typeface="Inter"/>
              </a:rPr>
              <a:t>SatisfactionLevel</a:t>
            </a:r>
            <a:r>
              <a:rPr lang="en-US" sz="2099" spc="-41" dirty="0">
                <a:solidFill>
                  <a:srgbClr val="FFFFFF"/>
                </a:solidFill>
                <a:latin typeface="Inter"/>
                <a:ea typeface="Inter"/>
                <a:cs typeface="Inter"/>
                <a:sym typeface="Inter"/>
              </a:rPr>
              <a:t> → Text</a:t>
            </a:r>
          </a:p>
        </p:txBody>
      </p:sp>
    </p:spTree>
  </p:cSld>
  <p:clrMapOvr>
    <a:masterClrMapping/>
  </p:clrMapOvr>
  <p:transition>
    <p:wipe dir="u"/>
  </p:transition>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8" name="Group 8"/>
          <p:cNvGrpSpPr/>
          <p:nvPr/>
        </p:nvGrpSpPr>
        <p:grpSpPr>
          <a:xfrm>
            <a:off x="1028700" y="421961"/>
            <a:ext cx="9353904" cy="877168"/>
            <a:chOff x="0" y="0"/>
            <a:chExt cx="2463580" cy="231024"/>
          </a:xfrm>
        </p:grpSpPr>
        <p:sp>
          <p:nvSpPr>
            <p:cNvPr id="9" name="Freeform 9"/>
            <p:cNvSpPr/>
            <p:nvPr/>
          </p:nvSpPr>
          <p:spPr>
            <a:xfrm>
              <a:off x="0" y="0"/>
              <a:ext cx="2463579" cy="231024"/>
            </a:xfrm>
            <a:custGeom>
              <a:avLst/>
              <a:gdLst/>
              <a:ahLst/>
              <a:cxnLst/>
              <a:rect l="l" t="t" r="r" b="b"/>
              <a:pathLst>
                <a:path w="2463579" h="231024">
                  <a:moveTo>
                    <a:pt x="34762" y="0"/>
                  </a:moveTo>
                  <a:lnTo>
                    <a:pt x="2428817" y="0"/>
                  </a:lnTo>
                  <a:cubicBezTo>
                    <a:pt x="2438037" y="0"/>
                    <a:pt x="2446879" y="3662"/>
                    <a:pt x="2453398" y="10182"/>
                  </a:cubicBezTo>
                  <a:cubicBezTo>
                    <a:pt x="2459917" y="16701"/>
                    <a:pt x="2463579" y="25543"/>
                    <a:pt x="2463579" y="34762"/>
                  </a:cubicBezTo>
                  <a:lnTo>
                    <a:pt x="2463579" y="196262"/>
                  </a:lnTo>
                  <a:cubicBezTo>
                    <a:pt x="2463579" y="205481"/>
                    <a:pt x="2459917" y="214323"/>
                    <a:pt x="2453398" y="220842"/>
                  </a:cubicBezTo>
                  <a:cubicBezTo>
                    <a:pt x="2446879" y="227361"/>
                    <a:pt x="2438037" y="231024"/>
                    <a:pt x="2428817" y="231024"/>
                  </a:cubicBezTo>
                  <a:lnTo>
                    <a:pt x="34762" y="231024"/>
                  </a:lnTo>
                  <a:cubicBezTo>
                    <a:pt x="25543" y="231024"/>
                    <a:pt x="16701" y="227361"/>
                    <a:pt x="10182" y="220842"/>
                  </a:cubicBezTo>
                  <a:cubicBezTo>
                    <a:pt x="3662" y="214323"/>
                    <a:pt x="0" y="205481"/>
                    <a:pt x="0" y="196262"/>
                  </a:cubicBezTo>
                  <a:lnTo>
                    <a:pt x="0" y="34762"/>
                  </a:lnTo>
                  <a:cubicBezTo>
                    <a:pt x="0" y="25543"/>
                    <a:pt x="3662" y="16701"/>
                    <a:pt x="10182" y="10182"/>
                  </a:cubicBezTo>
                  <a:cubicBezTo>
                    <a:pt x="16701" y="3662"/>
                    <a:pt x="25543" y="0"/>
                    <a:pt x="34762"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0" name="TextBox 10"/>
            <p:cNvSpPr txBox="1"/>
            <p:nvPr/>
          </p:nvSpPr>
          <p:spPr>
            <a:xfrm>
              <a:off x="0" y="-57150"/>
              <a:ext cx="2463580" cy="288174"/>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Data Modeling Phase - Build</a:t>
              </a:r>
              <a:r>
                <a:rPr lang="en-US" sz="2999" u="none" strike="noStrike" spc="-59">
                  <a:solidFill>
                    <a:srgbClr val="FFFFFF">
                      <a:alpha val="89804"/>
                    </a:srgbClr>
                  </a:solidFill>
                  <a:latin typeface="Inter"/>
                  <a:ea typeface="Inter"/>
                  <a:cs typeface="Inter"/>
                  <a:sym typeface="Inter"/>
                </a:rPr>
                <a:t> the Star Schema model</a:t>
              </a:r>
            </a:p>
          </p:txBody>
        </p:sp>
      </p:grpSp>
      <p:sp>
        <p:nvSpPr>
          <p:cNvPr id="11" name="Freeform 11"/>
          <p:cNvSpPr/>
          <p:nvPr/>
        </p:nvSpPr>
        <p:spPr>
          <a:xfrm>
            <a:off x="2289690" y="2202357"/>
            <a:ext cx="14047137" cy="5977261"/>
          </a:xfrm>
          <a:custGeom>
            <a:avLst/>
            <a:gdLst/>
            <a:ahLst/>
            <a:cxnLst/>
            <a:rect l="l" t="t" r="r" b="b"/>
            <a:pathLst>
              <a:path w="14047137" h="5977261">
                <a:moveTo>
                  <a:pt x="0" y="0"/>
                </a:moveTo>
                <a:lnTo>
                  <a:pt x="14047137" y="0"/>
                </a:lnTo>
                <a:lnTo>
                  <a:pt x="14047137" y="5977261"/>
                </a:lnTo>
                <a:lnTo>
                  <a:pt x="0" y="5977261"/>
                </a:lnTo>
                <a:lnTo>
                  <a:pt x="0" y="0"/>
                </a:lnTo>
                <a:close/>
              </a:path>
            </a:pathLst>
          </a:custGeom>
          <a:blipFill>
            <a:blip r:embed="rId8"/>
            <a:stretch>
              <a:fillRect t="-6061"/>
            </a:stretch>
          </a:blipFill>
        </p:spPr>
        <p:txBody>
          <a:bodyPr/>
          <a:lstStyle/>
          <a:p>
            <a:endParaRPr lang="ar-EG"/>
          </a:p>
        </p:txBody>
      </p:sp>
      <p:sp>
        <p:nvSpPr>
          <p:cNvPr id="12" name="TextBox 12"/>
          <p:cNvSpPr txBox="1"/>
          <p:nvPr/>
        </p:nvSpPr>
        <p:spPr>
          <a:xfrm>
            <a:off x="6321021" y="8455472"/>
            <a:ext cx="5645957" cy="448311"/>
          </a:xfrm>
          <a:prstGeom prst="rect">
            <a:avLst/>
          </a:prstGeom>
        </p:spPr>
        <p:txBody>
          <a:bodyPr lIns="0" tIns="0" rIns="0" bIns="0" rtlCol="0" anchor="t">
            <a:spAutoFit/>
          </a:bodyPr>
          <a:lstStyle/>
          <a:p>
            <a:pPr algn="l">
              <a:lnSpc>
                <a:spcPts val="3639"/>
              </a:lnSpc>
              <a:spcBef>
                <a:spcPct val="0"/>
              </a:spcBef>
            </a:pPr>
            <a:r>
              <a:rPr lang="en-US" sz="2599" spc="-51">
                <a:solidFill>
                  <a:srgbClr val="FFFFFF"/>
                </a:solidFill>
                <a:latin typeface="Inter"/>
                <a:ea typeface="Inter"/>
                <a:cs typeface="Inter"/>
                <a:sym typeface="Inter"/>
              </a:rPr>
              <a:t>🔗 Relationships in the Star Schema</a:t>
            </a:r>
          </a:p>
        </p:txBody>
      </p:sp>
    </p:spTree>
  </p:cSld>
  <p:clrMapOvr>
    <a:masterClrMapping/>
  </p:clrMapOvr>
  <p:transition>
    <p:wipe dir="u"/>
  </p:transition>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902051" y="8069478"/>
            <a:ext cx="5861503" cy="3963841"/>
          </a:xfrm>
          <a:custGeom>
            <a:avLst/>
            <a:gdLst/>
            <a:ahLst/>
            <a:cxnLst/>
            <a:rect l="l" t="t" r="r" b="b"/>
            <a:pathLst>
              <a:path w="5861503" h="3963841">
                <a:moveTo>
                  <a:pt x="0" y="0"/>
                </a:moveTo>
                <a:lnTo>
                  <a:pt x="5861502" y="0"/>
                </a:lnTo>
                <a:lnTo>
                  <a:pt x="5861502" y="3963841"/>
                </a:lnTo>
                <a:lnTo>
                  <a:pt x="0" y="3963841"/>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grpSp>
        <p:nvGrpSpPr>
          <p:cNvPr id="7" name="Group 7"/>
          <p:cNvGrpSpPr/>
          <p:nvPr/>
        </p:nvGrpSpPr>
        <p:grpSpPr>
          <a:xfrm>
            <a:off x="1028700" y="416438"/>
            <a:ext cx="7103961" cy="1224523"/>
            <a:chOff x="0" y="0"/>
            <a:chExt cx="1871002" cy="322508"/>
          </a:xfrm>
        </p:grpSpPr>
        <p:sp>
          <p:nvSpPr>
            <p:cNvPr id="8" name="Freeform 8"/>
            <p:cNvSpPr/>
            <p:nvPr/>
          </p:nvSpPr>
          <p:spPr>
            <a:xfrm>
              <a:off x="0" y="0"/>
              <a:ext cx="1871002" cy="322508"/>
            </a:xfrm>
            <a:custGeom>
              <a:avLst/>
              <a:gdLst/>
              <a:ahLst/>
              <a:cxnLst/>
              <a:rect l="l" t="t" r="r" b="b"/>
              <a:pathLst>
                <a:path w="1871002" h="322508">
                  <a:moveTo>
                    <a:pt x="45772" y="0"/>
                  </a:moveTo>
                  <a:lnTo>
                    <a:pt x="1825230" y="0"/>
                  </a:lnTo>
                  <a:cubicBezTo>
                    <a:pt x="1837370" y="0"/>
                    <a:pt x="1849012" y="4822"/>
                    <a:pt x="1857596" y="13406"/>
                  </a:cubicBezTo>
                  <a:cubicBezTo>
                    <a:pt x="1866180" y="21990"/>
                    <a:pt x="1871002" y="33632"/>
                    <a:pt x="1871002" y="45772"/>
                  </a:cubicBezTo>
                  <a:lnTo>
                    <a:pt x="1871002" y="276736"/>
                  </a:lnTo>
                  <a:cubicBezTo>
                    <a:pt x="1871002" y="302015"/>
                    <a:pt x="1850509" y="322508"/>
                    <a:pt x="1825230" y="322508"/>
                  </a:cubicBezTo>
                  <a:lnTo>
                    <a:pt x="45772" y="322508"/>
                  </a:lnTo>
                  <a:cubicBezTo>
                    <a:pt x="20493" y="322508"/>
                    <a:pt x="0" y="302015"/>
                    <a:pt x="0" y="276736"/>
                  </a:cubicBezTo>
                  <a:lnTo>
                    <a:pt x="0" y="45772"/>
                  </a:lnTo>
                  <a:cubicBezTo>
                    <a:pt x="0" y="20493"/>
                    <a:pt x="20493" y="0"/>
                    <a:pt x="45772"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9" name="TextBox 9"/>
            <p:cNvSpPr txBox="1"/>
            <p:nvPr/>
          </p:nvSpPr>
          <p:spPr>
            <a:xfrm>
              <a:off x="0" y="-57150"/>
              <a:ext cx="1871002" cy="379658"/>
            </a:xfrm>
            <a:prstGeom prst="rect">
              <a:avLst/>
            </a:prstGeom>
          </p:spPr>
          <p:txBody>
            <a:bodyPr lIns="50800" tIns="50800" rIns="50800" bIns="50800" rtlCol="0" anchor="ctr"/>
            <a:lstStyle/>
            <a:p>
              <a:pPr marL="0" lvl="0" indent="0" algn="ctr">
                <a:lnSpc>
                  <a:spcPts val="4199"/>
                </a:lnSpc>
                <a:spcBef>
                  <a:spcPct val="0"/>
                </a:spcBef>
              </a:pPr>
              <a:r>
                <a:rPr lang="en-US" sz="2999" u="none" strike="noStrike" spc="-59">
                  <a:solidFill>
                    <a:srgbClr val="FFFFFF">
                      <a:alpha val="89804"/>
                    </a:srgbClr>
                  </a:solidFill>
                  <a:latin typeface="Inter"/>
                  <a:ea typeface="Inter"/>
                  <a:cs typeface="Inter"/>
                  <a:sym typeface="Inter"/>
                </a:rPr>
                <a:t>ETL Phase (Extract – Transform – Load)</a:t>
              </a:r>
            </a:p>
          </p:txBody>
        </p:sp>
      </p:grpSp>
      <p:sp>
        <p:nvSpPr>
          <p:cNvPr id="11" name="TextBox 11"/>
          <p:cNvSpPr txBox="1"/>
          <p:nvPr/>
        </p:nvSpPr>
        <p:spPr>
          <a:xfrm>
            <a:off x="1288578" y="2923489"/>
            <a:ext cx="4526609" cy="78930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Fact Table:</a:t>
            </a:r>
          </a:p>
          <a:p>
            <a:pPr algn="l">
              <a:lnSpc>
                <a:spcPts val="3219"/>
              </a:lnSpc>
              <a:spcBef>
                <a:spcPct val="0"/>
              </a:spcBef>
            </a:pPr>
            <a:r>
              <a:rPr lang="en-US" sz="2299" spc="-45">
                <a:solidFill>
                  <a:srgbClr val="FFFFFF"/>
                </a:solidFill>
                <a:latin typeface="Inter"/>
                <a:ea typeface="Inter"/>
                <a:cs typeface="Inter"/>
                <a:sym typeface="Inter"/>
              </a:rPr>
              <a:t>PerformanceRating</a:t>
            </a:r>
          </a:p>
        </p:txBody>
      </p:sp>
      <p:sp>
        <p:nvSpPr>
          <p:cNvPr id="12" name="TextBox 12"/>
          <p:cNvSpPr txBox="1"/>
          <p:nvPr/>
        </p:nvSpPr>
        <p:spPr>
          <a:xfrm>
            <a:off x="4580680" y="2923489"/>
            <a:ext cx="12418742" cy="789305"/>
          </a:xfrm>
          <a:prstGeom prst="rect">
            <a:avLst/>
          </a:prstGeom>
        </p:spPr>
        <p:txBody>
          <a:bodyPr wrap="square" lIns="0" tIns="0" rIns="0" bIns="0" rtlCol="0" anchor="t">
            <a:spAutoFit/>
          </a:bodyPr>
          <a:lstStyle/>
          <a:p>
            <a:pPr algn="l">
              <a:lnSpc>
                <a:spcPts val="3219"/>
              </a:lnSpc>
              <a:spcBef>
                <a:spcPct val="0"/>
              </a:spcBef>
            </a:pPr>
            <a:r>
              <a:rPr lang="en-US" sz="2299" spc="-45" dirty="0">
                <a:solidFill>
                  <a:srgbClr val="FFFFFF"/>
                </a:solidFill>
                <a:latin typeface="Inter"/>
                <a:ea typeface="Inter"/>
                <a:cs typeface="Inter"/>
                <a:sym typeface="Inter"/>
              </a:rPr>
              <a:t>Dimension Tables:</a:t>
            </a:r>
          </a:p>
          <a:p>
            <a:pPr algn="l">
              <a:lnSpc>
                <a:spcPts val="3219"/>
              </a:lnSpc>
              <a:spcBef>
                <a:spcPct val="0"/>
              </a:spcBef>
            </a:pPr>
            <a:r>
              <a:rPr lang="en-US" sz="2299" spc="-45" dirty="0" err="1">
                <a:solidFill>
                  <a:srgbClr val="FFFFFF"/>
                </a:solidFill>
                <a:latin typeface="Inter"/>
                <a:ea typeface="Inter"/>
                <a:cs typeface="Inter"/>
                <a:sym typeface="Inter"/>
              </a:rPr>
              <a:t>Employee_information</a:t>
            </a:r>
            <a:r>
              <a:rPr lang="en-US" sz="2299" spc="-45" dirty="0">
                <a:solidFill>
                  <a:srgbClr val="FFFFFF"/>
                </a:solidFill>
                <a:latin typeface="Inter"/>
                <a:ea typeface="Inter"/>
                <a:cs typeface="Inter"/>
                <a:sym typeface="Inter"/>
              </a:rPr>
              <a:t> / </a:t>
            </a:r>
            <a:r>
              <a:rPr lang="en-US" sz="2299" spc="-45" dirty="0" err="1">
                <a:solidFill>
                  <a:srgbClr val="FFFFFF"/>
                </a:solidFill>
                <a:latin typeface="Inter"/>
                <a:ea typeface="Inter"/>
                <a:cs typeface="Inter"/>
                <a:sym typeface="Inter"/>
              </a:rPr>
              <a:t>RatingLevel</a:t>
            </a:r>
            <a:r>
              <a:rPr lang="en-US" sz="2299" spc="-45" dirty="0">
                <a:solidFill>
                  <a:srgbClr val="FFFFFF"/>
                </a:solidFill>
                <a:latin typeface="Inter"/>
                <a:ea typeface="Inter"/>
                <a:cs typeface="Inter"/>
                <a:sym typeface="Inter"/>
              </a:rPr>
              <a:t> / </a:t>
            </a:r>
            <a:r>
              <a:rPr lang="en-US" sz="2299" spc="-45" dirty="0" err="1">
                <a:solidFill>
                  <a:srgbClr val="FFFFFF"/>
                </a:solidFill>
                <a:latin typeface="Inter"/>
                <a:ea typeface="Inter"/>
                <a:cs typeface="Inter"/>
                <a:sym typeface="Inter"/>
              </a:rPr>
              <a:t>SatisfiedLevel</a:t>
            </a:r>
            <a:r>
              <a:rPr lang="en-US" sz="2299" spc="-45" dirty="0">
                <a:solidFill>
                  <a:srgbClr val="FFFFFF"/>
                </a:solidFill>
                <a:latin typeface="Inter"/>
                <a:ea typeface="Inter"/>
                <a:cs typeface="Inter"/>
                <a:sym typeface="Inter"/>
              </a:rPr>
              <a:t>/ </a:t>
            </a:r>
            <a:r>
              <a:rPr lang="en-US" sz="2299" spc="-45" dirty="0" err="1">
                <a:solidFill>
                  <a:srgbClr val="FFFFFF"/>
                </a:solidFill>
                <a:latin typeface="Inter"/>
                <a:ea typeface="Inter"/>
                <a:cs typeface="Inter"/>
                <a:sym typeface="Inter"/>
              </a:rPr>
              <a:t>EducationLevel</a:t>
            </a:r>
            <a:endParaRPr lang="en-US" sz="2299" spc="-45" dirty="0">
              <a:solidFill>
                <a:srgbClr val="FFFFFF"/>
              </a:solidFill>
              <a:latin typeface="Inter"/>
              <a:ea typeface="Inter"/>
              <a:cs typeface="Inter"/>
              <a:sym typeface="Inter"/>
            </a:endParaRPr>
          </a:p>
        </p:txBody>
      </p:sp>
      <p:sp>
        <p:nvSpPr>
          <p:cNvPr id="13" name="TextBox 13"/>
          <p:cNvSpPr txBox="1"/>
          <p:nvPr/>
        </p:nvSpPr>
        <p:spPr>
          <a:xfrm>
            <a:off x="1288578" y="1956296"/>
            <a:ext cx="5816879" cy="464821"/>
          </a:xfrm>
          <a:prstGeom prst="rect">
            <a:avLst/>
          </a:prstGeom>
        </p:spPr>
        <p:txBody>
          <a:bodyPr lIns="0" tIns="0" rIns="0" bIns="0" rtlCol="0" anchor="t">
            <a:spAutoFit/>
          </a:bodyPr>
          <a:lstStyle/>
          <a:p>
            <a:pPr algn="l">
              <a:lnSpc>
                <a:spcPts val="3779"/>
              </a:lnSpc>
              <a:spcBef>
                <a:spcPct val="0"/>
              </a:spcBef>
            </a:pPr>
            <a:r>
              <a:rPr lang="en-US" sz="2699" spc="-53">
                <a:solidFill>
                  <a:srgbClr val="FFFFFF"/>
                </a:solidFill>
                <a:latin typeface="Inter"/>
                <a:ea typeface="Inter"/>
                <a:cs typeface="Inter"/>
                <a:sym typeface="Inter"/>
              </a:rPr>
              <a:t>🔗 Relationships in the Star Schema</a:t>
            </a:r>
          </a:p>
        </p:txBody>
      </p:sp>
      <p:graphicFrame>
        <p:nvGraphicFramePr>
          <p:cNvPr id="16" name="Table 15">
            <a:extLst>
              <a:ext uri="{FF2B5EF4-FFF2-40B4-BE49-F238E27FC236}">
                <a16:creationId xmlns:a16="http://schemas.microsoft.com/office/drawing/2014/main" id="{06C22007-EBB7-7CC1-0C06-178F95294CC9}"/>
              </a:ext>
            </a:extLst>
          </p:cNvPr>
          <p:cNvGraphicFramePr>
            <a:graphicFrameLocks noGrp="1"/>
          </p:cNvGraphicFramePr>
          <p:nvPr>
            <p:extLst>
              <p:ext uri="{D42A27DB-BD31-4B8C-83A1-F6EECF244321}">
                <p14:modId xmlns:p14="http://schemas.microsoft.com/office/powerpoint/2010/main" val="4141826982"/>
              </p:ext>
            </p:extLst>
          </p:nvPr>
        </p:nvGraphicFramePr>
        <p:xfrm>
          <a:off x="1524000" y="4527053"/>
          <a:ext cx="14249400" cy="4132952"/>
        </p:xfrm>
        <a:graphic>
          <a:graphicData uri="http://schemas.openxmlformats.org/drawingml/2006/table">
            <a:tbl>
              <a:tblPr/>
              <a:tblGrid>
                <a:gridCol w="4749800">
                  <a:extLst>
                    <a:ext uri="{9D8B030D-6E8A-4147-A177-3AD203B41FA5}">
                      <a16:colId xmlns:a16="http://schemas.microsoft.com/office/drawing/2014/main" val="4253849908"/>
                    </a:ext>
                  </a:extLst>
                </a:gridCol>
                <a:gridCol w="4749800">
                  <a:extLst>
                    <a:ext uri="{9D8B030D-6E8A-4147-A177-3AD203B41FA5}">
                      <a16:colId xmlns:a16="http://schemas.microsoft.com/office/drawing/2014/main" val="1092942377"/>
                    </a:ext>
                  </a:extLst>
                </a:gridCol>
                <a:gridCol w="4749800">
                  <a:extLst>
                    <a:ext uri="{9D8B030D-6E8A-4147-A177-3AD203B41FA5}">
                      <a16:colId xmlns:a16="http://schemas.microsoft.com/office/drawing/2014/main" val="3387068766"/>
                    </a:ext>
                  </a:extLst>
                </a:gridCol>
              </a:tblGrid>
              <a:tr h="649369">
                <a:tc>
                  <a:txBody>
                    <a:bodyPr/>
                    <a:lstStyle/>
                    <a:p>
                      <a:pPr algn="ctr">
                        <a:buNone/>
                      </a:pPr>
                      <a:r>
                        <a:rPr lang="af-ZA" sz="2400" b="1">
                          <a:solidFill>
                            <a:srgbClr val="FFFFFF"/>
                          </a:solidFill>
                          <a:effectLst/>
                        </a:rPr>
                        <a:t>From</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tc>
                  <a:txBody>
                    <a:bodyPr/>
                    <a:lstStyle/>
                    <a:p>
                      <a:pPr algn="ctr">
                        <a:buNone/>
                      </a:pPr>
                      <a:r>
                        <a:rPr lang="af-ZA" sz="2400" b="1">
                          <a:solidFill>
                            <a:srgbClr val="FFFFFF"/>
                          </a:solidFill>
                          <a:effectLst/>
                        </a:rPr>
                        <a:t>To</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tc>
                  <a:txBody>
                    <a:bodyPr/>
                    <a:lstStyle/>
                    <a:p>
                      <a:pPr algn="ctr">
                        <a:buNone/>
                      </a:pPr>
                      <a:r>
                        <a:rPr lang="af-ZA" sz="2400" b="1">
                          <a:solidFill>
                            <a:srgbClr val="FFFFFF"/>
                          </a:solidFill>
                          <a:effectLst/>
                        </a:rPr>
                        <a:t>Relationship</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309322007"/>
                  </a:ext>
                </a:extLst>
              </a:tr>
              <a:tr h="649369">
                <a:tc>
                  <a:txBody>
                    <a:bodyPr/>
                    <a:lstStyle/>
                    <a:p>
                      <a:pPr algn="ctr">
                        <a:buNone/>
                      </a:pPr>
                      <a:r>
                        <a:rPr lang="af-ZA" sz="2400" b="1">
                          <a:solidFill>
                            <a:srgbClr val="FFFFFF"/>
                          </a:solidFill>
                          <a:effectLst/>
                        </a:rPr>
                        <a:t>PerformanceRating</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tc>
                  <a:txBody>
                    <a:bodyPr/>
                    <a:lstStyle/>
                    <a:p>
                      <a:pPr algn="ctr">
                        <a:buNone/>
                      </a:pPr>
                      <a:r>
                        <a:rPr lang="af-ZA" sz="2400" b="1">
                          <a:solidFill>
                            <a:srgbClr val="FFFFFF"/>
                          </a:solidFill>
                          <a:effectLst/>
                        </a:rPr>
                        <a:t>d_Employee_information</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tc>
                  <a:txBody>
                    <a:bodyPr/>
                    <a:lstStyle/>
                    <a:p>
                      <a:pPr algn="ctr">
                        <a:buNone/>
                      </a:pPr>
                      <a:r>
                        <a:rPr lang="af-ZA" sz="2400" b="1" dirty="0">
                          <a:solidFill>
                            <a:srgbClr val="FFFFFF"/>
                          </a:solidFill>
                          <a:effectLst/>
                        </a:rPr>
                        <a:t>EmployeeID = EmployeeID</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363061524"/>
                  </a:ext>
                </a:extLst>
              </a:tr>
              <a:tr h="649369">
                <a:tc>
                  <a:txBody>
                    <a:bodyPr/>
                    <a:lstStyle/>
                    <a:p>
                      <a:pPr algn="ctr">
                        <a:buNone/>
                      </a:pPr>
                      <a:r>
                        <a:rPr lang="af-ZA" sz="2400" b="1">
                          <a:solidFill>
                            <a:srgbClr val="FFFFFF"/>
                          </a:solidFill>
                          <a:effectLst/>
                        </a:rPr>
                        <a:t>PerformanceRating</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tc>
                  <a:txBody>
                    <a:bodyPr/>
                    <a:lstStyle/>
                    <a:p>
                      <a:pPr algn="ctr">
                        <a:buNone/>
                      </a:pPr>
                      <a:r>
                        <a:rPr lang="af-ZA" sz="2400" b="1">
                          <a:solidFill>
                            <a:srgbClr val="FFFFFF"/>
                          </a:solidFill>
                          <a:effectLst/>
                        </a:rPr>
                        <a:t>RatingLevel</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tc>
                  <a:txBody>
                    <a:bodyPr/>
                    <a:lstStyle/>
                    <a:p>
                      <a:pPr algn="ctr">
                        <a:buNone/>
                      </a:pPr>
                      <a:r>
                        <a:rPr lang="af-ZA" sz="2400" b="1">
                          <a:solidFill>
                            <a:srgbClr val="FFFFFF"/>
                          </a:solidFill>
                          <a:effectLst/>
                        </a:rPr>
                        <a:t>RatingID = RatingID</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165637671"/>
                  </a:ext>
                </a:extLst>
              </a:tr>
              <a:tr h="712516">
                <a:tc>
                  <a:txBody>
                    <a:bodyPr/>
                    <a:lstStyle/>
                    <a:p>
                      <a:pPr algn="ctr">
                        <a:buNone/>
                      </a:pPr>
                      <a:r>
                        <a:rPr lang="af-ZA" sz="2400" b="1">
                          <a:solidFill>
                            <a:srgbClr val="FFFFFF"/>
                          </a:solidFill>
                          <a:effectLst/>
                        </a:rPr>
                        <a:t>PerformanceRating</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tc>
                  <a:txBody>
                    <a:bodyPr/>
                    <a:lstStyle/>
                    <a:p>
                      <a:pPr algn="ctr">
                        <a:buNone/>
                      </a:pPr>
                      <a:r>
                        <a:rPr lang="af-ZA" sz="2400" b="1">
                          <a:solidFill>
                            <a:srgbClr val="FFFFFF"/>
                          </a:solidFill>
                          <a:effectLst/>
                        </a:rPr>
                        <a:t>D_SatisfiedLevel</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tc>
                  <a:txBody>
                    <a:bodyPr/>
                    <a:lstStyle/>
                    <a:p>
                      <a:pPr algn="ctr">
                        <a:buNone/>
                      </a:pPr>
                      <a:r>
                        <a:rPr lang="af-ZA" sz="2400" b="1">
                          <a:solidFill>
                            <a:srgbClr val="FFFFFF"/>
                          </a:solidFill>
                          <a:effectLst/>
                        </a:rPr>
                        <a:t>SatisfactionID = SatisfactionID</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884227160"/>
                  </a:ext>
                </a:extLst>
              </a:tr>
              <a:tr h="712516">
                <a:tc>
                  <a:txBody>
                    <a:bodyPr/>
                    <a:lstStyle/>
                    <a:p>
                      <a:pPr algn="ctr">
                        <a:buNone/>
                      </a:pPr>
                      <a:r>
                        <a:rPr lang="af-ZA" sz="2400" b="1">
                          <a:solidFill>
                            <a:srgbClr val="FFFFFF"/>
                          </a:solidFill>
                          <a:effectLst/>
                        </a:rPr>
                        <a:t>d_Employee_information</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tc>
                  <a:txBody>
                    <a:bodyPr/>
                    <a:lstStyle/>
                    <a:p>
                      <a:pPr algn="ctr">
                        <a:buNone/>
                      </a:pPr>
                      <a:r>
                        <a:rPr lang="af-ZA" sz="2400" b="1">
                          <a:solidFill>
                            <a:srgbClr val="FFFFFF"/>
                          </a:solidFill>
                          <a:effectLst/>
                        </a:rPr>
                        <a:t>EducationLevel</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tc>
                  <a:txBody>
                    <a:bodyPr/>
                    <a:lstStyle/>
                    <a:p>
                      <a:pPr algn="ctr">
                        <a:buNone/>
                      </a:pPr>
                      <a:r>
                        <a:rPr lang="af-ZA" sz="2400" b="1">
                          <a:solidFill>
                            <a:srgbClr val="FFFFFF"/>
                          </a:solidFill>
                          <a:effectLst/>
                        </a:rPr>
                        <a:t>EducationLevelID = EducationLevelID</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5143100"/>
                  </a:ext>
                </a:extLst>
              </a:tr>
              <a:tr h="649369">
                <a:tc>
                  <a:txBody>
                    <a:bodyPr/>
                    <a:lstStyle/>
                    <a:p>
                      <a:pPr algn="ctr">
                        <a:buNone/>
                      </a:pPr>
                      <a:r>
                        <a:rPr lang="af-ZA" sz="2400" b="1">
                          <a:solidFill>
                            <a:srgbClr val="FFFFFF"/>
                          </a:solidFill>
                          <a:effectLst/>
                        </a:rPr>
                        <a:t>PerformanceRating</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tc>
                  <a:txBody>
                    <a:bodyPr/>
                    <a:lstStyle/>
                    <a:p>
                      <a:pPr algn="ctr">
                        <a:buNone/>
                      </a:pPr>
                      <a:r>
                        <a:rPr lang="af-ZA" sz="2400" b="1">
                          <a:solidFill>
                            <a:srgbClr val="FFFFFF"/>
                          </a:solidFill>
                          <a:effectLst/>
                        </a:rPr>
                        <a:t>Calendar</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tc>
                  <a:txBody>
                    <a:bodyPr/>
                    <a:lstStyle/>
                    <a:p>
                      <a:pPr algn="ctr">
                        <a:buNone/>
                      </a:pPr>
                      <a:r>
                        <a:rPr lang="af-ZA" sz="2400" b="1" dirty="0">
                          <a:solidFill>
                            <a:srgbClr val="FFFFFF"/>
                          </a:solidFill>
                          <a:effectLst/>
                        </a:rPr>
                        <a:t>ReviewDate = Date</a:t>
                      </a:r>
                    </a:p>
                  </a:txBody>
                  <a:tcPr anchor="ct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853355929"/>
                  </a:ext>
                </a:extLst>
              </a:tr>
            </a:tbl>
          </a:graphicData>
        </a:graphic>
      </p:graphicFrame>
      <p:sp>
        <p:nvSpPr>
          <p:cNvPr id="17" name="Rectangle 2">
            <a:extLst>
              <a:ext uri="{FF2B5EF4-FFF2-40B4-BE49-F238E27FC236}">
                <a16:creationId xmlns:a16="http://schemas.microsoft.com/office/drawing/2014/main" id="{07A90BCD-12CA-7A94-9389-713A0ECA0DFD}"/>
              </a:ext>
            </a:extLst>
          </p:cNvPr>
          <p:cNvSpPr>
            <a:spLocks noChangeArrowheads="1"/>
          </p:cNvSpPr>
          <p:nvPr/>
        </p:nvSpPr>
        <p:spPr bwMode="auto">
          <a:xfrm>
            <a:off x="1523999" y="4527739"/>
            <a:ext cx="30818667"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ar-EG"/>
          </a:p>
        </p:txBody>
      </p:sp>
    </p:spTree>
  </p:cSld>
  <p:clrMapOvr>
    <a:masterClrMapping/>
  </p:clrMapOvr>
  <p:transition>
    <p:wipe dir="u"/>
  </p:transition>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8" name="Group 8"/>
          <p:cNvGrpSpPr/>
          <p:nvPr/>
        </p:nvGrpSpPr>
        <p:grpSpPr>
          <a:xfrm>
            <a:off x="1028700" y="403829"/>
            <a:ext cx="9353904" cy="877168"/>
            <a:chOff x="0" y="0"/>
            <a:chExt cx="2463580" cy="231024"/>
          </a:xfrm>
        </p:grpSpPr>
        <p:sp>
          <p:nvSpPr>
            <p:cNvPr id="9" name="Freeform 9"/>
            <p:cNvSpPr/>
            <p:nvPr/>
          </p:nvSpPr>
          <p:spPr>
            <a:xfrm>
              <a:off x="0" y="0"/>
              <a:ext cx="2463579" cy="231024"/>
            </a:xfrm>
            <a:custGeom>
              <a:avLst/>
              <a:gdLst/>
              <a:ahLst/>
              <a:cxnLst/>
              <a:rect l="l" t="t" r="r" b="b"/>
              <a:pathLst>
                <a:path w="2463579" h="231024">
                  <a:moveTo>
                    <a:pt x="34762" y="0"/>
                  </a:moveTo>
                  <a:lnTo>
                    <a:pt x="2428817" y="0"/>
                  </a:lnTo>
                  <a:cubicBezTo>
                    <a:pt x="2438037" y="0"/>
                    <a:pt x="2446879" y="3662"/>
                    <a:pt x="2453398" y="10182"/>
                  </a:cubicBezTo>
                  <a:cubicBezTo>
                    <a:pt x="2459917" y="16701"/>
                    <a:pt x="2463579" y="25543"/>
                    <a:pt x="2463579" y="34762"/>
                  </a:cubicBezTo>
                  <a:lnTo>
                    <a:pt x="2463579" y="196262"/>
                  </a:lnTo>
                  <a:cubicBezTo>
                    <a:pt x="2463579" y="205481"/>
                    <a:pt x="2459917" y="214323"/>
                    <a:pt x="2453398" y="220842"/>
                  </a:cubicBezTo>
                  <a:cubicBezTo>
                    <a:pt x="2446879" y="227361"/>
                    <a:pt x="2438037" y="231024"/>
                    <a:pt x="2428817" y="231024"/>
                  </a:cubicBezTo>
                  <a:lnTo>
                    <a:pt x="34762" y="231024"/>
                  </a:lnTo>
                  <a:cubicBezTo>
                    <a:pt x="25543" y="231024"/>
                    <a:pt x="16701" y="227361"/>
                    <a:pt x="10182" y="220842"/>
                  </a:cubicBezTo>
                  <a:cubicBezTo>
                    <a:pt x="3662" y="214323"/>
                    <a:pt x="0" y="205481"/>
                    <a:pt x="0" y="196262"/>
                  </a:cubicBezTo>
                  <a:lnTo>
                    <a:pt x="0" y="34762"/>
                  </a:lnTo>
                  <a:cubicBezTo>
                    <a:pt x="0" y="25543"/>
                    <a:pt x="3662" y="16701"/>
                    <a:pt x="10182" y="10182"/>
                  </a:cubicBezTo>
                  <a:cubicBezTo>
                    <a:pt x="16701" y="3662"/>
                    <a:pt x="25543" y="0"/>
                    <a:pt x="34762"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0" name="TextBox 10"/>
            <p:cNvSpPr txBox="1"/>
            <p:nvPr/>
          </p:nvSpPr>
          <p:spPr>
            <a:xfrm>
              <a:off x="0" y="-57150"/>
              <a:ext cx="2463580" cy="288174"/>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Data Modeling Phase - Crea</a:t>
              </a:r>
              <a:r>
                <a:rPr lang="en-US" sz="2999" u="none" strike="noStrike" spc="-59">
                  <a:solidFill>
                    <a:srgbClr val="FFFFFF">
                      <a:alpha val="89804"/>
                    </a:srgbClr>
                  </a:solidFill>
                  <a:latin typeface="Inter"/>
                  <a:ea typeface="Inter"/>
                  <a:cs typeface="Inter"/>
                  <a:sym typeface="Inter"/>
                </a:rPr>
                <a:t>te Measures using DAX</a:t>
              </a:r>
            </a:p>
          </p:txBody>
        </p:sp>
      </p:grpSp>
      <p:sp>
        <p:nvSpPr>
          <p:cNvPr id="11" name="TextBox 11"/>
          <p:cNvSpPr txBox="1"/>
          <p:nvPr/>
        </p:nvSpPr>
        <p:spPr>
          <a:xfrm>
            <a:off x="1288578" y="2056675"/>
            <a:ext cx="3453051" cy="504826"/>
          </a:xfrm>
          <a:prstGeom prst="rect">
            <a:avLst/>
          </a:prstGeom>
        </p:spPr>
        <p:txBody>
          <a:bodyPr lIns="0" tIns="0" rIns="0" bIns="0" rtlCol="0" anchor="t">
            <a:spAutoFit/>
          </a:bodyPr>
          <a:lstStyle/>
          <a:p>
            <a:pPr algn="ctr">
              <a:lnSpc>
                <a:spcPts val="4199"/>
              </a:lnSpc>
              <a:spcBef>
                <a:spcPct val="0"/>
              </a:spcBef>
            </a:pPr>
            <a:r>
              <a:rPr lang="en-US" sz="2999" spc="-59">
                <a:solidFill>
                  <a:srgbClr val="FFFFFF"/>
                </a:solidFill>
                <a:latin typeface="Inter"/>
                <a:ea typeface="Inter"/>
                <a:cs typeface="Inter"/>
                <a:sym typeface="Inter"/>
              </a:rPr>
              <a:t>Measures Summary</a:t>
            </a:r>
          </a:p>
        </p:txBody>
      </p:sp>
      <p:sp>
        <p:nvSpPr>
          <p:cNvPr id="12" name="TextBox 12"/>
          <p:cNvSpPr txBox="1"/>
          <p:nvPr/>
        </p:nvSpPr>
        <p:spPr>
          <a:xfrm>
            <a:off x="1288578" y="2718382"/>
            <a:ext cx="15586323" cy="639000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1. Males Expression: COUNTROWS(FILTER('d_Employee_iformation', d_Employee_iformation[Gender] = "Male")) Purpose: Counts the number of male employees. </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2. females Expression: COUNTROWS(FILTER('d_Employee_iformation', d_Employee_iformation[Gender] = "Female")) Purpose: Counts the number of female employees. </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3. total salary Expression: SUM(d_Employee_Information [Salary]) Purpose: Calculates the total salary for all employees. </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4. Active_Employees Expression: CALCULATE(COUNT(d_Employee_iformation[EmployeeID]), d_Employee_iformation[Attrition] = "No") Purpose: Counts the number of active employees (those who have not left the company). </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5. Active_Employees_Percentage Expression: DIVIDE( CALCULATE(COUNT(d_Employee_iformation[EmployeeID]), d_Employee_iformation[Attrition] = "No"), COUNT(d_Employee_iformation[EmployeeID]) ) Purpose: Calculates the percentage of active employees out of the total employees. </a:t>
            </a:r>
          </a:p>
        </p:txBody>
      </p:sp>
    </p:spTree>
  </p:cSld>
  <p:clrMapOvr>
    <a:masterClrMapping/>
  </p:clrMapOvr>
  <p:transition>
    <p:wipe dir="u"/>
  </p:transition>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8" name="Group 8"/>
          <p:cNvGrpSpPr/>
          <p:nvPr/>
        </p:nvGrpSpPr>
        <p:grpSpPr>
          <a:xfrm>
            <a:off x="1028700" y="403829"/>
            <a:ext cx="9353904" cy="877168"/>
            <a:chOff x="0" y="0"/>
            <a:chExt cx="2463580" cy="231024"/>
          </a:xfrm>
        </p:grpSpPr>
        <p:sp>
          <p:nvSpPr>
            <p:cNvPr id="9" name="Freeform 9"/>
            <p:cNvSpPr/>
            <p:nvPr/>
          </p:nvSpPr>
          <p:spPr>
            <a:xfrm>
              <a:off x="0" y="0"/>
              <a:ext cx="2463579" cy="231024"/>
            </a:xfrm>
            <a:custGeom>
              <a:avLst/>
              <a:gdLst/>
              <a:ahLst/>
              <a:cxnLst/>
              <a:rect l="l" t="t" r="r" b="b"/>
              <a:pathLst>
                <a:path w="2463579" h="231024">
                  <a:moveTo>
                    <a:pt x="34762" y="0"/>
                  </a:moveTo>
                  <a:lnTo>
                    <a:pt x="2428817" y="0"/>
                  </a:lnTo>
                  <a:cubicBezTo>
                    <a:pt x="2438037" y="0"/>
                    <a:pt x="2446879" y="3662"/>
                    <a:pt x="2453398" y="10182"/>
                  </a:cubicBezTo>
                  <a:cubicBezTo>
                    <a:pt x="2459917" y="16701"/>
                    <a:pt x="2463579" y="25543"/>
                    <a:pt x="2463579" y="34762"/>
                  </a:cubicBezTo>
                  <a:lnTo>
                    <a:pt x="2463579" y="196262"/>
                  </a:lnTo>
                  <a:cubicBezTo>
                    <a:pt x="2463579" y="205481"/>
                    <a:pt x="2459917" y="214323"/>
                    <a:pt x="2453398" y="220842"/>
                  </a:cubicBezTo>
                  <a:cubicBezTo>
                    <a:pt x="2446879" y="227361"/>
                    <a:pt x="2438037" y="231024"/>
                    <a:pt x="2428817" y="231024"/>
                  </a:cubicBezTo>
                  <a:lnTo>
                    <a:pt x="34762" y="231024"/>
                  </a:lnTo>
                  <a:cubicBezTo>
                    <a:pt x="25543" y="231024"/>
                    <a:pt x="16701" y="227361"/>
                    <a:pt x="10182" y="220842"/>
                  </a:cubicBezTo>
                  <a:cubicBezTo>
                    <a:pt x="3662" y="214323"/>
                    <a:pt x="0" y="205481"/>
                    <a:pt x="0" y="196262"/>
                  </a:cubicBezTo>
                  <a:lnTo>
                    <a:pt x="0" y="34762"/>
                  </a:lnTo>
                  <a:cubicBezTo>
                    <a:pt x="0" y="25543"/>
                    <a:pt x="3662" y="16701"/>
                    <a:pt x="10182" y="10182"/>
                  </a:cubicBezTo>
                  <a:cubicBezTo>
                    <a:pt x="16701" y="3662"/>
                    <a:pt x="25543" y="0"/>
                    <a:pt x="34762"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0" name="TextBox 10"/>
            <p:cNvSpPr txBox="1"/>
            <p:nvPr/>
          </p:nvSpPr>
          <p:spPr>
            <a:xfrm>
              <a:off x="0" y="-57150"/>
              <a:ext cx="2463580" cy="288174"/>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Data Modeling Phase - Crea</a:t>
              </a:r>
              <a:r>
                <a:rPr lang="en-US" sz="2999" u="none" strike="noStrike" spc="-59">
                  <a:solidFill>
                    <a:srgbClr val="FFFFFF">
                      <a:alpha val="89804"/>
                    </a:srgbClr>
                  </a:solidFill>
                  <a:latin typeface="Inter"/>
                  <a:ea typeface="Inter"/>
                  <a:cs typeface="Inter"/>
                  <a:sym typeface="Inter"/>
                </a:rPr>
                <a:t>te Measures using DAX</a:t>
              </a:r>
            </a:p>
          </p:txBody>
        </p:sp>
      </p:grpSp>
      <p:sp>
        <p:nvSpPr>
          <p:cNvPr id="11" name="TextBox 11"/>
          <p:cNvSpPr txBox="1"/>
          <p:nvPr/>
        </p:nvSpPr>
        <p:spPr>
          <a:xfrm>
            <a:off x="1288578" y="2172197"/>
            <a:ext cx="15070148" cy="639000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6. BACHELORS Expression: CALCULATE(COUNTROWS(d_Employee_Information), EducationLevel[EducationLevel] = "Bachelors") Purpose: Counts employees whose education level is Bachelor's degree. </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7. Doctorate Expression: CALCULATE(COUNTROWS(d_Employee_Information), EducationLevel[EducationLevel] = "Doctorate") Purpose: Counts employees with a Doctorate degree. </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8. High School Expression: CALCULATE(COUNTROWS(d_Employee_Information), EducationLevel[EducationLevel] = "High School") Purpose: Counts employees whose education level is High School. </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9. Master's Expression: CALCULATE(COUNTROWS(d_Employee_Information), EducationLevel[EducationLevel] = "Master's") Purpose: Counts employees with a Master’s degree. </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10. No Formal Qualifications Expression: CALCULATE(COUNTROWS(d_Employee_Information), EducationLevel[EducationLevel] = "No Formal Qualifications") Purpose: Counts employees with no formal educational qualifications. </a:t>
            </a:r>
          </a:p>
        </p:txBody>
      </p:sp>
    </p:spTree>
  </p:cSld>
  <p:clrMapOvr>
    <a:masterClrMapping/>
  </p:clrMapOvr>
  <p:transition>
    <p:wipe dir="u"/>
  </p:transition>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8" name="Group 8"/>
          <p:cNvGrpSpPr/>
          <p:nvPr/>
        </p:nvGrpSpPr>
        <p:grpSpPr>
          <a:xfrm>
            <a:off x="1028700" y="403829"/>
            <a:ext cx="9353904" cy="877168"/>
            <a:chOff x="0" y="0"/>
            <a:chExt cx="2463580" cy="231024"/>
          </a:xfrm>
        </p:grpSpPr>
        <p:sp>
          <p:nvSpPr>
            <p:cNvPr id="9" name="Freeform 9"/>
            <p:cNvSpPr/>
            <p:nvPr/>
          </p:nvSpPr>
          <p:spPr>
            <a:xfrm>
              <a:off x="0" y="0"/>
              <a:ext cx="2463579" cy="231024"/>
            </a:xfrm>
            <a:custGeom>
              <a:avLst/>
              <a:gdLst/>
              <a:ahLst/>
              <a:cxnLst/>
              <a:rect l="l" t="t" r="r" b="b"/>
              <a:pathLst>
                <a:path w="2463579" h="231024">
                  <a:moveTo>
                    <a:pt x="34762" y="0"/>
                  </a:moveTo>
                  <a:lnTo>
                    <a:pt x="2428817" y="0"/>
                  </a:lnTo>
                  <a:cubicBezTo>
                    <a:pt x="2438037" y="0"/>
                    <a:pt x="2446879" y="3662"/>
                    <a:pt x="2453398" y="10182"/>
                  </a:cubicBezTo>
                  <a:cubicBezTo>
                    <a:pt x="2459917" y="16701"/>
                    <a:pt x="2463579" y="25543"/>
                    <a:pt x="2463579" y="34762"/>
                  </a:cubicBezTo>
                  <a:lnTo>
                    <a:pt x="2463579" y="196262"/>
                  </a:lnTo>
                  <a:cubicBezTo>
                    <a:pt x="2463579" y="205481"/>
                    <a:pt x="2459917" y="214323"/>
                    <a:pt x="2453398" y="220842"/>
                  </a:cubicBezTo>
                  <a:cubicBezTo>
                    <a:pt x="2446879" y="227361"/>
                    <a:pt x="2438037" y="231024"/>
                    <a:pt x="2428817" y="231024"/>
                  </a:cubicBezTo>
                  <a:lnTo>
                    <a:pt x="34762" y="231024"/>
                  </a:lnTo>
                  <a:cubicBezTo>
                    <a:pt x="25543" y="231024"/>
                    <a:pt x="16701" y="227361"/>
                    <a:pt x="10182" y="220842"/>
                  </a:cubicBezTo>
                  <a:cubicBezTo>
                    <a:pt x="3662" y="214323"/>
                    <a:pt x="0" y="205481"/>
                    <a:pt x="0" y="196262"/>
                  </a:cubicBezTo>
                  <a:lnTo>
                    <a:pt x="0" y="34762"/>
                  </a:lnTo>
                  <a:cubicBezTo>
                    <a:pt x="0" y="25543"/>
                    <a:pt x="3662" y="16701"/>
                    <a:pt x="10182" y="10182"/>
                  </a:cubicBezTo>
                  <a:cubicBezTo>
                    <a:pt x="16701" y="3662"/>
                    <a:pt x="25543" y="0"/>
                    <a:pt x="34762"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0" name="TextBox 10"/>
            <p:cNvSpPr txBox="1"/>
            <p:nvPr/>
          </p:nvSpPr>
          <p:spPr>
            <a:xfrm>
              <a:off x="0" y="-57150"/>
              <a:ext cx="2463580" cy="288174"/>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Data Modeling Phase - Crea</a:t>
              </a:r>
              <a:r>
                <a:rPr lang="en-US" sz="2999" u="none" strike="noStrike" spc="-59">
                  <a:solidFill>
                    <a:srgbClr val="FFFFFF">
                      <a:alpha val="89804"/>
                    </a:srgbClr>
                  </a:solidFill>
                  <a:latin typeface="Inter"/>
                  <a:ea typeface="Inter"/>
                  <a:cs typeface="Inter"/>
                  <a:sym typeface="Inter"/>
                </a:rPr>
                <a:t>te Measures using DAX</a:t>
              </a:r>
            </a:p>
          </p:txBody>
        </p:sp>
      </p:grpSp>
      <p:sp>
        <p:nvSpPr>
          <p:cNvPr id="11" name="TextBox 11"/>
          <p:cNvSpPr txBox="1"/>
          <p:nvPr/>
        </p:nvSpPr>
        <p:spPr>
          <a:xfrm>
            <a:off x="1246285" y="2324735"/>
            <a:ext cx="16013015" cy="558990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11. HR_Rating_Count (the one using RatingLevel + HR filter) Expression: CALCULATE( COUNT(RatingLevel[RatingLevel]), FILTER(d_Employee_iformation, d_Employee_iformation[Department] = "Human Resources") ) Purpose: Counts rating entries for employees working in the Human Resources department.</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 12. Total Employees Expression: COUNT(d_Employee_iformation[EmployeeID]) Purpose: Counts the total number of employees.</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13. Attrition_Employees Expression: CALCULATE(COUNT(d_Employee_iformation[EmployeeID]), d_Employee_iformation[Attrition] = "Yes") Purpose: Counts employees who have left the company. </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14. Attrition_Percentage Expression: DIVIDE([Attrition_Employees], [Total Employees]) Purpose: Calculates the percentage of employees who left the company. </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15. Average Rating Expression: AVERAGE(RatingLevel[RatingID]) Purpose: Calculates the average rating score. </a:t>
            </a:r>
          </a:p>
        </p:txBody>
      </p:sp>
    </p:spTree>
  </p:cSld>
  <p:clrMapOvr>
    <a:masterClrMapping/>
  </p:clrMapOvr>
  <p:transition>
    <p:wipe dir="u"/>
  </p:transition>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14339" y="0"/>
                  </a:moveTo>
                  <a:lnTo>
                    <a:pt x="4251830" y="0"/>
                  </a:lnTo>
                  <a:cubicBezTo>
                    <a:pt x="4259749" y="0"/>
                    <a:pt x="4266169" y="6420"/>
                    <a:pt x="4266169" y="14339"/>
                  </a:cubicBezTo>
                  <a:lnTo>
                    <a:pt x="4266169" y="2007445"/>
                  </a:lnTo>
                  <a:cubicBezTo>
                    <a:pt x="4266169" y="2015364"/>
                    <a:pt x="4259749" y="2021783"/>
                    <a:pt x="4251830" y="2021783"/>
                  </a:cubicBezTo>
                  <a:lnTo>
                    <a:pt x="14339" y="2021783"/>
                  </a:lnTo>
                  <a:cubicBezTo>
                    <a:pt x="6420" y="2021783"/>
                    <a:pt x="0" y="2015364"/>
                    <a:pt x="0" y="2007445"/>
                  </a:cubicBezTo>
                  <a:lnTo>
                    <a:pt x="0" y="14339"/>
                  </a:lnTo>
                  <a:cubicBezTo>
                    <a:pt x="0" y="6420"/>
                    <a:pt x="6420" y="0"/>
                    <a:pt x="14339"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8" name="Group 8"/>
          <p:cNvGrpSpPr/>
          <p:nvPr/>
        </p:nvGrpSpPr>
        <p:grpSpPr>
          <a:xfrm>
            <a:off x="1028700" y="416439"/>
            <a:ext cx="7103961" cy="888780"/>
            <a:chOff x="0" y="0"/>
            <a:chExt cx="1871002" cy="322508"/>
          </a:xfrm>
        </p:grpSpPr>
        <p:sp>
          <p:nvSpPr>
            <p:cNvPr id="9" name="Freeform 9"/>
            <p:cNvSpPr/>
            <p:nvPr/>
          </p:nvSpPr>
          <p:spPr>
            <a:xfrm>
              <a:off x="0" y="0"/>
              <a:ext cx="1871002" cy="322508"/>
            </a:xfrm>
            <a:custGeom>
              <a:avLst/>
              <a:gdLst/>
              <a:ahLst/>
              <a:cxnLst/>
              <a:rect l="l" t="t" r="r" b="b"/>
              <a:pathLst>
                <a:path w="1871002" h="322508">
                  <a:moveTo>
                    <a:pt x="45772" y="0"/>
                  </a:moveTo>
                  <a:lnTo>
                    <a:pt x="1825230" y="0"/>
                  </a:lnTo>
                  <a:cubicBezTo>
                    <a:pt x="1837370" y="0"/>
                    <a:pt x="1849012" y="4822"/>
                    <a:pt x="1857596" y="13406"/>
                  </a:cubicBezTo>
                  <a:cubicBezTo>
                    <a:pt x="1866180" y="21990"/>
                    <a:pt x="1871002" y="33632"/>
                    <a:pt x="1871002" y="45772"/>
                  </a:cubicBezTo>
                  <a:lnTo>
                    <a:pt x="1871002" y="276736"/>
                  </a:lnTo>
                  <a:cubicBezTo>
                    <a:pt x="1871002" y="302015"/>
                    <a:pt x="1850509" y="322508"/>
                    <a:pt x="1825230" y="322508"/>
                  </a:cubicBezTo>
                  <a:lnTo>
                    <a:pt x="45772" y="322508"/>
                  </a:lnTo>
                  <a:cubicBezTo>
                    <a:pt x="20493" y="322508"/>
                    <a:pt x="0" y="302015"/>
                    <a:pt x="0" y="276736"/>
                  </a:cubicBezTo>
                  <a:lnTo>
                    <a:pt x="0" y="45772"/>
                  </a:lnTo>
                  <a:cubicBezTo>
                    <a:pt x="0" y="20493"/>
                    <a:pt x="20493" y="0"/>
                    <a:pt x="45772"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0" name="TextBox 10"/>
            <p:cNvSpPr txBox="1"/>
            <p:nvPr/>
          </p:nvSpPr>
          <p:spPr>
            <a:xfrm>
              <a:off x="0" y="-57150"/>
              <a:ext cx="1871002"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(Dashboard Design)</a:t>
              </a:r>
            </a:p>
          </p:txBody>
        </p:sp>
      </p:grpSp>
      <p:sp>
        <p:nvSpPr>
          <p:cNvPr id="11" name="Freeform 11"/>
          <p:cNvSpPr/>
          <p:nvPr/>
        </p:nvSpPr>
        <p:spPr>
          <a:xfrm>
            <a:off x="1288578" y="2007699"/>
            <a:ext cx="4765428" cy="2686968"/>
          </a:xfrm>
          <a:custGeom>
            <a:avLst/>
            <a:gdLst/>
            <a:ahLst/>
            <a:cxnLst/>
            <a:rect l="l" t="t" r="r" b="b"/>
            <a:pathLst>
              <a:path w="4765428" h="2686968">
                <a:moveTo>
                  <a:pt x="0" y="0"/>
                </a:moveTo>
                <a:lnTo>
                  <a:pt x="4765428" y="0"/>
                </a:lnTo>
                <a:lnTo>
                  <a:pt x="4765428" y="2686969"/>
                </a:lnTo>
                <a:lnTo>
                  <a:pt x="0" y="2686969"/>
                </a:lnTo>
                <a:lnTo>
                  <a:pt x="0" y="0"/>
                </a:lnTo>
                <a:close/>
              </a:path>
            </a:pathLst>
          </a:custGeom>
          <a:blipFill>
            <a:blip r:embed="rId8"/>
            <a:stretch>
              <a:fillRect/>
            </a:stretch>
          </a:blipFill>
        </p:spPr>
        <p:txBody>
          <a:bodyPr/>
          <a:lstStyle/>
          <a:p>
            <a:endParaRPr lang="ar-EG"/>
          </a:p>
        </p:txBody>
      </p:sp>
      <p:sp>
        <p:nvSpPr>
          <p:cNvPr id="12" name="Freeform 12"/>
          <p:cNvSpPr/>
          <p:nvPr/>
        </p:nvSpPr>
        <p:spPr>
          <a:xfrm>
            <a:off x="11718138" y="2007699"/>
            <a:ext cx="5143272" cy="2686968"/>
          </a:xfrm>
          <a:custGeom>
            <a:avLst/>
            <a:gdLst/>
            <a:ahLst/>
            <a:cxnLst/>
            <a:rect l="l" t="t" r="r" b="b"/>
            <a:pathLst>
              <a:path w="5143272" h="2686968">
                <a:moveTo>
                  <a:pt x="0" y="0"/>
                </a:moveTo>
                <a:lnTo>
                  <a:pt x="5143272" y="0"/>
                </a:lnTo>
                <a:lnTo>
                  <a:pt x="5143272" y="2686969"/>
                </a:lnTo>
                <a:lnTo>
                  <a:pt x="0" y="2686969"/>
                </a:lnTo>
                <a:lnTo>
                  <a:pt x="0" y="0"/>
                </a:lnTo>
                <a:close/>
              </a:path>
            </a:pathLst>
          </a:custGeom>
          <a:blipFill>
            <a:blip r:embed="rId9"/>
            <a:stretch>
              <a:fillRect b="-8493"/>
            </a:stretch>
          </a:blipFill>
          <a:ln cap="rnd">
            <a:noFill/>
            <a:prstDash val="solid"/>
            <a:round/>
          </a:ln>
        </p:spPr>
        <p:txBody>
          <a:bodyPr/>
          <a:lstStyle/>
          <a:p>
            <a:endParaRPr lang="ar-EG"/>
          </a:p>
        </p:txBody>
      </p:sp>
      <p:sp>
        <p:nvSpPr>
          <p:cNvPr id="13" name="Freeform 13"/>
          <p:cNvSpPr/>
          <p:nvPr/>
        </p:nvSpPr>
        <p:spPr>
          <a:xfrm>
            <a:off x="6223112" y="4334571"/>
            <a:ext cx="5325920" cy="3000404"/>
          </a:xfrm>
          <a:custGeom>
            <a:avLst/>
            <a:gdLst/>
            <a:ahLst/>
            <a:cxnLst/>
            <a:rect l="l" t="t" r="r" b="b"/>
            <a:pathLst>
              <a:path w="5325920" h="3000404">
                <a:moveTo>
                  <a:pt x="0" y="0"/>
                </a:moveTo>
                <a:lnTo>
                  <a:pt x="5325920" y="0"/>
                </a:lnTo>
                <a:lnTo>
                  <a:pt x="5325920" y="3000404"/>
                </a:lnTo>
                <a:lnTo>
                  <a:pt x="0" y="3000404"/>
                </a:lnTo>
                <a:lnTo>
                  <a:pt x="0" y="0"/>
                </a:lnTo>
                <a:close/>
              </a:path>
            </a:pathLst>
          </a:custGeom>
          <a:blipFill>
            <a:blip r:embed="rId10"/>
            <a:stretch>
              <a:fillRect/>
            </a:stretch>
          </a:blipFill>
          <a:ln cap="rnd">
            <a:noFill/>
            <a:prstDash val="solid"/>
            <a:round/>
          </a:ln>
        </p:spPr>
        <p:txBody>
          <a:bodyPr/>
          <a:lstStyle/>
          <a:p>
            <a:endParaRPr lang="ar-EG"/>
          </a:p>
        </p:txBody>
      </p:sp>
      <p:sp>
        <p:nvSpPr>
          <p:cNvPr id="14" name="Freeform 14"/>
          <p:cNvSpPr/>
          <p:nvPr/>
        </p:nvSpPr>
        <p:spPr>
          <a:xfrm>
            <a:off x="1338414" y="6613941"/>
            <a:ext cx="4715592" cy="2644359"/>
          </a:xfrm>
          <a:custGeom>
            <a:avLst/>
            <a:gdLst/>
            <a:ahLst/>
            <a:cxnLst/>
            <a:rect l="l" t="t" r="r" b="b"/>
            <a:pathLst>
              <a:path w="4715592" h="2644359">
                <a:moveTo>
                  <a:pt x="0" y="0"/>
                </a:moveTo>
                <a:lnTo>
                  <a:pt x="4715592" y="0"/>
                </a:lnTo>
                <a:lnTo>
                  <a:pt x="4715592" y="2644359"/>
                </a:lnTo>
                <a:lnTo>
                  <a:pt x="0" y="2644359"/>
                </a:lnTo>
                <a:lnTo>
                  <a:pt x="0" y="0"/>
                </a:lnTo>
                <a:close/>
              </a:path>
            </a:pathLst>
          </a:custGeom>
          <a:blipFill>
            <a:blip r:embed="rId11"/>
            <a:stretch>
              <a:fillRect/>
            </a:stretch>
          </a:blipFill>
          <a:ln cap="rnd">
            <a:noFill/>
            <a:prstDash val="solid"/>
            <a:round/>
          </a:ln>
        </p:spPr>
        <p:txBody>
          <a:bodyPr/>
          <a:lstStyle/>
          <a:p>
            <a:endParaRPr lang="ar-EG"/>
          </a:p>
        </p:txBody>
      </p:sp>
      <p:sp>
        <p:nvSpPr>
          <p:cNvPr id="15" name="Freeform 15"/>
          <p:cNvSpPr/>
          <p:nvPr/>
        </p:nvSpPr>
        <p:spPr>
          <a:xfrm>
            <a:off x="11718138" y="6613941"/>
            <a:ext cx="5352818" cy="2644359"/>
          </a:xfrm>
          <a:custGeom>
            <a:avLst/>
            <a:gdLst/>
            <a:ahLst/>
            <a:cxnLst/>
            <a:rect l="l" t="t" r="r" b="b"/>
            <a:pathLst>
              <a:path w="5352818" h="2644359">
                <a:moveTo>
                  <a:pt x="0" y="0"/>
                </a:moveTo>
                <a:lnTo>
                  <a:pt x="5352818" y="0"/>
                </a:lnTo>
                <a:lnTo>
                  <a:pt x="5352818" y="2644359"/>
                </a:lnTo>
                <a:lnTo>
                  <a:pt x="0" y="2644359"/>
                </a:lnTo>
                <a:lnTo>
                  <a:pt x="0" y="0"/>
                </a:lnTo>
                <a:close/>
              </a:path>
            </a:pathLst>
          </a:custGeom>
          <a:blipFill>
            <a:blip r:embed="rId12"/>
            <a:stretch>
              <a:fillRect l="-1684" r="-1684"/>
            </a:stretch>
          </a:blipFill>
          <a:ln cap="rnd">
            <a:noFill/>
            <a:prstDash val="solid"/>
            <a:round/>
          </a:ln>
        </p:spPr>
        <p:txBody>
          <a:bodyPr/>
          <a:lstStyle/>
          <a:p>
            <a:endParaRPr lang="ar-EG"/>
          </a:p>
        </p:txBody>
      </p:sp>
    </p:spTree>
  </p:cSld>
  <p:clrMapOvr>
    <a:masterClrMapping/>
  </p:clrMapOvr>
  <p:transition>
    <p:wipe dir="u"/>
  </p:transition>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8" name="Group 8"/>
          <p:cNvGrpSpPr/>
          <p:nvPr/>
        </p:nvGrpSpPr>
        <p:grpSpPr>
          <a:xfrm>
            <a:off x="1047750" y="454041"/>
            <a:ext cx="10867520" cy="1224523"/>
            <a:chOff x="0" y="0"/>
            <a:chExt cx="2862228" cy="322508"/>
          </a:xfrm>
        </p:grpSpPr>
        <p:sp>
          <p:nvSpPr>
            <p:cNvPr id="9" name="Freeform 9"/>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0" name="TextBox 10"/>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
        <p:nvSpPr>
          <p:cNvPr id="11" name="Freeform 11"/>
          <p:cNvSpPr/>
          <p:nvPr/>
        </p:nvSpPr>
        <p:spPr>
          <a:xfrm>
            <a:off x="1288578" y="3158961"/>
            <a:ext cx="8514215" cy="4819608"/>
          </a:xfrm>
          <a:custGeom>
            <a:avLst/>
            <a:gdLst/>
            <a:ahLst/>
            <a:cxnLst/>
            <a:rect l="l" t="t" r="r" b="b"/>
            <a:pathLst>
              <a:path w="8514215" h="4819608">
                <a:moveTo>
                  <a:pt x="0" y="0"/>
                </a:moveTo>
                <a:lnTo>
                  <a:pt x="8514215" y="0"/>
                </a:lnTo>
                <a:lnTo>
                  <a:pt x="8514215" y="4819608"/>
                </a:lnTo>
                <a:lnTo>
                  <a:pt x="0" y="4819608"/>
                </a:lnTo>
                <a:lnTo>
                  <a:pt x="0" y="0"/>
                </a:lnTo>
                <a:close/>
              </a:path>
            </a:pathLst>
          </a:custGeom>
          <a:blipFill>
            <a:blip r:embed="rId8"/>
            <a:stretch>
              <a:fillRect l="-205" r="-205"/>
            </a:stretch>
          </a:blipFill>
        </p:spPr>
        <p:txBody>
          <a:bodyPr/>
          <a:lstStyle/>
          <a:p>
            <a:endParaRPr lang="ar-EG"/>
          </a:p>
        </p:txBody>
      </p:sp>
      <p:sp>
        <p:nvSpPr>
          <p:cNvPr id="12" name="TextBox 12"/>
          <p:cNvSpPr txBox="1"/>
          <p:nvPr/>
        </p:nvSpPr>
        <p:spPr>
          <a:xfrm>
            <a:off x="10084066" y="3350075"/>
            <a:ext cx="6592890" cy="4389755"/>
          </a:xfrm>
          <a:prstGeom prst="rect">
            <a:avLst/>
          </a:prstGeom>
        </p:spPr>
        <p:txBody>
          <a:bodyPr lIns="0" tIns="0" rIns="0" bIns="0" rtlCol="0" anchor="t">
            <a:spAutoFit/>
          </a:bodyPr>
          <a:lstStyle/>
          <a:p>
            <a:pPr algn="l">
              <a:lnSpc>
                <a:spcPts val="3220"/>
              </a:lnSpc>
              <a:spcBef>
                <a:spcPct val="0"/>
              </a:spcBef>
            </a:pPr>
            <a:r>
              <a:rPr lang="en-US" sz="2300" spc="-46">
                <a:solidFill>
                  <a:srgbClr val="FFFFFF"/>
                </a:solidFill>
                <a:latin typeface="Inter"/>
                <a:ea typeface="Inter"/>
                <a:cs typeface="Inter"/>
                <a:sym typeface="Inter"/>
              </a:rPr>
              <a:t>The Employee Overview Dashboard provides a comprehensive snapshot of the workforce across key demographics and organizational dimensions. It consolidates employee counts, gender distribution, travel behavior, departmental structure, and marital status to support strategic HR decision-making.</a:t>
            </a:r>
          </a:p>
          <a:p>
            <a:pPr algn="l">
              <a:lnSpc>
                <a:spcPts val="3220"/>
              </a:lnSpc>
              <a:spcBef>
                <a:spcPct val="0"/>
              </a:spcBef>
            </a:pPr>
            <a:r>
              <a:rPr lang="en-US" sz="2300" spc="-46">
                <a:solidFill>
                  <a:srgbClr val="FFFFFF"/>
                </a:solidFill>
                <a:latin typeface="Inter"/>
                <a:ea typeface="Inter"/>
                <a:cs typeface="Inter"/>
                <a:sym typeface="Inter"/>
              </a:rPr>
              <a:t>The visuals combine summary cards, bar charts, and donut charts to give leaders a balanced and clear understanding of employee distribution patterns across the company.</a:t>
            </a:r>
          </a:p>
        </p:txBody>
      </p:sp>
      <p:sp>
        <p:nvSpPr>
          <p:cNvPr id="13" name="TextBox 13"/>
          <p:cNvSpPr txBox="1"/>
          <p:nvPr/>
        </p:nvSpPr>
        <p:spPr>
          <a:xfrm>
            <a:off x="10084066" y="2857791"/>
            <a:ext cx="4165334" cy="424027"/>
          </a:xfrm>
          <a:prstGeom prst="rect">
            <a:avLst/>
          </a:prstGeom>
        </p:spPr>
        <p:txBody>
          <a:bodyPr wrap="square" lIns="0" tIns="0" rIns="0" bIns="0" rtlCol="0" anchor="t">
            <a:spAutoFit/>
          </a:bodyPr>
          <a:lstStyle/>
          <a:p>
            <a:pPr algn="ctr">
              <a:lnSpc>
                <a:spcPts val="3639"/>
              </a:lnSpc>
              <a:spcBef>
                <a:spcPct val="0"/>
              </a:spcBef>
            </a:pPr>
            <a:r>
              <a:rPr lang="en-US" sz="2599" spc="-51" dirty="0">
                <a:solidFill>
                  <a:srgbClr val="FFFFFF"/>
                </a:solidFill>
                <a:latin typeface="Inter"/>
                <a:ea typeface="Inter"/>
                <a:cs typeface="Inter"/>
                <a:sym typeface="Inter"/>
              </a:rPr>
              <a:t>📋 Dashboard Description</a:t>
            </a:r>
          </a:p>
        </p:txBody>
      </p:sp>
    </p:spTree>
  </p:cSld>
  <p:clrMapOvr>
    <a:masterClrMapping/>
  </p:clrMapOvr>
  <p:transition>
    <p:wipe dir="u"/>
  </p:transition>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TextBox 8"/>
          <p:cNvSpPr txBox="1"/>
          <p:nvPr/>
        </p:nvSpPr>
        <p:spPr>
          <a:xfrm>
            <a:off x="1665357" y="3065264"/>
            <a:ext cx="4392769" cy="5689726"/>
          </a:xfrm>
          <a:prstGeom prst="rect">
            <a:avLst/>
          </a:prstGeom>
        </p:spPr>
        <p:txBody>
          <a:bodyPr lIns="0" tIns="0" rIns="0" bIns="0" rtlCol="0" anchor="t">
            <a:spAutoFit/>
          </a:bodyPr>
          <a:lstStyle/>
          <a:p>
            <a:pPr algn="just">
              <a:lnSpc>
                <a:spcPts val="3493"/>
              </a:lnSpc>
              <a:spcBef>
                <a:spcPct val="0"/>
              </a:spcBef>
            </a:pPr>
            <a:r>
              <a:rPr lang="en-US" sz="2495" spc="-49">
                <a:solidFill>
                  <a:srgbClr val="FFFFFF"/>
                </a:solidFill>
                <a:latin typeface="Inter"/>
                <a:ea typeface="Inter"/>
                <a:cs typeface="Inter"/>
                <a:sym typeface="Inter"/>
              </a:rPr>
              <a:t>1. Total Workforce</a:t>
            </a:r>
          </a:p>
          <a:p>
            <a:pPr marL="538682" lvl="1" indent="-269341" algn="just">
              <a:lnSpc>
                <a:spcPts val="3493"/>
              </a:lnSpc>
              <a:spcBef>
                <a:spcPct val="0"/>
              </a:spcBef>
              <a:buFont typeface="Arial"/>
              <a:buChar char="•"/>
            </a:pPr>
            <a:r>
              <a:rPr lang="en-US" sz="2495" spc="-49">
                <a:solidFill>
                  <a:srgbClr val="FFFFFF"/>
                </a:solidFill>
                <a:latin typeface="Inter"/>
                <a:ea typeface="Inter"/>
                <a:cs typeface="Inter"/>
                <a:sym typeface="Inter"/>
              </a:rPr>
              <a:t>Total Employees: 1,470</a:t>
            </a:r>
          </a:p>
          <a:p>
            <a:pPr marL="538682" lvl="1" indent="-269341" algn="just">
              <a:lnSpc>
                <a:spcPts val="3493"/>
              </a:lnSpc>
              <a:spcBef>
                <a:spcPct val="0"/>
              </a:spcBef>
              <a:buFont typeface="Arial"/>
              <a:buChar char="•"/>
            </a:pPr>
            <a:r>
              <a:rPr lang="en-US" sz="2495" spc="-49">
                <a:solidFill>
                  <a:srgbClr val="FFFFFF"/>
                </a:solidFill>
                <a:latin typeface="Inter"/>
                <a:ea typeface="Inter"/>
                <a:cs typeface="Inter"/>
                <a:sym typeface="Inter"/>
              </a:rPr>
              <a:t>Male Employees: 651</a:t>
            </a:r>
          </a:p>
          <a:p>
            <a:pPr marL="538682" lvl="1" indent="-269341" algn="just">
              <a:lnSpc>
                <a:spcPts val="3493"/>
              </a:lnSpc>
              <a:spcBef>
                <a:spcPct val="0"/>
              </a:spcBef>
              <a:buFont typeface="Arial"/>
              <a:buChar char="•"/>
            </a:pPr>
            <a:r>
              <a:rPr lang="en-US" sz="2495" spc="-49">
                <a:solidFill>
                  <a:srgbClr val="FFFFFF"/>
                </a:solidFill>
                <a:latin typeface="Inter"/>
                <a:ea typeface="Inter"/>
                <a:cs typeface="Inter"/>
                <a:sym typeface="Inter"/>
              </a:rPr>
              <a:t>Female Employees: 675</a:t>
            </a:r>
          </a:p>
          <a:p>
            <a:pPr marL="538682" lvl="1" indent="-269341" algn="just">
              <a:lnSpc>
                <a:spcPts val="3493"/>
              </a:lnSpc>
              <a:spcBef>
                <a:spcPct val="0"/>
              </a:spcBef>
              <a:buFont typeface="Arial"/>
              <a:buChar char="•"/>
            </a:pPr>
            <a:r>
              <a:rPr lang="en-US" sz="2495" spc="-49">
                <a:solidFill>
                  <a:srgbClr val="FFFFFF"/>
                </a:solidFill>
                <a:latin typeface="Inter"/>
                <a:ea typeface="Inter"/>
                <a:cs typeface="Inter"/>
                <a:sym typeface="Inter"/>
              </a:rPr>
              <a:t>Non-Binary: 124</a:t>
            </a:r>
          </a:p>
          <a:p>
            <a:pPr marL="538682" lvl="1" indent="-269341" algn="just">
              <a:lnSpc>
                <a:spcPts val="3493"/>
              </a:lnSpc>
              <a:spcBef>
                <a:spcPct val="0"/>
              </a:spcBef>
              <a:buFont typeface="Arial"/>
              <a:buChar char="•"/>
            </a:pPr>
            <a:r>
              <a:rPr lang="en-US" sz="2495" spc="-49">
                <a:solidFill>
                  <a:srgbClr val="FFFFFF"/>
                </a:solidFill>
                <a:latin typeface="Inter"/>
                <a:ea typeface="Inter"/>
                <a:cs typeface="Inter"/>
                <a:sym typeface="Inter"/>
              </a:rPr>
              <a:t>Prefer Not to Say: 20</a:t>
            </a:r>
          </a:p>
          <a:p>
            <a:pPr algn="just">
              <a:lnSpc>
                <a:spcPts val="3493"/>
              </a:lnSpc>
              <a:spcBef>
                <a:spcPct val="0"/>
              </a:spcBef>
            </a:pPr>
            <a:r>
              <a:rPr lang="en-US" sz="2495" spc="-49">
                <a:solidFill>
                  <a:srgbClr val="FFFFFF"/>
                </a:solidFill>
                <a:latin typeface="Inter"/>
                <a:ea typeface="Inter"/>
                <a:cs typeface="Inter"/>
                <a:sym typeface="Inter"/>
              </a:rPr>
              <a:t>2. Distance to Work</a:t>
            </a:r>
          </a:p>
          <a:p>
            <a:pPr marL="538682" lvl="1" indent="-269341" algn="just">
              <a:lnSpc>
                <a:spcPts val="3493"/>
              </a:lnSpc>
              <a:spcBef>
                <a:spcPct val="0"/>
              </a:spcBef>
              <a:buFont typeface="Arial"/>
              <a:buChar char="•"/>
            </a:pPr>
            <a:r>
              <a:rPr lang="en-US" sz="2495" spc="-49">
                <a:solidFill>
                  <a:srgbClr val="FFFFFF"/>
                </a:solidFill>
                <a:latin typeface="Inter"/>
                <a:ea typeface="Inter"/>
                <a:cs typeface="Inter"/>
                <a:sym typeface="Inter"/>
              </a:rPr>
              <a:t>Minimum Distance: 1 km</a:t>
            </a:r>
          </a:p>
          <a:p>
            <a:pPr marL="538682" lvl="1" indent="-269341" algn="just">
              <a:lnSpc>
                <a:spcPts val="3493"/>
              </a:lnSpc>
              <a:spcBef>
                <a:spcPct val="0"/>
              </a:spcBef>
              <a:buFont typeface="Arial"/>
              <a:buChar char="•"/>
            </a:pPr>
            <a:r>
              <a:rPr lang="en-US" sz="2495" spc="-49">
                <a:solidFill>
                  <a:srgbClr val="FFFFFF"/>
                </a:solidFill>
                <a:latin typeface="Inter"/>
                <a:ea typeface="Inter"/>
                <a:cs typeface="Inter"/>
                <a:sym typeface="Inter"/>
              </a:rPr>
              <a:t>Maximum Distance: 45 km</a:t>
            </a:r>
          </a:p>
          <a:p>
            <a:pPr algn="just">
              <a:lnSpc>
                <a:spcPts val="3493"/>
              </a:lnSpc>
              <a:spcBef>
                <a:spcPct val="0"/>
              </a:spcBef>
            </a:pPr>
            <a:r>
              <a:rPr lang="en-US" sz="2495" spc="-49">
                <a:solidFill>
                  <a:srgbClr val="FFFFFF"/>
                </a:solidFill>
                <a:latin typeface="Inter"/>
                <a:ea typeface="Inter"/>
                <a:cs typeface="Inter"/>
                <a:sym typeface="Inter"/>
              </a:rPr>
              <a:t>3. Marital Status Distribution</a:t>
            </a:r>
          </a:p>
          <a:p>
            <a:pPr marL="538682" lvl="1" indent="-269341" algn="just">
              <a:lnSpc>
                <a:spcPts val="3493"/>
              </a:lnSpc>
              <a:spcBef>
                <a:spcPct val="0"/>
              </a:spcBef>
              <a:buFont typeface="Arial"/>
              <a:buChar char="•"/>
            </a:pPr>
            <a:r>
              <a:rPr lang="en-US" sz="2495" spc="-49">
                <a:solidFill>
                  <a:srgbClr val="FFFFFF"/>
                </a:solidFill>
                <a:latin typeface="Inter"/>
                <a:ea typeface="Inter"/>
                <a:cs typeface="Inter"/>
                <a:sym typeface="Inter"/>
              </a:rPr>
              <a:t>Married: 624</a:t>
            </a:r>
          </a:p>
          <a:p>
            <a:pPr marL="538682" lvl="1" indent="-269341" algn="just">
              <a:lnSpc>
                <a:spcPts val="3493"/>
              </a:lnSpc>
              <a:spcBef>
                <a:spcPct val="0"/>
              </a:spcBef>
              <a:buFont typeface="Arial"/>
              <a:buChar char="•"/>
            </a:pPr>
            <a:r>
              <a:rPr lang="en-US" sz="2495" spc="-49">
                <a:solidFill>
                  <a:srgbClr val="FFFFFF"/>
                </a:solidFill>
                <a:latin typeface="Inter"/>
                <a:ea typeface="Inter"/>
                <a:cs typeface="Inter"/>
                <a:sym typeface="Inter"/>
              </a:rPr>
              <a:t>Single: 549</a:t>
            </a:r>
          </a:p>
          <a:p>
            <a:pPr marL="538682" lvl="1" indent="-269341" algn="just">
              <a:lnSpc>
                <a:spcPts val="3493"/>
              </a:lnSpc>
              <a:spcBef>
                <a:spcPct val="0"/>
              </a:spcBef>
              <a:buFont typeface="Arial"/>
              <a:buChar char="•"/>
            </a:pPr>
            <a:r>
              <a:rPr lang="en-US" sz="2495" spc="-49">
                <a:solidFill>
                  <a:srgbClr val="FFFFFF"/>
                </a:solidFill>
                <a:latin typeface="Inter"/>
                <a:ea typeface="Inter"/>
                <a:cs typeface="Inter"/>
                <a:sym typeface="Inter"/>
              </a:rPr>
              <a:t>Divorced: 297</a:t>
            </a:r>
          </a:p>
        </p:txBody>
      </p:sp>
      <p:sp>
        <p:nvSpPr>
          <p:cNvPr id="9" name="TextBox 9"/>
          <p:cNvSpPr txBox="1"/>
          <p:nvPr/>
        </p:nvSpPr>
        <p:spPr>
          <a:xfrm>
            <a:off x="1660243" y="2163248"/>
            <a:ext cx="5532412" cy="422275"/>
          </a:xfrm>
          <a:prstGeom prst="rect">
            <a:avLst/>
          </a:prstGeom>
        </p:spPr>
        <p:txBody>
          <a:bodyPr lIns="0" tIns="0" rIns="0" bIns="0" rtlCol="0" anchor="t">
            <a:spAutoFit/>
          </a:bodyPr>
          <a:lstStyle/>
          <a:p>
            <a:pPr algn="l">
              <a:lnSpc>
                <a:spcPts val="3499"/>
              </a:lnSpc>
              <a:spcBef>
                <a:spcPct val="0"/>
              </a:spcBef>
            </a:pPr>
            <a:r>
              <a:rPr lang="en-US" sz="2499" spc="-49">
                <a:solidFill>
                  <a:srgbClr val="FFFFFF"/>
                </a:solidFill>
                <a:latin typeface="Inter"/>
                <a:ea typeface="Inter"/>
                <a:cs typeface="Inter"/>
                <a:sym typeface="Inter"/>
              </a:rPr>
              <a:t>📊 Key Performance Indicators (KPIs)</a:t>
            </a:r>
          </a:p>
        </p:txBody>
      </p:sp>
      <p:sp>
        <p:nvSpPr>
          <p:cNvPr id="10" name="TextBox 10"/>
          <p:cNvSpPr txBox="1"/>
          <p:nvPr/>
        </p:nvSpPr>
        <p:spPr>
          <a:xfrm>
            <a:off x="12765686" y="3065264"/>
            <a:ext cx="3729428" cy="5251576"/>
          </a:xfrm>
          <a:prstGeom prst="rect">
            <a:avLst/>
          </a:prstGeom>
        </p:spPr>
        <p:txBody>
          <a:bodyPr lIns="0" tIns="0" rIns="0" bIns="0" rtlCol="0" anchor="t">
            <a:spAutoFit/>
          </a:bodyPr>
          <a:lstStyle/>
          <a:p>
            <a:pPr marL="538682" lvl="1" indent="-269341" algn="just">
              <a:lnSpc>
                <a:spcPts val="3493"/>
              </a:lnSpc>
              <a:spcBef>
                <a:spcPct val="0"/>
              </a:spcBef>
              <a:buFont typeface="Arial"/>
              <a:buChar char="•"/>
            </a:pPr>
            <a:r>
              <a:rPr lang="en-US" sz="2495" u="none" strike="noStrike" spc="-49">
                <a:solidFill>
                  <a:srgbClr val="FFFFFF"/>
                </a:solidFill>
                <a:latin typeface="Inter"/>
                <a:ea typeface="Inter"/>
                <a:cs typeface="Inter"/>
                <a:sym typeface="Inter"/>
              </a:rPr>
              <a:t>Non-Binary: 84</a:t>
            </a:r>
          </a:p>
          <a:p>
            <a:pPr marL="538682" lvl="1" indent="-269341" algn="just">
              <a:lnSpc>
                <a:spcPts val="3493"/>
              </a:lnSpc>
              <a:spcBef>
                <a:spcPct val="0"/>
              </a:spcBef>
              <a:buFont typeface="Arial"/>
              <a:buChar char="•"/>
            </a:pPr>
            <a:r>
              <a:rPr lang="en-US" sz="2495" u="none" strike="noStrike" spc="-49">
                <a:solidFill>
                  <a:srgbClr val="FFFFFF"/>
                </a:solidFill>
                <a:latin typeface="Inter"/>
                <a:ea typeface="Inter"/>
                <a:cs typeface="Inter"/>
                <a:sym typeface="Inter"/>
              </a:rPr>
              <a:t>Prefer Not to Say: 16</a:t>
            </a:r>
          </a:p>
          <a:p>
            <a:pPr marL="538682" lvl="1" indent="-269341" algn="just">
              <a:lnSpc>
                <a:spcPts val="3493"/>
              </a:lnSpc>
              <a:spcBef>
                <a:spcPct val="0"/>
              </a:spcBef>
              <a:buFont typeface="Arial"/>
              <a:buChar char="•"/>
            </a:pPr>
            <a:r>
              <a:rPr lang="en-US" sz="2495" u="none" strike="noStrike" spc="-49">
                <a:solidFill>
                  <a:srgbClr val="FFFFFF"/>
                </a:solidFill>
                <a:latin typeface="Inter"/>
                <a:ea typeface="Inter"/>
                <a:cs typeface="Inter"/>
                <a:sym typeface="Inter"/>
              </a:rPr>
              <a:t>Sales Department:</a:t>
            </a:r>
          </a:p>
          <a:p>
            <a:pPr marL="538682" lvl="1" indent="-269341" algn="just">
              <a:lnSpc>
                <a:spcPts val="3493"/>
              </a:lnSpc>
              <a:spcBef>
                <a:spcPct val="0"/>
              </a:spcBef>
              <a:buFont typeface="Arial"/>
              <a:buChar char="•"/>
            </a:pPr>
            <a:r>
              <a:rPr lang="en-US" sz="2495" u="none" strike="noStrike" spc="-49">
                <a:solidFill>
                  <a:srgbClr val="FFFFFF"/>
                </a:solidFill>
                <a:latin typeface="Inter"/>
                <a:ea typeface="Inter"/>
                <a:cs typeface="Inter"/>
                <a:sym typeface="Inter"/>
              </a:rPr>
              <a:t>Female: 204</a:t>
            </a:r>
          </a:p>
          <a:p>
            <a:pPr marL="538682" lvl="1" indent="-269341" algn="just">
              <a:lnSpc>
                <a:spcPts val="3493"/>
              </a:lnSpc>
              <a:spcBef>
                <a:spcPct val="0"/>
              </a:spcBef>
              <a:buFont typeface="Arial"/>
              <a:buChar char="•"/>
            </a:pPr>
            <a:r>
              <a:rPr lang="en-US" sz="2495" u="none" strike="noStrike" spc="-49">
                <a:solidFill>
                  <a:srgbClr val="FFFFFF"/>
                </a:solidFill>
                <a:latin typeface="Inter"/>
                <a:ea typeface="Inter"/>
                <a:cs typeface="Inter"/>
                <a:sym typeface="Inter"/>
              </a:rPr>
              <a:t>Male: 183</a:t>
            </a:r>
          </a:p>
          <a:p>
            <a:pPr marL="538682" lvl="1" indent="-269341" algn="just">
              <a:lnSpc>
                <a:spcPts val="3493"/>
              </a:lnSpc>
              <a:spcBef>
                <a:spcPct val="0"/>
              </a:spcBef>
              <a:buFont typeface="Arial"/>
              <a:buChar char="•"/>
            </a:pPr>
            <a:r>
              <a:rPr lang="en-US" sz="2495" u="none" strike="noStrike" spc="-49">
                <a:solidFill>
                  <a:srgbClr val="FFFFFF"/>
                </a:solidFill>
                <a:latin typeface="Inter"/>
                <a:ea typeface="Inter"/>
                <a:cs typeface="Inter"/>
                <a:sym typeface="Inter"/>
              </a:rPr>
              <a:t>Non-Binary: 35</a:t>
            </a:r>
          </a:p>
          <a:p>
            <a:pPr marL="538682" lvl="1" indent="-269341" algn="just">
              <a:lnSpc>
                <a:spcPts val="3493"/>
              </a:lnSpc>
              <a:spcBef>
                <a:spcPct val="0"/>
              </a:spcBef>
              <a:buFont typeface="Arial"/>
              <a:buChar char="•"/>
            </a:pPr>
            <a:r>
              <a:rPr lang="en-US" sz="2495" u="none" strike="noStrike" spc="-49">
                <a:solidFill>
                  <a:srgbClr val="FFFFFF"/>
                </a:solidFill>
                <a:latin typeface="Inter"/>
                <a:ea typeface="Inter"/>
                <a:cs typeface="Inter"/>
                <a:sym typeface="Inter"/>
              </a:rPr>
              <a:t>Prefer Not to Say: 3</a:t>
            </a:r>
          </a:p>
          <a:p>
            <a:pPr marL="538682" lvl="1" indent="-269341" algn="just">
              <a:lnSpc>
                <a:spcPts val="3493"/>
              </a:lnSpc>
              <a:spcBef>
                <a:spcPct val="0"/>
              </a:spcBef>
              <a:buFont typeface="Arial"/>
              <a:buChar char="•"/>
            </a:pPr>
            <a:r>
              <a:rPr lang="en-US" sz="2495" u="none" strike="noStrike" spc="-49">
                <a:solidFill>
                  <a:srgbClr val="FFFFFF"/>
                </a:solidFill>
                <a:latin typeface="Inter"/>
                <a:ea typeface="Inter"/>
                <a:cs typeface="Inter"/>
                <a:sym typeface="Inter"/>
              </a:rPr>
              <a:t>Human Resources:</a:t>
            </a:r>
          </a:p>
          <a:p>
            <a:pPr marL="538682" lvl="1" indent="-269341" algn="just">
              <a:lnSpc>
                <a:spcPts val="3493"/>
              </a:lnSpc>
              <a:spcBef>
                <a:spcPct val="0"/>
              </a:spcBef>
              <a:buFont typeface="Arial"/>
              <a:buChar char="•"/>
            </a:pPr>
            <a:r>
              <a:rPr lang="en-US" sz="2495" u="none" strike="noStrike" spc="-49">
                <a:solidFill>
                  <a:srgbClr val="FFFFFF"/>
                </a:solidFill>
                <a:latin typeface="Inter"/>
                <a:ea typeface="Inter"/>
                <a:cs typeface="Inter"/>
                <a:sym typeface="Inter"/>
              </a:rPr>
              <a:t>Female: 33</a:t>
            </a:r>
          </a:p>
          <a:p>
            <a:pPr marL="538682" lvl="1" indent="-269341" algn="just">
              <a:lnSpc>
                <a:spcPts val="3493"/>
              </a:lnSpc>
              <a:spcBef>
                <a:spcPct val="0"/>
              </a:spcBef>
              <a:buFont typeface="Arial"/>
              <a:buChar char="•"/>
            </a:pPr>
            <a:r>
              <a:rPr lang="en-US" sz="2495" u="none" strike="noStrike" spc="-49">
                <a:solidFill>
                  <a:srgbClr val="FFFFFF"/>
                </a:solidFill>
                <a:latin typeface="Inter"/>
                <a:ea typeface="Inter"/>
                <a:cs typeface="Inter"/>
                <a:sym typeface="Inter"/>
              </a:rPr>
              <a:t>Male: 24</a:t>
            </a:r>
          </a:p>
          <a:p>
            <a:pPr marL="538682" lvl="1" indent="-269341" algn="just">
              <a:lnSpc>
                <a:spcPts val="3493"/>
              </a:lnSpc>
              <a:spcBef>
                <a:spcPct val="0"/>
              </a:spcBef>
              <a:buFont typeface="Arial"/>
              <a:buChar char="•"/>
            </a:pPr>
            <a:r>
              <a:rPr lang="en-US" sz="2495" u="none" strike="noStrike" spc="-49">
                <a:solidFill>
                  <a:srgbClr val="FFFFFF"/>
                </a:solidFill>
                <a:latin typeface="Inter"/>
                <a:ea typeface="Inter"/>
                <a:cs typeface="Inter"/>
                <a:sym typeface="Inter"/>
              </a:rPr>
              <a:t>Non-Binary: 5</a:t>
            </a:r>
          </a:p>
          <a:p>
            <a:pPr marL="538682" lvl="1" indent="-269341" algn="just">
              <a:lnSpc>
                <a:spcPts val="3493"/>
              </a:lnSpc>
              <a:spcBef>
                <a:spcPct val="0"/>
              </a:spcBef>
              <a:buFont typeface="Arial"/>
              <a:buChar char="•"/>
            </a:pPr>
            <a:r>
              <a:rPr lang="en-US" sz="2495" u="none" strike="noStrike" spc="-49">
                <a:solidFill>
                  <a:srgbClr val="FFFFFF"/>
                </a:solidFill>
                <a:latin typeface="Inter"/>
                <a:ea typeface="Inter"/>
                <a:cs typeface="Inter"/>
                <a:sym typeface="Inter"/>
              </a:rPr>
              <a:t>Prefer Not to Say: 1</a:t>
            </a:r>
          </a:p>
        </p:txBody>
      </p:sp>
      <p:sp>
        <p:nvSpPr>
          <p:cNvPr id="11" name="TextBox 11"/>
          <p:cNvSpPr txBox="1"/>
          <p:nvPr/>
        </p:nvSpPr>
        <p:spPr>
          <a:xfrm>
            <a:off x="6753913" y="3065264"/>
            <a:ext cx="4780173" cy="5251576"/>
          </a:xfrm>
          <a:prstGeom prst="rect">
            <a:avLst/>
          </a:prstGeom>
        </p:spPr>
        <p:txBody>
          <a:bodyPr lIns="0" tIns="0" rIns="0" bIns="0" rtlCol="0" anchor="t">
            <a:spAutoFit/>
          </a:bodyPr>
          <a:lstStyle/>
          <a:p>
            <a:pPr algn="just">
              <a:lnSpc>
                <a:spcPts val="3493"/>
              </a:lnSpc>
              <a:spcBef>
                <a:spcPct val="0"/>
              </a:spcBef>
            </a:pPr>
            <a:r>
              <a:rPr lang="en-US" sz="2495" u="none" strike="noStrike" spc="-49">
                <a:solidFill>
                  <a:srgbClr val="FFFFFF"/>
                </a:solidFill>
                <a:latin typeface="Inter"/>
                <a:ea typeface="Inter"/>
                <a:cs typeface="Inter"/>
                <a:sym typeface="Inter"/>
              </a:rPr>
              <a:t>4. Business Travel Activity</a:t>
            </a:r>
          </a:p>
          <a:p>
            <a:pPr marL="538682" lvl="1" indent="-269341" algn="just">
              <a:lnSpc>
                <a:spcPts val="3493"/>
              </a:lnSpc>
              <a:spcBef>
                <a:spcPct val="0"/>
              </a:spcBef>
              <a:buFont typeface="Arial"/>
              <a:buChar char="•"/>
            </a:pPr>
            <a:r>
              <a:rPr lang="en-US" sz="2495" u="none" strike="noStrike" spc="-49">
                <a:solidFill>
                  <a:srgbClr val="FFFFFF"/>
                </a:solidFill>
                <a:latin typeface="Inter"/>
                <a:ea typeface="Inter"/>
                <a:cs typeface="Inter"/>
                <a:sym typeface="Inter"/>
              </a:rPr>
              <a:t>Some Travel: ~70.95% (~1,000 employees)</a:t>
            </a:r>
          </a:p>
          <a:p>
            <a:pPr marL="538682" lvl="1" indent="-269341" algn="just">
              <a:lnSpc>
                <a:spcPts val="3493"/>
              </a:lnSpc>
              <a:spcBef>
                <a:spcPct val="0"/>
              </a:spcBef>
              <a:buFont typeface="Arial"/>
              <a:buChar char="•"/>
            </a:pPr>
            <a:r>
              <a:rPr lang="en-US" sz="2495" u="none" strike="noStrike" spc="-49">
                <a:solidFill>
                  <a:srgbClr val="FFFFFF"/>
                </a:solidFill>
                <a:latin typeface="Inter"/>
                <a:ea typeface="Inter"/>
                <a:cs typeface="Inter"/>
                <a:sym typeface="Inter"/>
              </a:rPr>
              <a:t>Frequent Travel: ~18% (~260 employees)</a:t>
            </a:r>
          </a:p>
          <a:p>
            <a:pPr marL="538682" lvl="1" indent="-269341" algn="just">
              <a:lnSpc>
                <a:spcPts val="3493"/>
              </a:lnSpc>
              <a:spcBef>
                <a:spcPct val="0"/>
              </a:spcBef>
              <a:buFont typeface="Arial"/>
              <a:buChar char="•"/>
            </a:pPr>
            <a:r>
              <a:rPr lang="en-US" sz="2495" u="none" strike="noStrike" spc="-49">
                <a:solidFill>
                  <a:srgbClr val="FFFFFF"/>
                </a:solidFill>
                <a:latin typeface="Inter"/>
                <a:ea typeface="Inter"/>
                <a:cs typeface="Inter"/>
                <a:sym typeface="Inter"/>
              </a:rPr>
              <a:t>No Travel: ~10.2% (~150 employees)</a:t>
            </a:r>
          </a:p>
          <a:p>
            <a:pPr algn="just">
              <a:lnSpc>
                <a:spcPts val="3493"/>
              </a:lnSpc>
              <a:spcBef>
                <a:spcPct val="0"/>
              </a:spcBef>
            </a:pPr>
            <a:r>
              <a:rPr lang="en-US" sz="2495" u="none" strike="noStrike" spc="-49">
                <a:solidFill>
                  <a:srgbClr val="FFFFFF"/>
                </a:solidFill>
                <a:latin typeface="Inter"/>
                <a:ea typeface="Inter"/>
                <a:cs typeface="Inter"/>
                <a:sym typeface="Inter"/>
              </a:rPr>
              <a:t>5. Employee Distribution by Department &amp; Gender</a:t>
            </a:r>
          </a:p>
          <a:p>
            <a:pPr algn="just">
              <a:lnSpc>
                <a:spcPts val="3493"/>
              </a:lnSpc>
              <a:spcBef>
                <a:spcPct val="0"/>
              </a:spcBef>
            </a:pPr>
            <a:r>
              <a:rPr lang="en-US" sz="2495" u="none" strike="noStrike" spc="-49">
                <a:solidFill>
                  <a:srgbClr val="FFFFFF"/>
                </a:solidFill>
                <a:latin typeface="Inter"/>
                <a:ea typeface="Inter"/>
                <a:cs typeface="Inter"/>
                <a:sym typeface="Inter"/>
              </a:rPr>
              <a:t>Technology Department:</a:t>
            </a:r>
          </a:p>
          <a:p>
            <a:pPr algn="just">
              <a:lnSpc>
                <a:spcPts val="3493"/>
              </a:lnSpc>
              <a:spcBef>
                <a:spcPct val="0"/>
              </a:spcBef>
            </a:pPr>
            <a:r>
              <a:rPr lang="en-US" sz="2495" u="none" strike="noStrike" spc="-49">
                <a:solidFill>
                  <a:srgbClr val="FFFFFF"/>
                </a:solidFill>
                <a:latin typeface="Inter"/>
                <a:ea typeface="Inter"/>
                <a:cs typeface="Inter"/>
                <a:sym typeface="Inter"/>
              </a:rPr>
              <a:t>Female: 438</a:t>
            </a:r>
          </a:p>
          <a:p>
            <a:pPr algn="just">
              <a:lnSpc>
                <a:spcPts val="3493"/>
              </a:lnSpc>
              <a:spcBef>
                <a:spcPct val="0"/>
              </a:spcBef>
            </a:pPr>
            <a:r>
              <a:rPr lang="en-US" sz="2495" u="none" strike="noStrike" spc="-49">
                <a:solidFill>
                  <a:srgbClr val="FFFFFF"/>
                </a:solidFill>
                <a:latin typeface="Inter"/>
                <a:ea typeface="Inter"/>
                <a:cs typeface="Inter"/>
                <a:sym typeface="Inter"/>
              </a:rPr>
              <a:t>Male: 384</a:t>
            </a:r>
          </a:p>
        </p:txBody>
      </p:sp>
      <p:grpSp>
        <p:nvGrpSpPr>
          <p:cNvPr id="12" name="Group 12"/>
          <p:cNvGrpSpPr/>
          <p:nvPr/>
        </p:nvGrpSpPr>
        <p:grpSpPr>
          <a:xfrm>
            <a:off x="1028700" y="454041"/>
            <a:ext cx="10867520" cy="1224523"/>
            <a:chOff x="0" y="0"/>
            <a:chExt cx="2862228" cy="322508"/>
          </a:xfrm>
        </p:grpSpPr>
        <p:sp>
          <p:nvSpPr>
            <p:cNvPr id="13" name="Freeform 13"/>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4" name="TextBox 14"/>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TextBox 8"/>
          <p:cNvSpPr txBox="1"/>
          <p:nvPr/>
        </p:nvSpPr>
        <p:spPr>
          <a:xfrm>
            <a:off x="1304822" y="2857791"/>
            <a:ext cx="7855422" cy="5194834"/>
          </a:xfrm>
          <a:prstGeom prst="rect">
            <a:avLst/>
          </a:prstGeom>
        </p:spPr>
        <p:txBody>
          <a:bodyPr lIns="0" tIns="0" rIns="0" bIns="0" rtlCol="0" anchor="t">
            <a:spAutoFit/>
          </a:bodyPr>
          <a:lstStyle/>
          <a:p>
            <a:pPr algn="just">
              <a:lnSpc>
                <a:spcPts val="2945"/>
              </a:lnSpc>
              <a:spcBef>
                <a:spcPct val="0"/>
              </a:spcBef>
            </a:pPr>
            <a:r>
              <a:rPr lang="en-US" sz="2103" spc="-42" dirty="0">
                <a:solidFill>
                  <a:srgbClr val="FFFFFF"/>
                </a:solidFill>
                <a:latin typeface="Inter"/>
                <a:ea typeface="Inter"/>
                <a:cs typeface="Inter"/>
                <a:sym typeface="Inter"/>
              </a:rPr>
              <a:t>1. Strengthen Diversity &amp; Inclusion Programs</a:t>
            </a:r>
          </a:p>
          <a:p>
            <a:pPr algn="just">
              <a:lnSpc>
                <a:spcPts val="2945"/>
              </a:lnSpc>
              <a:spcBef>
                <a:spcPct val="0"/>
              </a:spcBef>
            </a:pPr>
            <a:r>
              <a:rPr lang="en-US" sz="2103" spc="-42" dirty="0">
                <a:solidFill>
                  <a:srgbClr val="FFFFFF"/>
                </a:solidFill>
                <a:latin typeface="Inter"/>
                <a:ea typeface="Inter"/>
                <a:cs typeface="Inter"/>
                <a:sym typeface="Inter"/>
              </a:rPr>
              <a:t>There is healthy gender representation, but non-binary and “prefer not to say” responses indicate a need for clearer inclusion policies or more confidence in disclosure.</a:t>
            </a:r>
          </a:p>
          <a:p>
            <a:pPr algn="just">
              <a:lnSpc>
                <a:spcPts val="2945"/>
              </a:lnSpc>
              <a:spcBef>
                <a:spcPct val="0"/>
              </a:spcBef>
            </a:pPr>
            <a:r>
              <a:rPr lang="en-US" sz="2103" spc="-42" dirty="0">
                <a:solidFill>
                  <a:srgbClr val="FFFFFF"/>
                </a:solidFill>
                <a:latin typeface="Inter"/>
                <a:ea typeface="Inter"/>
                <a:cs typeface="Inter"/>
                <a:sym typeface="Inter"/>
              </a:rPr>
              <a:t>Conduct internal surveys to understand inclusion perceptions.</a:t>
            </a:r>
          </a:p>
          <a:p>
            <a:pPr algn="just">
              <a:lnSpc>
                <a:spcPts val="2945"/>
              </a:lnSpc>
              <a:spcBef>
                <a:spcPct val="0"/>
              </a:spcBef>
            </a:pPr>
            <a:r>
              <a:rPr lang="en-US" sz="2103" spc="-42" dirty="0">
                <a:solidFill>
                  <a:srgbClr val="FFFFFF"/>
                </a:solidFill>
                <a:latin typeface="Inter"/>
                <a:ea typeface="Inter"/>
                <a:cs typeface="Inter"/>
                <a:sym typeface="Inter"/>
              </a:rPr>
              <a:t>2. Review Travel Policies</a:t>
            </a:r>
          </a:p>
          <a:p>
            <a:pPr algn="just">
              <a:lnSpc>
                <a:spcPts val="2945"/>
              </a:lnSpc>
              <a:spcBef>
                <a:spcPct val="0"/>
              </a:spcBef>
            </a:pPr>
            <a:r>
              <a:rPr lang="en-US" sz="2103" spc="-42" dirty="0">
                <a:solidFill>
                  <a:srgbClr val="FFFFFF"/>
                </a:solidFill>
                <a:latin typeface="Inter"/>
                <a:ea typeface="Inter"/>
                <a:cs typeface="Inter"/>
                <a:sym typeface="Inter"/>
              </a:rPr>
              <a:t>With over 70% traveling, consider:</a:t>
            </a:r>
          </a:p>
          <a:p>
            <a:pPr algn="just">
              <a:lnSpc>
                <a:spcPts val="2945"/>
              </a:lnSpc>
              <a:spcBef>
                <a:spcPct val="0"/>
              </a:spcBef>
            </a:pPr>
            <a:r>
              <a:rPr lang="en-US" sz="2103" spc="-42" dirty="0">
                <a:solidFill>
                  <a:srgbClr val="FFFFFF"/>
                </a:solidFill>
                <a:latin typeface="Inter"/>
                <a:ea typeface="Inter"/>
                <a:cs typeface="Inter"/>
                <a:sym typeface="Inter"/>
              </a:rPr>
              <a:t>Streamlining business travel approvals</a:t>
            </a:r>
          </a:p>
          <a:p>
            <a:pPr algn="just">
              <a:lnSpc>
                <a:spcPts val="2945"/>
              </a:lnSpc>
              <a:spcBef>
                <a:spcPct val="0"/>
              </a:spcBef>
            </a:pPr>
            <a:r>
              <a:rPr lang="en-US" sz="2103" spc="-42" dirty="0">
                <a:solidFill>
                  <a:srgbClr val="FFFFFF"/>
                </a:solidFill>
                <a:latin typeface="Inter"/>
                <a:ea typeface="Inter"/>
                <a:cs typeface="Inter"/>
                <a:sym typeface="Inter"/>
              </a:rPr>
              <a:t>Offering flexible travel alternatives</a:t>
            </a:r>
          </a:p>
          <a:p>
            <a:pPr algn="just">
              <a:lnSpc>
                <a:spcPts val="2945"/>
              </a:lnSpc>
              <a:spcBef>
                <a:spcPct val="0"/>
              </a:spcBef>
            </a:pPr>
            <a:r>
              <a:rPr lang="en-US" sz="2103" spc="-42" dirty="0">
                <a:solidFill>
                  <a:srgbClr val="FFFFFF"/>
                </a:solidFill>
                <a:latin typeface="Inter"/>
                <a:ea typeface="Inter"/>
                <a:cs typeface="Inter"/>
                <a:sym typeface="Inter"/>
              </a:rPr>
              <a:t>Monitoring travel-related fatigue and burnout</a:t>
            </a:r>
          </a:p>
          <a:p>
            <a:pPr algn="just">
              <a:lnSpc>
                <a:spcPts val="2945"/>
              </a:lnSpc>
              <a:spcBef>
                <a:spcPct val="0"/>
              </a:spcBef>
            </a:pPr>
            <a:r>
              <a:rPr lang="en-US" sz="2103" spc="-42" dirty="0">
                <a:solidFill>
                  <a:srgbClr val="FFFFFF"/>
                </a:solidFill>
                <a:latin typeface="Inter"/>
                <a:ea typeface="Inter"/>
                <a:cs typeface="Inter"/>
                <a:sym typeface="Inter"/>
              </a:rPr>
              <a:t>3. Optimize Workforce Distribution</a:t>
            </a:r>
          </a:p>
          <a:p>
            <a:pPr algn="just">
              <a:lnSpc>
                <a:spcPts val="2945"/>
              </a:lnSpc>
              <a:spcBef>
                <a:spcPct val="0"/>
              </a:spcBef>
            </a:pPr>
            <a:r>
              <a:rPr lang="en-US" sz="2103" spc="-42" dirty="0">
                <a:solidFill>
                  <a:srgbClr val="FFFFFF"/>
                </a:solidFill>
                <a:latin typeface="Inter"/>
                <a:ea typeface="Inter"/>
                <a:cs typeface="Inter"/>
                <a:sym typeface="Inter"/>
              </a:rPr>
              <a:t>Technology and Sales show high employee concentrations.</a:t>
            </a:r>
          </a:p>
          <a:p>
            <a:pPr algn="just">
              <a:lnSpc>
                <a:spcPts val="2945"/>
              </a:lnSpc>
              <a:spcBef>
                <a:spcPct val="0"/>
              </a:spcBef>
            </a:pPr>
            <a:r>
              <a:rPr lang="en-US" sz="2103" spc="-42" dirty="0">
                <a:solidFill>
                  <a:srgbClr val="FFFFFF"/>
                </a:solidFill>
                <a:latin typeface="Inter"/>
                <a:ea typeface="Inter"/>
                <a:cs typeface="Inter"/>
                <a:sym typeface="Inter"/>
              </a:rPr>
              <a:t>Assess workload balance, especially where one gender is dominant, to promote inclusive teams.</a:t>
            </a:r>
          </a:p>
        </p:txBody>
      </p:sp>
      <p:sp>
        <p:nvSpPr>
          <p:cNvPr id="9" name="TextBox 9"/>
          <p:cNvSpPr txBox="1"/>
          <p:nvPr/>
        </p:nvSpPr>
        <p:spPr>
          <a:xfrm>
            <a:off x="9677400" y="2857791"/>
            <a:ext cx="7207211" cy="5989955"/>
          </a:xfrm>
          <a:prstGeom prst="rect">
            <a:avLst/>
          </a:prstGeom>
        </p:spPr>
        <p:txBody>
          <a:bodyPr lIns="0" tIns="0" rIns="0" bIns="0" rtlCol="0" anchor="t">
            <a:spAutoFit/>
          </a:bodyPr>
          <a:lstStyle/>
          <a:p>
            <a:pPr algn="just">
              <a:lnSpc>
                <a:spcPts val="3219"/>
              </a:lnSpc>
              <a:spcBef>
                <a:spcPct val="0"/>
              </a:spcBef>
            </a:pPr>
            <a:r>
              <a:rPr lang="en-US" sz="2299" spc="-45" dirty="0">
                <a:solidFill>
                  <a:srgbClr val="FFFFFF"/>
                </a:solidFill>
                <a:latin typeface="Inter"/>
                <a:ea typeface="Inter"/>
                <a:cs typeface="Inter"/>
                <a:sym typeface="Inter"/>
              </a:rPr>
              <a:t>4. Address High Commute Distances</a:t>
            </a:r>
          </a:p>
          <a:p>
            <a:pPr algn="just">
              <a:lnSpc>
                <a:spcPts val="3219"/>
              </a:lnSpc>
              <a:spcBef>
                <a:spcPct val="0"/>
              </a:spcBef>
            </a:pPr>
            <a:r>
              <a:rPr lang="en-US" sz="2299" spc="-45" dirty="0">
                <a:solidFill>
                  <a:srgbClr val="FFFFFF"/>
                </a:solidFill>
                <a:latin typeface="Inter"/>
                <a:ea typeface="Inter"/>
                <a:cs typeface="Inter"/>
                <a:sym typeface="Inter"/>
              </a:rPr>
              <a:t>With travel distances reaching up to 45 km, consider:</a:t>
            </a:r>
          </a:p>
          <a:p>
            <a:pPr algn="just">
              <a:lnSpc>
                <a:spcPts val="3219"/>
              </a:lnSpc>
              <a:spcBef>
                <a:spcPct val="0"/>
              </a:spcBef>
            </a:pPr>
            <a:r>
              <a:rPr lang="en-US" sz="2299" spc="-45" dirty="0">
                <a:solidFill>
                  <a:srgbClr val="FFFFFF"/>
                </a:solidFill>
                <a:latin typeface="Inter"/>
                <a:ea typeface="Inter"/>
                <a:cs typeface="Inter"/>
                <a:sym typeface="Inter"/>
              </a:rPr>
              <a:t>Remote/hybrid work flexibility</a:t>
            </a:r>
          </a:p>
          <a:p>
            <a:pPr algn="just">
              <a:lnSpc>
                <a:spcPts val="3219"/>
              </a:lnSpc>
              <a:spcBef>
                <a:spcPct val="0"/>
              </a:spcBef>
            </a:pPr>
            <a:r>
              <a:rPr lang="en-US" sz="2299" spc="-45" dirty="0">
                <a:solidFill>
                  <a:srgbClr val="FFFFFF"/>
                </a:solidFill>
                <a:latin typeface="Inter"/>
                <a:ea typeface="Inter"/>
                <a:cs typeface="Inter"/>
                <a:sym typeface="Inter"/>
              </a:rPr>
              <a:t>Transportation allowances</a:t>
            </a:r>
          </a:p>
          <a:p>
            <a:pPr algn="just">
              <a:lnSpc>
                <a:spcPts val="3219"/>
              </a:lnSpc>
              <a:spcBef>
                <a:spcPct val="0"/>
              </a:spcBef>
            </a:pPr>
            <a:r>
              <a:rPr lang="en-US" sz="2299" spc="-45" dirty="0">
                <a:solidFill>
                  <a:srgbClr val="FFFFFF"/>
                </a:solidFill>
                <a:latin typeface="Inter"/>
                <a:ea typeface="Inter"/>
                <a:cs typeface="Inter"/>
                <a:sym typeface="Inter"/>
              </a:rPr>
              <a:t>Shuttle or corporate transportation services</a:t>
            </a:r>
          </a:p>
          <a:p>
            <a:pPr algn="just">
              <a:lnSpc>
                <a:spcPts val="3219"/>
              </a:lnSpc>
              <a:spcBef>
                <a:spcPct val="0"/>
              </a:spcBef>
            </a:pPr>
            <a:r>
              <a:rPr lang="en-US" sz="2299" spc="-45" dirty="0">
                <a:solidFill>
                  <a:srgbClr val="FFFFFF"/>
                </a:solidFill>
                <a:latin typeface="Inter"/>
                <a:ea typeface="Inter"/>
                <a:cs typeface="Inter"/>
                <a:sym typeface="Inter"/>
              </a:rPr>
              <a:t>5. Support for Single &amp; Divorced Employees</a:t>
            </a:r>
          </a:p>
          <a:p>
            <a:pPr algn="just">
              <a:lnSpc>
                <a:spcPts val="3219"/>
              </a:lnSpc>
              <a:spcBef>
                <a:spcPct val="0"/>
              </a:spcBef>
            </a:pPr>
            <a:r>
              <a:rPr lang="en-US" sz="2299" spc="-45" dirty="0">
                <a:solidFill>
                  <a:srgbClr val="FFFFFF"/>
                </a:solidFill>
                <a:latin typeface="Inter"/>
                <a:ea typeface="Inter"/>
                <a:cs typeface="Inter"/>
                <a:sym typeface="Inter"/>
              </a:rPr>
              <a:t>Large single and divorced segments may benefit from:</a:t>
            </a:r>
          </a:p>
          <a:p>
            <a:pPr algn="just">
              <a:lnSpc>
                <a:spcPts val="3219"/>
              </a:lnSpc>
              <a:spcBef>
                <a:spcPct val="0"/>
              </a:spcBef>
            </a:pPr>
            <a:r>
              <a:rPr lang="en-US" sz="2299" spc="-45" dirty="0">
                <a:solidFill>
                  <a:srgbClr val="FFFFFF"/>
                </a:solidFill>
                <a:latin typeface="Inter"/>
                <a:ea typeface="Inter"/>
                <a:cs typeface="Inter"/>
                <a:sym typeface="Inter"/>
              </a:rPr>
              <a:t>Wellness programs</a:t>
            </a:r>
          </a:p>
          <a:p>
            <a:pPr algn="just">
              <a:lnSpc>
                <a:spcPts val="3219"/>
              </a:lnSpc>
              <a:spcBef>
                <a:spcPct val="0"/>
              </a:spcBef>
            </a:pPr>
            <a:r>
              <a:rPr lang="en-US" sz="2299" spc="-45" dirty="0">
                <a:solidFill>
                  <a:srgbClr val="FFFFFF"/>
                </a:solidFill>
                <a:latin typeface="Inter"/>
                <a:ea typeface="Inter"/>
                <a:cs typeface="Inter"/>
                <a:sym typeface="Inter"/>
              </a:rPr>
              <a:t>Work–life balance initiatives</a:t>
            </a:r>
          </a:p>
          <a:p>
            <a:pPr algn="just">
              <a:lnSpc>
                <a:spcPts val="3219"/>
              </a:lnSpc>
              <a:spcBef>
                <a:spcPct val="0"/>
              </a:spcBef>
            </a:pPr>
            <a:r>
              <a:rPr lang="en-US" sz="2299" spc="-45" dirty="0">
                <a:solidFill>
                  <a:srgbClr val="FFFFFF"/>
                </a:solidFill>
                <a:latin typeface="Inter"/>
                <a:ea typeface="Inter"/>
                <a:cs typeface="Inter"/>
                <a:sym typeface="Inter"/>
              </a:rPr>
              <a:t>Social support activities</a:t>
            </a:r>
          </a:p>
          <a:p>
            <a:pPr algn="just">
              <a:lnSpc>
                <a:spcPts val="3219"/>
              </a:lnSpc>
              <a:spcBef>
                <a:spcPct val="0"/>
              </a:spcBef>
            </a:pPr>
            <a:r>
              <a:rPr lang="en-US" sz="2299" spc="-45" dirty="0">
                <a:solidFill>
                  <a:srgbClr val="FFFFFF"/>
                </a:solidFill>
                <a:latin typeface="Inter"/>
                <a:ea typeface="Inter"/>
                <a:cs typeface="Inter"/>
                <a:sym typeface="Inter"/>
              </a:rPr>
              <a:t>6. Future Dashboards to Add</a:t>
            </a:r>
          </a:p>
          <a:p>
            <a:pPr algn="just">
              <a:lnSpc>
                <a:spcPts val="3219"/>
              </a:lnSpc>
              <a:spcBef>
                <a:spcPct val="0"/>
              </a:spcBef>
            </a:pPr>
            <a:r>
              <a:rPr lang="en-US" sz="2299" spc="-45" dirty="0">
                <a:solidFill>
                  <a:srgbClr val="FFFFFF"/>
                </a:solidFill>
                <a:latin typeface="Inter"/>
                <a:ea typeface="Inter"/>
                <a:cs typeface="Inter"/>
                <a:sym typeface="Inter"/>
              </a:rPr>
              <a:t>Attrition rate</a:t>
            </a:r>
          </a:p>
          <a:p>
            <a:pPr algn="just">
              <a:lnSpc>
                <a:spcPts val="3219"/>
              </a:lnSpc>
              <a:spcBef>
                <a:spcPct val="0"/>
              </a:spcBef>
            </a:pPr>
            <a:r>
              <a:rPr lang="en-US" sz="2299" spc="-45" dirty="0">
                <a:solidFill>
                  <a:srgbClr val="FFFFFF"/>
                </a:solidFill>
                <a:latin typeface="Inter"/>
                <a:ea typeface="Inter"/>
                <a:cs typeface="Inter"/>
                <a:sym typeface="Inter"/>
              </a:rPr>
              <a:t>New hires vs. exits</a:t>
            </a:r>
          </a:p>
          <a:p>
            <a:pPr algn="just">
              <a:lnSpc>
                <a:spcPts val="3219"/>
              </a:lnSpc>
              <a:spcBef>
                <a:spcPct val="0"/>
              </a:spcBef>
            </a:pPr>
            <a:r>
              <a:rPr lang="en-US" sz="2299" spc="-45" dirty="0">
                <a:solidFill>
                  <a:srgbClr val="FFFFFF"/>
                </a:solidFill>
                <a:latin typeface="Inter"/>
                <a:ea typeface="Inter"/>
                <a:cs typeface="Inter"/>
                <a:sym typeface="Inter"/>
              </a:rPr>
              <a:t>Performance rating overview</a:t>
            </a:r>
          </a:p>
          <a:p>
            <a:pPr algn="just">
              <a:lnSpc>
                <a:spcPts val="3219"/>
              </a:lnSpc>
              <a:spcBef>
                <a:spcPct val="0"/>
              </a:spcBef>
            </a:pPr>
            <a:r>
              <a:rPr lang="en-US" sz="2299" spc="-45" dirty="0">
                <a:solidFill>
                  <a:srgbClr val="FFFFFF"/>
                </a:solidFill>
                <a:latin typeface="Inter"/>
                <a:ea typeface="Inter"/>
                <a:cs typeface="Inter"/>
                <a:sym typeface="Inter"/>
              </a:rPr>
              <a:t>Training and development participation</a:t>
            </a:r>
          </a:p>
        </p:txBody>
      </p:sp>
      <p:sp>
        <p:nvSpPr>
          <p:cNvPr id="10" name="TextBox 10"/>
          <p:cNvSpPr txBox="1"/>
          <p:nvPr/>
        </p:nvSpPr>
        <p:spPr>
          <a:xfrm>
            <a:off x="1288578" y="2232847"/>
            <a:ext cx="3519492" cy="448311"/>
          </a:xfrm>
          <a:prstGeom prst="rect">
            <a:avLst/>
          </a:prstGeom>
        </p:spPr>
        <p:txBody>
          <a:bodyPr lIns="0" tIns="0" rIns="0" bIns="0" rtlCol="0" anchor="t">
            <a:spAutoFit/>
          </a:bodyPr>
          <a:lstStyle/>
          <a:p>
            <a:pPr algn="l">
              <a:lnSpc>
                <a:spcPts val="3639"/>
              </a:lnSpc>
              <a:spcBef>
                <a:spcPct val="0"/>
              </a:spcBef>
            </a:pPr>
            <a:r>
              <a:rPr lang="en-US" sz="2599" spc="-51">
                <a:solidFill>
                  <a:srgbClr val="FFFFFF"/>
                </a:solidFill>
                <a:latin typeface="Inter"/>
                <a:ea typeface="Inter"/>
                <a:cs typeface="Inter"/>
                <a:sym typeface="Inter"/>
              </a:rPr>
              <a:t>💡 Recommendations</a:t>
            </a:r>
          </a:p>
        </p:txBody>
      </p:sp>
      <p:grpSp>
        <p:nvGrpSpPr>
          <p:cNvPr id="11" name="Group 11"/>
          <p:cNvGrpSpPr/>
          <p:nvPr/>
        </p:nvGrpSpPr>
        <p:grpSpPr>
          <a:xfrm>
            <a:off x="1028700" y="454041"/>
            <a:ext cx="10867520" cy="1224523"/>
            <a:chOff x="0" y="0"/>
            <a:chExt cx="2862228" cy="322508"/>
          </a:xfrm>
        </p:grpSpPr>
        <p:sp>
          <p:nvSpPr>
            <p:cNvPr id="12" name="Freeform 12"/>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3" name="TextBox 13"/>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Freeform 8"/>
          <p:cNvSpPr/>
          <p:nvPr/>
        </p:nvSpPr>
        <p:spPr>
          <a:xfrm>
            <a:off x="1288578" y="2937035"/>
            <a:ext cx="8979703" cy="4920229"/>
          </a:xfrm>
          <a:custGeom>
            <a:avLst/>
            <a:gdLst/>
            <a:ahLst/>
            <a:cxnLst/>
            <a:rect l="l" t="t" r="r" b="b"/>
            <a:pathLst>
              <a:path w="8979703" h="4920229">
                <a:moveTo>
                  <a:pt x="0" y="0"/>
                </a:moveTo>
                <a:lnTo>
                  <a:pt x="8979703" y="0"/>
                </a:lnTo>
                <a:lnTo>
                  <a:pt x="8979703" y="4920229"/>
                </a:lnTo>
                <a:lnTo>
                  <a:pt x="0" y="4920229"/>
                </a:lnTo>
                <a:lnTo>
                  <a:pt x="0" y="0"/>
                </a:lnTo>
                <a:close/>
              </a:path>
            </a:pathLst>
          </a:custGeom>
          <a:blipFill>
            <a:blip r:embed="rId8"/>
            <a:stretch>
              <a:fillRect b="-3343"/>
            </a:stretch>
          </a:blipFill>
        </p:spPr>
        <p:txBody>
          <a:bodyPr/>
          <a:lstStyle/>
          <a:p>
            <a:endParaRPr lang="ar-EG"/>
          </a:p>
        </p:txBody>
      </p:sp>
      <p:sp>
        <p:nvSpPr>
          <p:cNvPr id="9" name="TextBox 9"/>
          <p:cNvSpPr txBox="1"/>
          <p:nvPr/>
        </p:nvSpPr>
        <p:spPr>
          <a:xfrm>
            <a:off x="10499666" y="3133372"/>
            <a:ext cx="6212379" cy="4789805"/>
          </a:xfrm>
          <a:prstGeom prst="rect">
            <a:avLst/>
          </a:prstGeom>
        </p:spPr>
        <p:txBody>
          <a:bodyPr lIns="0" tIns="0" rIns="0" bIns="0" rtlCol="0" anchor="t">
            <a:spAutoFit/>
          </a:bodyPr>
          <a:lstStyle/>
          <a:p>
            <a:pPr algn="l">
              <a:lnSpc>
                <a:spcPts val="3220"/>
              </a:lnSpc>
            </a:pPr>
            <a:r>
              <a:rPr lang="en-US" sz="2300" spc="-46">
                <a:solidFill>
                  <a:srgbClr val="FFFFFF"/>
                </a:solidFill>
                <a:latin typeface="Inter"/>
                <a:ea typeface="Inter"/>
                <a:cs typeface="Inter"/>
                <a:sym typeface="Inter"/>
              </a:rPr>
              <a:t>The Salary &amp; Overtime Dashboard provides a detailed financial overview of employee compensation patterns across job roles, gender groups, and time periods.</a:t>
            </a:r>
          </a:p>
          <a:p>
            <a:pPr algn="l">
              <a:lnSpc>
                <a:spcPts val="3220"/>
              </a:lnSpc>
            </a:pPr>
            <a:r>
              <a:rPr lang="en-US" sz="2300" spc="-46">
                <a:solidFill>
                  <a:srgbClr val="FFFFFF"/>
                </a:solidFill>
                <a:latin typeface="Inter"/>
                <a:ea typeface="Inter"/>
                <a:cs typeface="Inter"/>
                <a:sym typeface="Inter"/>
              </a:rPr>
              <a:t> It also highlights the distribution of employees working overtime, enabling HR and finance teams better to manage workload balance, staffing costs, and budgeting.</a:t>
            </a:r>
          </a:p>
          <a:p>
            <a:pPr algn="l">
              <a:lnSpc>
                <a:spcPts val="3220"/>
              </a:lnSpc>
              <a:spcBef>
                <a:spcPct val="0"/>
              </a:spcBef>
            </a:pPr>
            <a:r>
              <a:rPr lang="en-US" sz="2300" spc="-46">
                <a:solidFill>
                  <a:srgbClr val="FFFFFF"/>
                </a:solidFill>
                <a:latin typeface="Inter"/>
                <a:ea typeface="Inter"/>
                <a:cs typeface="Inter"/>
                <a:sym typeface="Inter"/>
              </a:rPr>
              <a:t>The dashboard combines bar, trendline, and donut charts to provide insights into total salaries paid, overtime participation, and historical salary trends.</a:t>
            </a:r>
          </a:p>
        </p:txBody>
      </p:sp>
      <p:sp>
        <p:nvSpPr>
          <p:cNvPr id="10" name="TextBox 10"/>
          <p:cNvSpPr txBox="1"/>
          <p:nvPr/>
        </p:nvSpPr>
        <p:spPr>
          <a:xfrm>
            <a:off x="10499666" y="2527503"/>
            <a:ext cx="4130734" cy="424027"/>
          </a:xfrm>
          <a:prstGeom prst="rect">
            <a:avLst/>
          </a:prstGeom>
        </p:spPr>
        <p:txBody>
          <a:bodyPr wrap="square" lIns="0" tIns="0" rIns="0" bIns="0" rtlCol="0" anchor="t">
            <a:spAutoFit/>
          </a:bodyPr>
          <a:lstStyle/>
          <a:p>
            <a:pPr algn="ctr">
              <a:lnSpc>
                <a:spcPts val="3639"/>
              </a:lnSpc>
              <a:spcBef>
                <a:spcPct val="0"/>
              </a:spcBef>
            </a:pPr>
            <a:r>
              <a:rPr lang="en-US" sz="2599" spc="-51" dirty="0">
                <a:solidFill>
                  <a:srgbClr val="FFFFFF"/>
                </a:solidFill>
                <a:latin typeface="Inter"/>
                <a:ea typeface="Inter"/>
                <a:cs typeface="Inter"/>
                <a:sym typeface="Inter"/>
              </a:rPr>
              <a:t>📋 Dashboard Description</a:t>
            </a:r>
          </a:p>
        </p:txBody>
      </p:sp>
      <p:grpSp>
        <p:nvGrpSpPr>
          <p:cNvPr id="11" name="Group 11"/>
          <p:cNvGrpSpPr/>
          <p:nvPr/>
        </p:nvGrpSpPr>
        <p:grpSpPr>
          <a:xfrm>
            <a:off x="1028700" y="454041"/>
            <a:ext cx="10867520" cy="1224523"/>
            <a:chOff x="0" y="0"/>
            <a:chExt cx="2862228" cy="322508"/>
          </a:xfrm>
        </p:grpSpPr>
        <p:sp>
          <p:nvSpPr>
            <p:cNvPr id="12" name="Freeform 12"/>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3" name="TextBox 13"/>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13460" y="1943100"/>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TextBox 8"/>
          <p:cNvSpPr txBox="1"/>
          <p:nvPr/>
        </p:nvSpPr>
        <p:spPr>
          <a:xfrm>
            <a:off x="1288578" y="2198051"/>
            <a:ext cx="6483822" cy="376642"/>
          </a:xfrm>
          <a:prstGeom prst="rect">
            <a:avLst/>
          </a:prstGeom>
        </p:spPr>
        <p:txBody>
          <a:bodyPr wrap="square" lIns="0" tIns="0" rIns="0" bIns="0" rtlCol="0" anchor="t">
            <a:spAutoFit/>
          </a:bodyPr>
          <a:lstStyle/>
          <a:p>
            <a:pPr>
              <a:lnSpc>
                <a:spcPts val="3219"/>
              </a:lnSpc>
              <a:spcBef>
                <a:spcPct val="0"/>
              </a:spcBef>
            </a:pPr>
            <a:r>
              <a:rPr lang="en-US" sz="2299" spc="-45" dirty="0">
                <a:solidFill>
                  <a:srgbClr val="FFFFFF"/>
                </a:solidFill>
                <a:latin typeface="Inter"/>
                <a:ea typeface="Inter"/>
                <a:cs typeface="Inter"/>
                <a:sym typeface="Inter"/>
              </a:rPr>
              <a:t>📊 Key Performance Indicators (KPIs)</a:t>
            </a:r>
          </a:p>
        </p:txBody>
      </p:sp>
      <p:sp>
        <p:nvSpPr>
          <p:cNvPr id="9" name="TextBox 9"/>
          <p:cNvSpPr txBox="1"/>
          <p:nvPr/>
        </p:nvSpPr>
        <p:spPr>
          <a:xfrm>
            <a:off x="1539300" y="2913827"/>
            <a:ext cx="5580114" cy="598995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1. Total Salary Expenditure</a:t>
            </a:r>
          </a:p>
          <a:p>
            <a:pPr algn="l">
              <a:lnSpc>
                <a:spcPts val="3219"/>
              </a:lnSpc>
              <a:spcBef>
                <a:spcPct val="0"/>
              </a:spcBef>
            </a:pPr>
            <a:r>
              <a:rPr lang="en-US" sz="2299" spc="-45">
                <a:solidFill>
                  <a:srgbClr val="FFFFFF"/>
                </a:solidFill>
                <a:latin typeface="Inter"/>
                <a:ea typeface="Inter"/>
                <a:cs typeface="Inter"/>
                <a:sym typeface="Inter"/>
              </a:rPr>
              <a:t>Total Salary Paid: 166M</a:t>
            </a:r>
          </a:p>
          <a:p>
            <a:pPr algn="l">
              <a:lnSpc>
                <a:spcPts val="3219"/>
              </a:lnSpc>
              <a:spcBef>
                <a:spcPct val="0"/>
              </a:spcBef>
            </a:pPr>
            <a:r>
              <a:rPr lang="en-US" sz="2299" spc="-45">
                <a:solidFill>
                  <a:srgbClr val="FFFFFF"/>
                </a:solidFill>
                <a:latin typeface="Inter"/>
                <a:ea typeface="Inter"/>
                <a:cs typeface="Inter"/>
                <a:sym typeface="Inter"/>
              </a:rPr>
              <a:t>2. Salary by Gender</a:t>
            </a:r>
          </a:p>
          <a:p>
            <a:pPr algn="l">
              <a:lnSpc>
                <a:spcPts val="3219"/>
              </a:lnSpc>
              <a:spcBef>
                <a:spcPct val="0"/>
              </a:spcBef>
            </a:pPr>
            <a:r>
              <a:rPr lang="en-US" sz="2299" spc="-45">
                <a:solidFill>
                  <a:srgbClr val="FFFFFF"/>
                </a:solidFill>
                <a:latin typeface="Inter"/>
                <a:ea typeface="Inter"/>
                <a:cs typeface="Inter"/>
                <a:sym typeface="Inter"/>
              </a:rPr>
              <a:t>Female: 77M</a:t>
            </a:r>
          </a:p>
          <a:p>
            <a:pPr algn="l">
              <a:lnSpc>
                <a:spcPts val="3219"/>
              </a:lnSpc>
              <a:spcBef>
                <a:spcPct val="0"/>
              </a:spcBef>
            </a:pPr>
            <a:r>
              <a:rPr lang="en-US" sz="2299" spc="-45">
                <a:solidFill>
                  <a:srgbClr val="FFFFFF"/>
                </a:solidFill>
                <a:latin typeface="Inter"/>
                <a:ea typeface="Inter"/>
                <a:cs typeface="Inter"/>
                <a:sym typeface="Inter"/>
              </a:rPr>
              <a:t>Male: 73M</a:t>
            </a:r>
          </a:p>
          <a:p>
            <a:pPr algn="l">
              <a:lnSpc>
                <a:spcPts val="3219"/>
              </a:lnSpc>
              <a:spcBef>
                <a:spcPct val="0"/>
              </a:spcBef>
            </a:pPr>
            <a:r>
              <a:rPr lang="en-US" sz="2299" spc="-45">
                <a:solidFill>
                  <a:srgbClr val="FFFFFF"/>
                </a:solidFill>
                <a:latin typeface="Inter"/>
                <a:ea typeface="Inter"/>
                <a:cs typeface="Inter"/>
                <a:sym typeface="Inter"/>
              </a:rPr>
              <a:t>Non-Binary: 14M</a:t>
            </a:r>
          </a:p>
          <a:p>
            <a:pPr algn="l">
              <a:lnSpc>
                <a:spcPts val="3219"/>
              </a:lnSpc>
              <a:spcBef>
                <a:spcPct val="0"/>
              </a:spcBef>
            </a:pPr>
            <a:r>
              <a:rPr lang="en-US" sz="2299" spc="-45">
                <a:solidFill>
                  <a:srgbClr val="FFFFFF"/>
                </a:solidFill>
                <a:latin typeface="Inter"/>
                <a:ea typeface="Inter"/>
                <a:cs typeface="Inter"/>
                <a:sym typeface="Inter"/>
              </a:rPr>
              <a:t>Prefer Not to Say: 3M</a:t>
            </a:r>
          </a:p>
          <a:p>
            <a:pPr algn="l">
              <a:lnSpc>
                <a:spcPts val="3219"/>
              </a:lnSpc>
              <a:spcBef>
                <a:spcPct val="0"/>
              </a:spcBef>
            </a:pPr>
            <a:r>
              <a:rPr lang="en-US" sz="2299" spc="-45">
                <a:solidFill>
                  <a:srgbClr val="FFFFFF"/>
                </a:solidFill>
                <a:latin typeface="Inter"/>
                <a:ea typeface="Inter"/>
                <a:cs typeface="Inter"/>
                <a:sym typeface="Inter"/>
              </a:rPr>
              <a:t>3. Salary by Job Role (Top Contributors)</a:t>
            </a:r>
          </a:p>
          <a:p>
            <a:pPr algn="l">
              <a:lnSpc>
                <a:spcPts val="3219"/>
              </a:lnSpc>
              <a:spcBef>
                <a:spcPct val="0"/>
              </a:spcBef>
            </a:pPr>
            <a:r>
              <a:rPr lang="en-US" sz="2299" spc="-45">
                <a:solidFill>
                  <a:srgbClr val="FFFFFF"/>
                </a:solidFill>
                <a:latin typeface="Inter"/>
                <a:ea typeface="Inter"/>
                <a:cs typeface="Inter"/>
                <a:sym typeface="Inter"/>
              </a:rPr>
              <a:t>Sales Executive: 38M</a:t>
            </a:r>
          </a:p>
          <a:p>
            <a:pPr algn="l">
              <a:lnSpc>
                <a:spcPts val="3219"/>
              </a:lnSpc>
              <a:spcBef>
                <a:spcPct val="0"/>
              </a:spcBef>
            </a:pPr>
            <a:r>
              <a:rPr lang="en-US" sz="2299" spc="-45">
                <a:solidFill>
                  <a:srgbClr val="FFFFFF"/>
                </a:solidFill>
                <a:latin typeface="Inter"/>
                <a:ea typeface="Inter"/>
                <a:cs typeface="Inter"/>
                <a:sym typeface="Inter"/>
              </a:rPr>
              <a:t>Engineering Roles: 21M</a:t>
            </a:r>
          </a:p>
          <a:p>
            <a:pPr algn="l">
              <a:lnSpc>
                <a:spcPts val="3219"/>
              </a:lnSpc>
              <a:spcBef>
                <a:spcPct val="0"/>
              </a:spcBef>
            </a:pPr>
            <a:r>
              <a:rPr lang="en-US" sz="2299" spc="-45">
                <a:solidFill>
                  <a:srgbClr val="FFFFFF"/>
                </a:solidFill>
                <a:latin typeface="Inter"/>
                <a:ea typeface="Inter"/>
                <a:cs typeface="Inter"/>
                <a:sym typeface="Inter"/>
              </a:rPr>
              <a:t>Machine Learning Specialist: 19M</a:t>
            </a:r>
          </a:p>
          <a:p>
            <a:pPr algn="l">
              <a:lnSpc>
                <a:spcPts val="3219"/>
              </a:lnSpc>
              <a:spcBef>
                <a:spcPct val="0"/>
              </a:spcBef>
            </a:pPr>
            <a:r>
              <a:rPr lang="en-US" sz="2299" spc="-45">
                <a:solidFill>
                  <a:srgbClr val="FFFFFF"/>
                </a:solidFill>
                <a:latin typeface="Inter"/>
                <a:ea typeface="Inter"/>
                <a:cs typeface="Inter"/>
                <a:sym typeface="Inter"/>
              </a:rPr>
              <a:t>Analytics Manager: 18M</a:t>
            </a:r>
          </a:p>
          <a:p>
            <a:pPr algn="l">
              <a:lnSpc>
                <a:spcPts val="3219"/>
              </a:lnSpc>
              <a:spcBef>
                <a:spcPct val="0"/>
              </a:spcBef>
            </a:pPr>
            <a:r>
              <a:rPr lang="en-US" sz="2299" spc="-45">
                <a:solidFill>
                  <a:srgbClr val="FFFFFF"/>
                </a:solidFill>
                <a:latin typeface="Inter"/>
                <a:ea typeface="Inter"/>
                <a:cs typeface="Inter"/>
                <a:sym typeface="Inter"/>
              </a:rPr>
              <a:t>Senior Software Engineers: 17M</a:t>
            </a:r>
          </a:p>
          <a:p>
            <a:pPr algn="l">
              <a:lnSpc>
                <a:spcPts val="3219"/>
              </a:lnSpc>
              <a:spcBef>
                <a:spcPct val="0"/>
              </a:spcBef>
            </a:pPr>
            <a:r>
              <a:rPr lang="en-US" sz="2299" spc="-45">
                <a:solidFill>
                  <a:srgbClr val="FFFFFF"/>
                </a:solidFill>
                <a:latin typeface="Inter"/>
                <a:ea typeface="Inter"/>
                <a:cs typeface="Inter"/>
                <a:sym typeface="Inter"/>
              </a:rPr>
              <a:t>Software Engineers: 15M</a:t>
            </a:r>
          </a:p>
          <a:p>
            <a:pPr algn="l">
              <a:lnSpc>
                <a:spcPts val="3219"/>
              </a:lnSpc>
              <a:spcBef>
                <a:spcPct val="0"/>
              </a:spcBef>
            </a:pPr>
            <a:r>
              <a:rPr lang="en-US" sz="2299" spc="-45">
                <a:solidFill>
                  <a:srgbClr val="FFFFFF"/>
                </a:solidFill>
                <a:latin typeface="Inter"/>
                <a:ea typeface="Inter"/>
                <a:cs typeface="Inter"/>
                <a:sym typeface="Inter"/>
              </a:rPr>
              <a:t>Data Scientists: 15M</a:t>
            </a:r>
          </a:p>
        </p:txBody>
      </p:sp>
      <p:sp>
        <p:nvSpPr>
          <p:cNvPr id="10" name="TextBox 10"/>
          <p:cNvSpPr txBox="1"/>
          <p:nvPr/>
        </p:nvSpPr>
        <p:spPr>
          <a:xfrm>
            <a:off x="8132661" y="2913827"/>
            <a:ext cx="5908632" cy="3339465"/>
          </a:xfrm>
          <a:prstGeom prst="rect">
            <a:avLst/>
          </a:prstGeom>
        </p:spPr>
        <p:txBody>
          <a:bodyPr lIns="0" tIns="0" rIns="0" bIns="0" rtlCol="0" anchor="t">
            <a:spAutoFit/>
          </a:bodyPr>
          <a:lstStyle/>
          <a:p>
            <a:pPr algn="l">
              <a:lnSpc>
                <a:spcPts val="3359"/>
              </a:lnSpc>
              <a:spcBef>
                <a:spcPct val="0"/>
              </a:spcBef>
            </a:pPr>
            <a:r>
              <a:rPr lang="en-US" sz="2399" spc="-47">
                <a:solidFill>
                  <a:srgbClr val="FFFFFF"/>
                </a:solidFill>
                <a:latin typeface="Inter"/>
                <a:ea typeface="Inter"/>
                <a:cs typeface="Inter"/>
                <a:sym typeface="Inter"/>
              </a:rPr>
              <a:t>4. Employee Overtime Participation</a:t>
            </a:r>
          </a:p>
          <a:p>
            <a:pPr algn="l">
              <a:lnSpc>
                <a:spcPts val="3359"/>
              </a:lnSpc>
              <a:spcBef>
                <a:spcPct val="0"/>
              </a:spcBef>
            </a:pPr>
            <a:r>
              <a:rPr lang="en-US" sz="2399" spc="-47">
                <a:solidFill>
                  <a:srgbClr val="FFFFFF"/>
                </a:solidFill>
                <a:latin typeface="Inter"/>
                <a:ea typeface="Inter"/>
                <a:cs typeface="Inter"/>
                <a:sym typeface="Inter"/>
              </a:rPr>
              <a:t>No Overtime: 71.7% (~1,000 employees)</a:t>
            </a:r>
          </a:p>
          <a:p>
            <a:pPr algn="l">
              <a:lnSpc>
                <a:spcPts val="3359"/>
              </a:lnSpc>
              <a:spcBef>
                <a:spcPct val="0"/>
              </a:spcBef>
            </a:pPr>
            <a:r>
              <a:rPr lang="en-US" sz="2399" spc="-47">
                <a:solidFill>
                  <a:srgbClr val="FFFFFF"/>
                </a:solidFill>
                <a:latin typeface="Inter"/>
                <a:ea typeface="Inter"/>
                <a:cs typeface="Inter"/>
                <a:sym typeface="Inter"/>
              </a:rPr>
              <a:t>Yes Overtime: 28.3% (~400 employees)</a:t>
            </a:r>
          </a:p>
          <a:p>
            <a:pPr algn="l">
              <a:lnSpc>
                <a:spcPts val="3359"/>
              </a:lnSpc>
              <a:spcBef>
                <a:spcPct val="0"/>
              </a:spcBef>
            </a:pPr>
            <a:r>
              <a:rPr lang="en-US" sz="2399" spc="-47">
                <a:solidFill>
                  <a:srgbClr val="FFFFFF"/>
                </a:solidFill>
                <a:latin typeface="Inter"/>
                <a:ea typeface="Inter"/>
                <a:cs typeface="Inter"/>
                <a:sym typeface="Inter"/>
              </a:rPr>
              <a:t>5. Salary Trend Over the Years</a:t>
            </a:r>
          </a:p>
          <a:p>
            <a:pPr algn="l">
              <a:lnSpc>
                <a:spcPts val="3359"/>
              </a:lnSpc>
              <a:spcBef>
                <a:spcPct val="0"/>
              </a:spcBef>
            </a:pPr>
            <a:r>
              <a:rPr lang="en-US" sz="2399" spc="-47">
                <a:solidFill>
                  <a:srgbClr val="FFFFFF"/>
                </a:solidFill>
                <a:latin typeface="Inter"/>
                <a:ea typeface="Inter"/>
                <a:cs typeface="Inter"/>
                <a:sym typeface="Inter"/>
              </a:rPr>
              <a:t>Peak salaries: 6.4M, 5.4M, 5.1M, 4.9M</a:t>
            </a:r>
          </a:p>
          <a:p>
            <a:pPr algn="l">
              <a:lnSpc>
                <a:spcPts val="3359"/>
              </a:lnSpc>
              <a:spcBef>
                <a:spcPct val="0"/>
              </a:spcBef>
            </a:pPr>
            <a:r>
              <a:rPr lang="en-US" sz="2399" spc="-47">
                <a:solidFill>
                  <a:srgbClr val="FFFFFF"/>
                </a:solidFill>
                <a:latin typeface="Inter"/>
                <a:ea typeface="Inter"/>
                <a:cs typeface="Inter"/>
                <a:sym typeface="Inter"/>
              </a:rPr>
              <a:t>Lowest year value: 1.8M</a:t>
            </a:r>
          </a:p>
          <a:p>
            <a:pPr algn="l">
              <a:lnSpc>
                <a:spcPts val="3359"/>
              </a:lnSpc>
              <a:spcBef>
                <a:spcPct val="0"/>
              </a:spcBef>
            </a:pPr>
            <a:r>
              <a:rPr lang="en-US" sz="2399" spc="-47">
                <a:solidFill>
                  <a:srgbClr val="FFFFFF"/>
                </a:solidFill>
                <a:latin typeface="Inter"/>
                <a:ea typeface="Inter"/>
                <a:cs typeface="Inter"/>
                <a:sym typeface="Inter"/>
              </a:rPr>
              <a:t> This indicates fluctuating salary spending over time with noticeable peaks and dips.</a:t>
            </a:r>
          </a:p>
        </p:txBody>
      </p:sp>
      <p:grpSp>
        <p:nvGrpSpPr>
          <p:cNvPr id="11" name="Group 11"/>
          <p:cNvGrpSpPr/>
          <p:nvPr/>
        </p:nvGrpSpPr>
        <p:grpSpPr>
          <a:xfrm>
            <a:off x="1028700" y="454041"/>
            <a:ext cx="10867520" cy="1224523"/>
            <a:chOff x="0" y="0"/>
            <a:chExt cx="2862228" cy="322508"/>
          </a:xfrm>
        </p:grpSpPr>
        <p:sp>
          <p:nvSpPr>
            <p:cNvPr id="12" name="Freeform 12"/>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3" name="TextBox 13"/>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TextBox 8"/>
          <p:cNvSpPr txBox="1"/>
          <p:nvPr/>
        </p:nvSpPr>
        <p:spPr>
          <a:xfrm>
            <a:off x="1288578" y="1804438"/>
            <a:ext cx="4578822" cy="424027"/>
          </a:xfrm>
          <a:prstGeom prst="rect">
            <a:avLst/>
          </a:prstGeom>
        </p:spPr>
        <p:txBody>
          <a:bodyPr wrap="square" lIns="0" tIns="0" rIns="0" bIns="0" rtlCol="0" anchor="t">
            <a:spAutoFit/>
          </a:bodyPr>
          <a:lstStyle/>
          <a:p>
            <a:pPr>
              <a:lnSpc>
                <a:spcPts val="3639"/>
              </a:lnSpc>
              <a:spcBef>
                <a:spcPct val="0"/>
              </a:spcBef>
            </a:pPr>
            <a:r>
              <a:rPr lang="en-US" sz="2599" spc="-51" dirty="0">
                <a:solidFill>
                  <a:srgbClr val="FFFFFF"/>
                </a:solidFill>
                <a:latin typeface="Inter"/>
                <a:ea typeface="Inter"/>
                <a:cs typeface="Inter"/>
                <a:sym typeface="Inter"/>
              </a:rPr>
              <a:t>💡 Recommendations</a:t>
            </a:r>
          </a:p>
        </p:txBody>
      </p:sp>
      <p:sp>
        <p:nvSpPr>
          <p:cNvPr id="9" name="TextBox 9"/>
          <p:cNvSpPr txBox="1"/>
          <p:nvPr/>
        </p:nvSpPr>
        <p:spPr>
          <a:xfrm>
            <a:off x="1524910" y="2694752"/>
            <a:ext cx="6875331" cy="6273165"/>
          </a:xfrm>
          <a:prstGeom prst="rect">
            <a:avLst/>
          </a:prstGeom>
        </p:spPr>
        <p:txBody>
          <a:bodyPr lIns="0" tIns="0" rIns="0" bIns="0" rtlCol="0" anchor="t">
            <a:spAutoFit/>
          </a:bodyPr>
          <a:lstStyle/>
          <a:p>
            <a:pPr algn="just">
              <a:lnSpc>
                <a:spcPts val="3359"/>
              </a:lnSpc>
              <a:spcBef>
                <a:spcPct val="0"/>
              </a:spcBef>
            </a:pPr>
            <a:r>
              <a:rPr lang="en-US" sz="2399" spc="-47">
                <a:solidFill>
                  <a:srgbClr val="FFFFFF"/>
                </a:solidFill>
                <a:latin typeface="Inter"/>
                <a:ea typeface="Inter"/>
                <a:cs typeface="Inter"/>
                <a:sym typeface="Inter"/>
              </a:rPr>
              <a:t>1. Assess Gender Pay Patterns</a:t>
            </a:r>
          </a:p>
          <a:p>
            <a:pPr algn="just">
              <a:lnSpc>
                <a:spcPts val="3359"/>
              </a:lnSpc>
              <a:spcBef>
                <a:spcPct val="0"/>
              </a:spcBef>
            </a:pPr>
            <a:r>
              <a:rPr lang="en-US" sz="2399" spc="-47">
                <a:solidFill>
                  <a:srgbClr val="FFFFFF"/>
                </a:solidFill>
                <a:latin typeface="Inter"/>
                <a:ea typeface="Inter"/>
                <a:cs typeface="Inter"/>
                <a:sym typeface="Inter"/>
              </a:rPr>
              <a:t>Female and male salary totals are close (77M vs 73M), but deeper analysis is needed to ensure:</a:t>
            </a:r>
          </a:p>
          <a:p>
            <a:pPr algn="just">
              <a:lnSpc>
                <a:spcPts val="3359"/>
              </a:lnSpc>
              <a:spcBef>
                <a:spcPct val="0"/>
              </a:spcBef>
            </a:pPr>
            <a:r>
              <a:rPr lang="en-US" sz="2399" spc="-47">
                <a:solidFill>
                  <a:srgbClr val="FFFFFF"/>
                </a:solidFill>
                <a:latin typeface="Inter"/>
                <a:ea typeface="Inter"/>
                <a:cs typeface="Inter"/>
                <a:sym typeface="Inter"/>
              </a:rPr>
              <a:t>Equal pay within the same job roles</a:t>
            </a:r>
          </a:p>
          <a:p>
            <a:pPr algn="just">
              <a:lnSpc>
                <a:spcPts val="3359"/>
              </a:lnSpc>
              <a:spcBef>
                <a:spcPct val="0"/>
              </a:spcBef>
            </a:pPr>
            <a:r>
              <a:rPr lang="en-US" sz="2399" spc="-47">
                <a:solidFill>
                  <a:srgbClr val="FFFFFF"/>
                </a:solidFill>
                <a:latin typeface="Inter"/>
                <a:ea typeface="Inter"/>
                <a:cs typeface="Inter"/>
                <a:sym typeface="Inter"/>
              </a:rPr>
              <a:t>No systemic pay gaps in promotions or bonuses</a:t>
            </a:r>
          </a:p>
          <a:p>
            <a:pPr algn="just">
              <a:lnSpc>
                <a:spcPts val="3359"/>
              </a:lnSpc>
              <a:spcBef>
                <a:spcPct val="0"/>
              </a:spcBef>
            </a:pPr>
            <a:r>
              <a:rPr lang="en-US" sz="2399" spc="-47">
                <a:solidFill>
                  <a:srgbClr val="FFFFFF"/>
                </a:solidFill>
                <a:latin typeface="Inter"/>
                <a:ea typeface="Inter"/>
                <a:cs typeface="Inter"/>
                <a:sym typeface="Inter"/>
              </a:rPr>
              <a:t>Transparent compensation policies</a:t>
            </a:r>
          </a:p>
          <a:p>
            <a:pPr algn="just">
              <a:lnSpc>
                <a:spcPts val="3359"/>
              </a:lnSpc>
              <a:spcBef>
                <a:spcPct val="0"/>
              </a:spcBef>
            </a:pPr>
            <a:r>
              <a:rPr lang="en-US" sz="2399" spc="-47">
                <a:solidFill>
                  <a:srgbClr val="FFFFFF"/>
                </a:solidFill>
                <a:latin typeface="Inter"/>
                <a:ea typeface="Inter"/>
                <a:cs typeface="Inter"/>
                <a:sym typeface="Inter"/>
              </a:rPr>
              <a:t>2. Monitor High-Cost Job Roles</a:t>
            </a:r>
          </a:p>
          <a:p>
            <a:pPr algn="just">
              <a:lnSpc>
                <a:spcPts val="3359"/>
              </a:lnSpc>
              <a:spcBef>
                <a:spcPct val="0"/>
              </a:spcBef>
            </a:pPr>
            <a:r>
              <a:rPr lang="en-US" sz="2399" spc="-47">
                <a:solidFill>
                  <a:srgbClr val="FFFFFF"/>
                </a:solidFill>
                <a:latin typeface="Inter"/>
                <a:ea typeface="Inter"/>
                <a:cs typeface="Inter"/>
                <a:sym typeface="Inter"/>
              </a:rPr>
              <a:t>Sales Executives account for 38M — significantly higher than any other role.</a:t>
            </a:r>
          </a:p>
          <a:p>
            <a:pPr algn="just">
              <a:lnSpc>
                <a:spcPts val="3359"/>
              </a:lnSpc>
              <a:spcBef>
                <a:spcPct val="0"/>
              </a:spcBef>
            </a:pPr>
            <a:r>
              <a:rPr lang="en-US" sz="2399" spc="-47">
                <a:solidFill>
                  <a:srgbClr val="FFFFFF"/>
                </a:solidFill>
                <a:latin typeface="Inter"/>
                <a:ea typeface="Inter"/>
                <a:cs typeface="Inter"/>
                <a:sym typeface="Inter"/>
              </a:rPr>
              <a:t> Recommended actions:</a:t>
            </a:r>
          </a:p>
          <a:p>
            <a:pPr algn="just">
              <a:lnSpc>
                <a:spcPts val="3359"/>
              </a:lnSpc>
              <a:spcBef>
                <a:spcPct val="0"/>
              </a:spcBef>
            </a:pPr>
            <a:r>
              <a:rPr lang="en-US" sz="2399" spc="-47">
                <a:solidFill>
                  <a:srgbClr val="FFFFFF"/>
                </a:solidFill>
                <a:latin typeface="Inter"/>
                <a:ea typeface="Inter"/>
                <a:cs typeface="Inter"/>
                <a:sym typeface="Inter"/>
              </a:rPr>
              <a:t>Evaluate commission structures</a:t>
            </a:r>
          </a:p>
          <a:p>
            <a:pPr algn="just">
              <a:lnSpc>
                <a:spcPts val="3359"/>
              </a:lnSpc>
              <a:spcBef>
                <a:spcPct val="0"/>
              </a:spcBef>
            </a:pPr>
            <a:r>
              <a:rPr lang="en-US" sz="2399" spc="-47">
                <a:solidFill>
                  <a:srgbClr val="FFFFFF"/>
                </a:solidFill>
                <a:latin typeface="Inter"/>
                <a:ea typeface="Inter"/>
                <a:cs typeface="Inter"/>
                <a:sym typeface="Inter"/>
              </a:rPr>
              <a:t>Validate productivity and ROI</a:t>
            </a:r>
          </a:p>
          <a:p>
            <a:pPr algn="just">
              <a:lnSpc>
                <a:spcPts val="3359"/>
              </a:lnSpc>
              <a:spcBef>
                <a:spcPct val="0"/>
              </a:spcBef>
            </a:pPr>
            <a:r>
              <a:rPr lang="en-US" sz="2399" spc="-47">
                <a:solidFill>
                  <a:srgbClr val="FFFFFF"/>
                </a:solidFill>
                <a:latin typeface="Inter"/>
                <a:ea typeface="Inter"/>
                <a:cs typeface="Inter"/>
                <a:sym typeface="Inter"/>
              </a:rPr>
              <a:t>Review compensation competitiveness for engineering and analytics roles to support talent retention</a:t>
            </a:r>
          </a:p>
        </p:txBody>
      </p:sp>
      <p:sp>
        <p:nvSpPr>
          <p:cNvPr id="10" name="TextBox 10"/>
          <p:cNvSpPr txBox="1"/>
          <p:nvPr/>
        </p:nvSpPr>
        <p:spPr>
          <a:xfrm>
            <a:off x="8747697" y="2694752"/>
            <a:ext cx="8315087" cy="6692265"/>
          </a:xfrm>
          <a:prstGeom prst="rect">
            <a:avLst/>
          </a:prstGeom>
        </p:spPr>
        <p:txBody>
          <a:bodyPr lIns="0" tIns="0" rIns="0" bIns="0" rtlCol="0" anchor="t">
            <a:spAutoFit/>
          </a:bodyPr>
          <a:lstStyle/>
          <a:p>
            <a:pPr algn="just">
              <a:lnSpc>
                <a:spcPts val="3359"/>
              </a:lnSpc>
              <a:spcBef>
                <a:spcPct val="0"/>
              </a:spcBef>
            </a:pPr>
            <a:r>
              <a:rPr lang="en-US" sz="2399" spc="-47">
                <a:solidFill>
                  <a:srgbClr val="FFFFFF"/>
                </a:solidFill>
                <a:latin typeface="Inter"/>
                <a:ea typeface="Inter"/>
                <a:cs typeface="Inter"/>
                <a:sym typeface="Inter"/>
              </a:rPr>
              <a:t>3. Manage Overtime More Effectively</a:t>
            </a:r>
          </a:p>
          <a:p>
            <a:pPr algn="just">
              <a:lnSpc>
                <a:spcPts val="3359"/>
              </a:lnSpc>
              <a:spcBef>
                <a:spcPct val="0"/>
              </a:spcBef>
            </a:pPr>
            <a:r>
              <a:rPr lang="en-US" sz="2399" spc="-47">
                <a:solidFill>
                  <a:srgbClr val="FFFFFF"/>
                </a:solidFill>
                <a:latin typeface="Inter"/>
                <a:ea typeface="Inter"/>
                <a:cs typeface="Inter"/>
                <a:sym typeface="Inter"/>
              </a:rPr>
              <a:t>With 28.3% employees working overtime, this may indicate:</a:t>
            </a:r>
          </a:p>
          <a:p>
            <a:pPr algn="just">
              <a:lnSpc>
                <a:spcPts val="3359"/>
              </a:lnSpc>
              <a:spcBef>
                <a:spcPct val="0"/>
              </a:spcBef>
            </a:pPr>
            <a:r>
              <a:rPr lang="en-US" sz="2399" spc="-47">
                <a:solidFill>
                  <a:srgbClr val="FFFFFF"/>
                </a:solidFill>
                <a:latin typeface="Inter"/>
                <a:ea typeface="Inter"/>
                <a:cs typeface="Inter"/>
                <a:sym typeface="Inter"/>
              </a:rPr>
              <a:t>Workload imbalance</a:t>
            </a:r>
          </a:p>
          <a:p>
            <a:pPr algn="just">
              <a:lnSpc>
                <a:spcPts val="3359"/>
              </a:lnSpc>
              <a:spcBef>
                <a:spcPct val="0"/>
              </a:spcBef>
            </a:pPr>
            <a:r>
              <a:rPr lang="en-US" sz="2399" spc="-47">
                <a:solidFill>
                  <a:srgbClr val="FFFFFF"/>
                </a:solidFill>
                <a:latin typeface="Inter"/>
                <a:ea typeface="Inter"/>
                <a:cs typeface="Inter"/>
                <a:sym typeface="Inter"/>
              </a:rPr>
              <a:t>Staff shortages in certain departments</a:t>
            </a:r>
          </a:p>
          <a:p>
            <a:pPr algn="just">
              <a:lnSpc>
                <a:spcPts val="3359"/>
              </a:lnSpc>
              <a:spcBef>
                <a:spcPct val="0"/>
              </a:spcBef>
            </a:pPr>
            <a:r>
              <a:rPr lang="en-US" sz="2399" spc="-47">
                <a:solidFill>
                  <a:srgbClr val="FFFFFF"/>
                </a:solidFill>
                <a:latin typeface="Inter"/>
                <a:ea typeface="Inter"/>
                <a:cs typeface="Inter"/>
                <a:sym typeface="Inter"/>
              </a:rPr>
              <a:t>Long-term risk of burnout</a:t>
            </a:r>
          </a:p>
          <a:p>
            <a:pPr algn="just">
              <a:lnSpc>
                <a:spcPts val="3359"/>
              </a:lnSpc>
              <a:spcBef>
                <a:spcPct val="0"/>
              </a:spcBef>
            </a:pPr>
            <a:r>
              <a:rPr lang="en-US" sz="2399" spc="-47">
                <a:solidFill>
                  <a:srgbClr val="FFFFFF"/>
                </a:solidFill>
                <a:latin typeface="Inter"/>
                <a:ea typeface="Inter"/>
                <a:cs typeface="Inter"/>
                <a:sym typeface="Inter"/>
              </a:rPr>
              <a:t>Suggested actions:</a:t>
            </a:r>
          </a:p>
          <a:p>
            <a:pPr algn="just">
              <a:lnSpc>
                <a:spcPts val="3359"/>
              </a:lnSpc>
              <a:spcBef>
                <a:spcPct val="0"/>
              </a:spcBef>
            </a:pPr>
            <a:r>
              <a:rPr lang="en-US" sz="2399" spc="-47">
                <a:solidFill>
                  <a:srgbClr val="FFFFFF"/>
                </a:solidFill>
                <a:latin typeface="Inter"/>
                <a:ea typeface="Inter"/>
                <a:cs typeface="Inter"/>
                <a:sym typeface="Inter"/>
              </a:rPr>
              <a:t>Improve workforce planning</a:t>
            </a:r>
          </a:p>
          <a:p>
            <a:pPr algn="just">
              <a:lnSpc>
                <a:spcPts val="3359"/>
              </a:lnSpc>
              <a:spcBef>
                <a:spcPct val="0"/>
              </a:spcBef>
            </a:pPr>
            <a:r>
              <a:rPr lang="en-US" sz="2399" spc="-47">
                <a:solidFill>
                  <a:srgbClr val="FFFFFF"/>
                </a:solidFill>
                <a:latin typeface="Inter"/>
                <a:ea typeface="Inter"/>
                <a:cs typeface="Inter"/>
                <a:sym typeface="Inter"/>
              </a:rPr>
              <a:t>Introduce overtime limits</a:t>
            </a:r>
          </a:p>
          <a:p>
            <a:pPr algn="just">
              <a:lnSpc>
                <a:spcPts val="3359"/>
              </a:lnSpc>
              <a:spcBef>
                <a:spcPct val="0"/>
              </a:spcBef>
            </a:pPr>
            <a:r>
              <a:rPr lang="en-US" sz="2399" spc="-47">
                <a:solidFill>
                  <a:srgbClr val="FFFFFF"/>
                </a:solidFill>
                <a:latin typeface="Inter"/>
                <a:ea typeface="Inter"/>
                <a:cs typeface="Inter"/>
                <a:sym typeface="Inter"/>
              </a:rPr>
              <a:t>Offer flexible scheduling or shift rotations</a:t>
            </a:r>
          </a:p>
          <a:p>
            <a:pPr algn="just">
              <a:lnSpc>
                <a:spcPts val="3359"/>
              </a:lnSpc>
              <a:spcBef>
                <a:spcPct val="0"/>
              </a:spcBef>
            </a:pPr>
            <a:r>
              <a:rPr lang="en-US" sz="2399" spc="-47">
                <a:solidFill>
                  <a:srgbClr val="FFFFFF"/>
                </a:solidFill>
                <a:latin typeface="Inter"/>
                <a:ea typeface="Inter"/>
                <a:cs typeface="Inter"/>
                <a:sym typeface="Inter"/>
              </a:rPr>
              <a:t>Automate repetitive workflows where possible</a:t>
            </a:r>
          </a:p>
          <a:p>
            <a:pPr algn="just">
              <a:lnSpc>
                <a:spcPts val="3359"/>
              </a:lnSpc>
              <a:spcBef>
                <a:spcPct val="0"/>
              </a:spcBef>
            </a:pPr>
            <a:r>
              <a:rPr lang="en-US" sz="2399" spc="-47">
                <a:solidFill>
                  <a:srgbClr val="FFFFFF"/>
                </a:solidFill>
                <a:latin typeface="Inter"/>
                <a:ea typeface="Inter"/>
                <a:cs typeface="Inter"/>
                <a:sym typeface="Inter"/>
              </a:rPr>
              <a:t>4. Stabilize Salary Fluctuations Over Time</a:t>
            </a:r>
          </a:p>
          <a:p>
            <a:pPr algn="just">
              <a:lnSpc>
                <a:spcPts val="3359"/>
              </a:lnSpc>
              <a:spcBef>
                <a:spcPct val="0"/>
              </a:spcBef>
            </a:pPr>
            <a:r>
              <a:rPr lang="en-US" sz="2399" spc="-47">
                <a:solidFill>
                  <a:srgbClr val="FFFFFF"/>
                </a:solidFill>
                <a:latin typeface="Inter"/>
                <a:ea typeface="Inter"/>
                <a:cs typeface="Inter"/>
                <a:sym typeface="Inter"/>
              </a:rPr>
              <a:t>The salary trend shows significant ups and downs, suggesting:</a:t>
            </a:r>
          </a:p>
          <a:p>
            <a:pPr algn="just">
              <a:lnSpc>
                <a:spcPts val="3359"/>
              </a:lnSpc>
              <a:spcBef>
                <a:spcPct val="0"/>
              </a:spcBef>
            </a:pPr>
            <a:r>
              <a:rPr lang="en-US" sz="2399" spc="-47">
                <a:solidFill>
                  <a:srgbClr val="FFFFFF"/>
                </a:solidFill>
                <a:latin typeface="Inter"/>
                <a:ea typeface="Inter"/>
                <a:cs typeface="Inter"/>
                <a:sym typeface="Inter"/>
              </a:rPr>
              <a:t>Seasonal hiring patterns</a:t>
            </a:r>
          </a:p>
          <a:p>
            <a:pPr algn="just">
              <a:lnSpc>
                <a:spcPts val="3359"/>
              </a:lnSpc>
              <a:spcBef>
                <a:spcPct val="0"/>
              </a:spcBef>
            </a:pPr>
            <a:r>
              <a:rPr lang="en-US" sz="2399" spc="-47">
                <a:solidFill>
                  <a:srgbClr val="FFFFFF"/>
                </a:solidFill>
                <a:latin typeface="Inter"/>
                <a:ea typeface="Inter"/>
                <a:cs typeface="Inter"/>
                <a:sym typeface="Inter"/>
              </a:rPr>
              <a:t>Inconsistent bonus or overtime strategies</a:t>
            </a:r>
          </a:p>
          <a:p>
            <a:pPr algn="just">
              <a:lnSpc>
                <a:spcPts val="3359"/>
              </a:lnSpc>
              <a:spcBef>
                <a:spcPct val="0"/>
              </a:spcBef>
            </a:pPr>
            <a:r>
              <a:rPr lang="en-US" sz="2399" spc="-47">
                <a:solidFill>
                  <a:srgbClr val="FFFFFF"/>
                </a:solidFill>
                <a:latin typeface="Inter"/>
                <a:ea typeface="Inter"/>
                <a:cs typeface="Inter"/>
                <a:sym typeface="Inter"/>
              </a:rPr>
              <a:t>Project-driven cost spikes</a:t>
            </a:r>
          </a:p>
        </p:txBody>
      </p:sp>
      <p:grpSp>
        <p:nvGrpSpPr>
          <p:cNvPr id="11" name="Group 11"/>
          <p:cNvGrpSpPr/>
          <p:nvPr/>
        </p:nvGrpSpPr>
        <p:grpSpPr>
          <a:xfrm>
            <a:off x="1028700" y="454041"/>
            <a:ext cx="10867520" cy="1224523"/>
            <a:chOff x="0" y="0"/>
            <a:chExt cx="2862228" cy="322508"/>
          </a:xfrm>
        </p:grpSpPr>
        <p:sp>
          <p:nvSpPr>
            <p:cNvPr id="12" name="Freeform 12"/>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3" name="TextBox 13"/>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Freeform 8"/>
          <p:cNvSpPr/>
          <p:nvPr/>
        </p:nvSpPr>
        <p:spPr>
          <a:xfrm>
            <a:off x="1288578" y="3206797"/>
            <a:ext cx="8717016" cy="4891052"/>
          </a:xfrm>
          <a:custGeom>
            <a:avLst/>
            <a:gdLst/>
            <a:ahLst/>
            <a:cxnLst/>
            <a:rect l="l" t="t" r="r" b="b"/>
            <a:pathLst>
              <a:path w="8717016" h="4891052">
                <a:moveTo>
                  <a:pt x="0" y="0"/>
                </a:moveTo>
                <a:lnTo>
                  <a:pt x="8717016" y="0"/>
                </a:lnTo>
                <a:lnTo>
                  <a:pt x="8717016" y="4891052"/>
                </a:lnTo>
                <a:lnTo>
                  <a:pt x="0" y="4891052"/>
                </a:lnTo>
                <a:lnTo>
                  <a:pt x="0" y="0"/>
                </a:lnTo>
                <a:close/>
              </a:path>
            </a:pathLst>
          </a:custGeom>
          <a:blipFill>
            <a:blip r:embed="rId8"/>
            <a:stretch>
              <a:fillRect t="-473"/>
            </a:stretch>
          </a:blipFill>
        </p:spPr>
        <p:txBody>
          <a:bodyPr/>
          <a:lstStyle/>
          <a:p>
            <a:endParaRPr lang="ar-EG"/>
          </a:p>
        </p:txBody>
      </p:sp>
      <p:sp>
        <p:nvSpPr>
          <p:cNvPr id="9" name="TextBox 9"/>
          <p:cNvSpPr txBox="1"/>
          <p:nvPr/>
        </p:nvSpPr>
        <p:spPr>
          <a:xfrm>
            <a:off x="10268281" y="2081625"/>
            <a:ext cx="3903702" cy="422275"/>
          </a:xfrm>
          <a:prstGeom prst="rect">
            <a:avLst/>
          </a:prstGeom>
        </p:spPr>
        <p:txBody>
          <a:bodyPr lIns="0" tIns="0" rIns="0" bIns="0" rtlCol="0" anchor="t">
            <a:spAutoFit/>
          </a:bodyPr>
          <a:lstStyle/>
          <a:p>
            <a:pPr algn="ctr">
              <a:lnSpc>
                <a:spcPts val="3499"/>
              </a:lnSpc>
              <a:spcBef>
                <a:spcPct val="0"/>
              </a:spcBef>
            </a:pPr>
            <a:r>
              <a:rPr lang="en-US" sz="2499" spc="-49">
                <a:solidFill>
                  <a:srgbClr val="FFFFFF"/>
                </a:solidFill>
                <a:latin typeface="Inter"/>
                <a:ea typeface="Inter"/>
                <a:cs typeface="Inter"/>
                <a:sym typeface="Inter"/>
              </a:rPr>
              <a:t>📋 Dashboard Description </a:t>
            </a:r>
          </a:p>
        </p:txBody>
      </p:sp>
      <p:sp>
        <p:nvSpPr>
          <p:cNvPr id="10" name="TextBox 10"/>
          <p:cNvSpPr txBox="1"/>
          <p:nvPr/>
        </p:nvSpPr>
        <p:spPr>
          <a:xfrm>
            <a:off x="10268281" y="2633533"/>
            <a:ext cx="6600381" cy="639000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The Departmental Insights Dashboard provides a comprehensive analytical view of key performance metrics across the Technology, Sales, and Human Resources departments.</a:t>
            </a:r>
          </a:p>
          <a:p>
            <a:pPr algn="l">
              <a:lnSpc>
                <a:spcPts val="3219"/>
              </a:lnSpc>
              <a:spcBef>
                <a:spcPct val="0"/>
              </a:spcBef>
            </a:pPr>
            <a:r>
              <a:rPr lang="en-US" sz="2299" spc="-45">
                <a:solidFill>
                  <a:srgbClr val="FFFFFF"/>
                </a:solidFill>
                <a:latin typeface="Inter"/>
                <a:ea typeface="Inter"/>
                <a:cs typeface="Inter"/>
                <a:sym typeface="Inter"/>
              </a:rPr>
              <a:t> It highlights rating distributions, employee performance comparisons between self-ratings and manager ratings, average commuting distances, and departmental headcounts.</a:t>
            </a:r>
          </a:p>
          <a:p>
            <a:pPr algn="l">
              <a:lnSpc>
                <a:spcPts val="3219"/>
              </a:lnSpc>
              <a:spcBef>
                <a:spcPct val="0"/>
              </a:spcBef>
            </a:pPr>
            <a:r>
              <a:rPr lang="en-US" sz="2299" spc="-45">
                <a:solidFill>
                  <a:srgbClr val="FFFFFF"/>
                </a:solidFill>
                <a:latin typeface="Inter"/>
                <a:ea typeface="Inter"/>
                <a:cs typeface="Inter"/>
                <a:sym typeface="Inter"/>
              </a:rPr>
              <a:t> The dashboard also tracks yearly transportation allowances, offering a financial perspective on employee benefits.</a:t>
            </a:r>
          </a:p>
          <a:p>
            <a:pPr algn="l">
              <a:lnSpc>
                <a:spcPts val="3219"/>
              </a:lnSpc>
              <a:spcBef>
                <a:spcPct val="0"/>
              </a:spcBef>
            </a:pPr>
            <a:r>
              <a:rPr lang="en-US" sz="2299" spc="-45">
                <a:solidFill>
                  <a:srgbClr val="FFFFFF"/>
                </a:solidFill>
                <a:latin typeface="Inter"/>
                <a:ea typeface="Inter"/>
                <a:cs typeface="Inter"/>
                <a:sym typeface="Inter"/>
              </a:rPr>
              <a:t>Through visual insights—including stacked rating charts, bar graphs, and time-series financial trends—the dashboard supports strategic HR planning, workforce management, and performance evaluation.</a:t>
            </a:r>
          </a:p>
        </p:txBody>
      </p:sp>
      <p:grpSp>
        <p:nvGrpSpPr>
          <p:cNvPr id="11" name="Group 11"/>
          <p:cNvGrpSpPr/>
          <p:nvPr/>
        </p:nvGrpSpPr>
        <p:grpSpPr>
          <a:xfrm>
            <a:off x="1028700" y="454041"/>
            <a:ext cx="10867520" cy="1224523"/>
            <a:chOff x="0" y="0"/>
            <a:chExt cx="2862228" cy="322508"/>
          </a:xfrm>
        </p:grpSpPr>
        <p:sp>
          <p:nvSpPr>
            <p:cNvPr id="12" name="Freeform 12"/>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3" name="TextBox 13"/>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TextBox 8"/>
          <p:cNvSpPr txBox="1"/>
          <p:nvPr/>
        </p:nvSpPr>
        <p:spPr>
          <a:xfrm>
            <a:off x="1288578" y="2105658"/>
            <a:ext cx="6483822" cy="376642"/>
          </a:xfrm>
          <a:prstGeom prst="rect">
            <a:avLst/>
          </a:prstGeom>
        </p:spPr>
        <p:txBody>
          <a:bodyPr wrap="square" lIns="0" tIns="0" rIns="0" bIns="0" rtlCol="0" anchor="t">
            <a:spAutoFit/>
          </a:bodyPr>
          <a:lstStyle/>
          <a:p>
            <a:pPr>
              <a:lnSpc>
                <a:spcPts val="3219"/>
              </a:lnSpc>
              <a:spcBef>
                <a:spcPct val="0"/>
              </a:spcBef>
            </a:pPr>
            <a:r>
              <a:rPr lang="en-US" sz="2299" spc="-45" dirty="0">
                <a:solidFill>
                  <a:srgbClr val="FFFFFF"/>
                </a:solidFill>
                <a:latin typeface="Inter"/>
                <a:ea typeface="Inter"/>
                <a:cs typeface="Inter"/>
                <a:sym typeface="Inter"/>
              </a:rPr>
              <a:t>📊 Key Performance Indicators (KPIs)</a:t>
            </a:r>
          </a:p>
        </p:txBody>
      </p:sp>
      <p:sp>
        <p:nvSpPr>
          <p:cNvPr id="9" name="TextBox 9"/>
          <p:cNvSpPr txBox="1"/>
          <p:nvPr/>
        </p:nvSpPr>
        <p:spPr>
          <a:xfrm>
            <a:off x="1288578" y="2674981"/>
            <a:ext cx="7721322" cy="5854065"/>
          </a:xfrm>
          <a:prstGeom prst="rect">
            <a:avLst/>
          </a:prstGeom>
        </p:spPr>
        <p:txBody>
          <a:bodyPr lIns="0" tIns="0" rIns="0" bIns="0" rtlCol="0" anchor="t">
            <a:spAutoFit/>
          </a:bodyPr>
          <a:lstStyle/>
          <a:p>
            <a:pPr algn="just">
              <a:lnSpc>
                <a:spcPts val="3359"/>
              </a:lnSpc>
              <a:spcBef>
                <a:spcPct val="0"/>
              </a:spcBef>
            </a:pPr>
            <a:r>
              <a:rPr lang="en-US" sz="2399" spc="-47" dirty="0">
                <a:solidFill>
                  <a:srgbClr val="FFFFFF"/>
                </a:solidFill>
                <a:latin typeface="Inter"/>
                <a:ea typeface="Inter"/>
                <a:cs typeface="Inter"/>
                <a:sym typeface="Inter"/>
              </a:rPr>
              <a:t>1. Average Ratings</a:t>
            </a:r>
          </a:p>
          <a:p>
            <a:pPr algn="just">
              <a:lnSpc>
                <a:spcPts val="3359"/>
              </a:lnSpc>
              <a:spcBef>
                <a:spcPct val="0"/>
              </a:spcBef>
            </a:pPr>
            <a:r>
              <a:rPr lang="en-US" sz="2399" spc="-47" dirty="0">
                <a:solidFill>
                  <a:srgbClr val="FFFFFF"/>
                </a:solidFill>
                <a:latin typeface="Inter"/>
                <a:ea typeface="Inter"/>
                <a:cs typeface="Inter"/>
                <a:sym typeface="Inter"/>
              </a:rPr>
              <a:t>Average Self-Rating (All Departments): ~53%</a:t>
            </a:r>
          </a:p>
          <a:p>
            <a:pPr algn="just">
              <a:lnSpc>
                <a:spcPts val="3359"/>
              </a:lnSpc>
              <a:spcBef>
                <a:spcPct val="0"/>
              </a:spcBef>
            </a:pPr>
            <a:r>
              <a:rPr lang="en-US" sz="2399" spc="-47" dirty="0">
                <a:solidFill>
                  <a:srgbClr val="FFFFFF"/>
                </a:solidFill>
                <a:latin typeface="Inter"/>
                <a:ea typeface="Inter"/>
                <a:cs typeface="Inter"/>
                <a:sym typeface="Inter"/>
              </a:rPr>
              <a:t>Average Manager Rating (All Departments): ~46%</a:t>
            </a:r>
          </a:p>
          <a:p>
            <a:pPr algn="just">
              <a:lnSpc>
                <a:spcPts val="3359"/>
              </a:lnSpc>
              <a:spcBef>
                <a:spcPct val="0"/>
              </a:spcBef>
            </a:pPr>
            <a:r>
              <a:rPr lang="en-US" sz="2399" spc="-47" dirty="0">
                <a:solidFill>
                  <a:srgbClr val="FFFFFF"/>
                </a:solidFill>
                <a:latin typeface="Inter"/>
                <a:ea typeface="Inter"/>
                <a:cs typeface="Inter"/>
                <a:sym typeface="Inter"/>
              </a:rPr>
              <a:t>Difference: ~7% higher employee self-rating</a:t>
            </a:r>
          </a:p>
          <a:p>
            <a:pPr algn="just">
              <a:lnSpc>
                <a:spcPts val="3359"/>
              </a:lnSpc>
              <a:spcBef>
                <a:spcPct val="0"/>
              </a:spcBef>
            </a:pPr>
            <a:r>
              <a:rPr lang="en-US" sz="2399" spc="-47" dirty="0">
                <a:solidFill>
                  <a:srgbClr val="FFFFFF"/>
                </a:solidFill>
                <a:latin typeface="Inter"/>
                <a:ea typeface="Inter"/>
                <a:cs typeface="Inter"/>
                <a:sym typeface="Inter"/>
              </a:rPr>
              <a:t>2. Department-Level Rating Metrics</a:t>
            </a:r>
          </a:p>
          <a:p>
            <a:pPr algn="just">
              <a:lnSpc>
                <a:spcPts val="3359"/>
              </a:lnSpc>
              <a:spcBef>
                <a:spcPct val="0"/>
              </a:spcBef>
            </a:pPr>
            <a:r>
              <a:rPr lang="en-US" sz="2399" spc="-47" dirty="0">
                <a:solidFill>
                  <a:srgbClr val="FFFFFF"/>
                </a:solidFill>
                <a:latin typeface="Inter"/>
                <a:ea typeface="Inter"/>
                <a:cs typeface="Inter"/>
                <a:sym typeface="Inter"/>
              </a:rPr>
              <a:t>Human Resources:</a:t>
            </a:r>
          </a:p>
          <a:p>
            <a:pPr algn="just">
              <a:lnSpc>
                <a:spcPts val="3359"/>
              </a:lnSpc>
              <a:spcBef>
                <a:spcPct val="0"/>
              </a:spcBef>
            </a:pPr>
            <a:r>
              <a:rPr lang="en-US" sz="2399" spc="-47" dirty="0">
                <a:solidFill>
                  <a:srgbClr val="FFFFFF"/>
                </a:solidFill>
                <a:latin typeface="Inter"/>
                <a:ea typeface="Inter"/>
                <a:cs typeface="Inter"/>
                <a:sym typeface="Inter"/>
              </a:rPr>
              <a:t>Average Self Rating: 3.99</a:t>
            </a:r>
          </a:p>
          <a:p>
            <a:pPr algn="just">
              <a:lnSpc>
                <a:spcPts val="3359"/>
              </a:lnSpc>
              <a:spcBef>
                <a:spcPct val="0"/>
              </a:spcBef>
            </a:pPr>
            <a:r>
              <a:rPr lang="en-US" sz="2399" spc="-47" dirty="0">
                <a:solidFill>
                  <a:srgbClr val="FFFFFF"/>
                </a:solidFill>
                <a:latin typeface="Inter"/>
                <a:ea typeface="Inter"/>
                <a:cs typeface="Inter"/>
                <a:sym typeface="Inter"/>
              </a:rPr>
              <a:t>Average Manager Rating: 3.44</a:t>
            </a:r>
          </a:p>
          <a:p>
            <a:pPr algn="just">
              <a:lnSpc>
                <a:spcPts val="3359"/>
              </a:lnSpc>
              <a:spcBef>
                <a:spcPct val="0"/>
              </a:spcBef>
            </a:pPr>
            <a:r>
              <a:rPr lang="en-US" sz="2399" spc="-47" dirty="0">
                <a:solidFill>
                  <a:srgbClr val="FFFFFF"/>
                </a:solidFill>
                <a:latin typeface="Inter"/>
                <a:ea typeface="Inter"/>
                <a:cs typeface="Inter"/>
                <a:sym typeface="Inter"/>
              </a:rPr>
              <a:t>Technology Department:</a:t>
            </a:r>
          </a:p>
          <a:p>
            <a:pPr algn="just">
              <a:lnSpc>
                <a:spcPts val="3359"/>
              </a:lnSpc>
              <a:spcBef>
                <a:spcPct val="0"/>
              </a:spcBef>
            </a:pPr>
            <a:r>
              <a:rPr lang="en-US" sz="2399" spc="-47" dirty="0">
                <a:solidFill>
                  <a:srgbClr val="FFFFFF"/>
                </a:solidFill>
                <a:latin typeface="Inter"/>
                <a:ea typeface="Inter"/>
                <a:cs typeface="Inter"/>
                <a:sym typeface="Inter"/>
              </a:rPr>
              <a:t>Rating levels </a:t>
            </a:r>
            <a:r>
              <a:rPr lang="en-US" sz="2399" spc="-47" dirty="0" err="1">
                <a:solidFill>
                  <a:srgbClr val="FFFFFF"/>
                </a:solidFill>
                <a:latin typeface="Inter"/>
                <a:ea typeface="Inter"/>
                <a:cs typeface="Inter"/>
                <a:sym typeface="Inter"/>
              </a:rPr>
              <a:t>approx</a:t>
            </a:r>
            <a:r>
              <a:rPr lang="en-US" sz="2399" spc="-47" dirty="0">
                <a:solidFill>
                  <a:srgbClr val="FFFFFF"/>
                </a:solidFill>
                <a:latin typeface="Inter"/>
                <a:ea typeface="Inter"/>
                <a:cs typeface="Inter"/>
                <a:sym typeface="Inter"/>
              </a:rPr>
              <a:t>: 984, 1090, 1059, 1040 (total 4.18K)</a:t>
            </a:r>
          </a:p>
          <a:p>
            <a:pPr algn="just">
              <a:lnSpc>
                <a:spcPts val="3359"/>
              </a:lnSpc>
              <a:spcBef>
                <a:spcPct val="0"/>
              </a:spcBef>
            </a:pPr>
            <a:r>
              <a:rPr lang="en-US" sz="2399" spc="-47" dirty="0">
                <a:solidFill>
                  <a:srgbClr val="FFFFFF"/>
                </a:solidFill>
                <a:latin typeface="Inter"/>
                <a:ea typeface="Inter"/>
                <a:cs typeface="Inter"/>
                <a:sym typeface="Inter"/>
              </a:rPr>
              <a:t>Sales Department:</a:t>
            </a:r>
          </a:p>
          <a:p>
            <a:pPr algn="just">
              <a:lnSpc>
                <a:spcPts val="3359"/>
              </a:lnSpc>
              <a:spcBef>
                <a:spcPct val="0"/>
              </a:spcBef>
            </a:pPr>
            <a:r>
              <a:rPr lang="en-US" sz="2399" spc="-47" dirty="0">
                <a:solidFill>
                  <a:srgbClr val="FFFFFF"/>
                </a:solidFill>
                <a:latin typeface="Inter"/>
                <a:ea typeface="Inter"/>
                <a:cs typeface="Inter"/>
                <a:sym typeface="Inter"/>
              </a:rPr>
              <a:t>Rating levels </a:t>
            </a:r>
            <a:r>
              <a:rPr lang="en-US" sz="2399" spc="-47" dirty="0" err="1">
                <a:solidFill>
                  <a:srgbClr val="FFFFFF"/>
                </a:solidFill>
                <a:latin typeface="Inter"/>
                <a:ea typeface="Inter"/>
                <a:cs typeface="Inter"/>
                <a:sym typeface="Inter"/>
              </a:rPr>
              <a:t>approx</a:t>
            </a:r>
            <a:r>
              <a:rPr lang="en-US" sz="2399" spc="-47" dirty="0">
                <a:solidFill>
                  <a:srgbClr val="FFFFFF"/>
                </a:solidFill>
                <a:latin typeface="Inter"/>
                <a:ea typeface="Inter"/>
                <a:cs typeface="Inter"/>
                <a:sym typeface="Inter"/>
              </a:rPr>
              <a:t>: 515, 517, 518, 558 (total 2.23K)</a:t>
            </a:r>
          </a:p>
          <a:p>
            <a:pPr algn="just">
              <a:lnSpc>
                <a:spcPts val="3359"/>
              </a:lnSpc>
              <a:spcBef>
                <a:spcPct val="0"/>
              </a:spcBef>
            </a:pPr>
            <a:r>
              <a:rPr lang="en-US" sz="2399" spc="-47" dirty="0">
                <a:solidFill>
                  <a:srgbClr val="FFFFFF"/>
                </a:solidFill>
                <a:latin typeface="Inter"/>
                <a:ea typeface="Inter"/>
                <a:cs typeface="Inter"/>
                <a:sym typeface="Inter"/>
              </a:rPr>
              <a:t>HR Department:</a:t>
            </a:r>
          </a:p>
          <a:p>
            <a:pPr algn="just">
              <a:lnSpc>
                <a:spcPts val="3359"/>
              </a:lnSpc>
              <a:spcBef>
                <a:spcPct val="0"/>
              </a:spcBef>
            </a:pPr>
            <a:r>
              <a:rPr lang="en-US" sz="2399" spc="-47" dirty="0">
                <a:solidFill>
                  <a:srgbClr val="FFFFFF"/>
                </a:solidFill>
                <a:latin typeface="Inter"/>
                <a:ea typeface="Inter"/>
                <a:cs typeface="Inter"/>
                <a:sym typeface="Inter"/>
              </a:rPr>
              <a:t>Rating levels </a:t>
            </a:r>
            <a:r>
              <a:rPr lang="en-US" sz="2399" spc="-47" dirty="0" err="1">
                <a:solidFill>
                  <a:srgbClr val="FFFFFF"/>
                </a:solidFill>
                <a:latin typeface="Inter"/>
                <a:ea typeface="Inter"/>
                <a:cs typeface="Inter"/>
                <a:sym typeface="Inter"/>
              </a:rPr>
              <a:t>approx</a:t>
            </a:r>
            <a:r>
              <a:rPr lang="en-US" sz="2399" spc="-47" dirty="0">
                <a:solidFill>
                  <a:srgbClr val="FFFFFF"/>
                </a:solidFill>
                <a:latin typeface="Inter"/>
                <a:ea typeface="Inter"/>
                <a:cs typeface="Inter"/>
                <a:sym typeface="Inter"/>
              </a:rPr>
              <a:t>: 303 total</a:t>
            </a:r>
          </a:p>
        </p:txBody>
      </p:sp>
      <p:sp>
        <p:nvSpPr>
          <p:cNvPr id="10" name="TextBox 10"/>
          <p:cNvSpPr txBox="1"/>
          <p:nvPr/>
        </p:nvSpPr>
        <p:spPr>
          <a:xfrm>
            <a:off x="9206809" y="2679665"/>
            <a:ext cx="7551420" cy="5434965"/>
          </a:xfrm>
          <a:prstGeom prst="rect">
            <a:avLst/>
          </a:prstGeom>
        </p:spPr>
        <p:txBody>
          <a:bodyPr lIns="0" tIns="0" rIns="0" bIns="0" rtlCol="0" anchor="t">
            <a:spAutoFit/>
          </a:bodyPr>
          <a:lstStyle/>
          <a:p>
            <a:pPr algn="just">
              <a:lnSpc>
                <a:spcPts val="3359"/>
              </a:lnSpc>
            </a:pPr>
            <a:r>
              <a:rPr lang="en-US" sz="2399" spc="-47" dirty="0">
                <a:solidFill>
                  <a:srgbClr val="FFFFFF"/>
                </a:solidFill>
                <a:latin typeface="Inter"/>
                <a:ea typeface="Inter"/>
                <a:cs typeface="Inter"/>
                <a:sym typeface="Inter"/>
              </a:rPr>
              <a:t>3. Average Distance From Home (KM)</a:t>
            </a:r>
          </a:p>
          <a:p>
            <a:pPr algn="just">
              <a:lnSpc>
                <a:spcPts val="3359"/>
              </a:lnSpc>
            </a:pPr>
            <a:r>
              <a:rPr lang="en-US" sz="2399" spc="-47" dirty="0">
                <a:solidFill>
                  <a:srgbClr val="FFFFFF"/>
                </a:solidFill>
                <a:latin typeface="Inter"/>
                <a:ea typeface="Inter"/>
                <a:cs typeface="Inter"/>
                <a:sym typeface="Inter"/>
              </a:rPr>
              <a:t>Sales: 23.13 km</a:t>
            </a:r>
          </a:p>
          <a:p>
            <a:pPr algn="just">
              <a:lnSpc>
                <a:spcPts val="3359"/>
              </a:lnSpc>
            </a:pPr>
            <a:r>
              <a:rPr lang="en-US" sz="2399" spc="-47" dirty="0">
                <a:solidFill>
                  <a:srgbClr val="FFFFFF"/>
                </a:solidFill>
                <a:latin typeface="Inter"/>
                <a:ea typeface="Inter"/>
                <a:cs typeface="Inter"/>
                <a:sym typeface="Inter"/>
              </a:rPr>
              <a:t>Technology: 22.26 km</a:t>
            </a:r>
          </a:p>
          <a:p>
            <a:pPr algn="just">
              <a:lnSpc>
                <a:spcPts val="3359"/>
              </a:lnSpc>
            </a:pPr>
            <a:r>
              <a:rPr lang="en-US" sz="2399" spc="-47" dirty="0">
                <a:solidFill>
                  <a:srgbClr val="FFFFFF"/>
                </a:solidFill>
                <a:latin typeface="Inter"/>
                <a:ea typeface="Inter"/>
                <a:cs typeface="Inter"/>
                <a:sym typeface="Inter"/>
              </a:rPr>
              <a:t>Human Resources: 21.70 km</a:t>
            </a:r>
          </a:p>
          <a:p>
            <a:pPr algn="just">
              <a:lnSpc>
                <a:spcPts val="3359"/>
              </a:lnSpc>
            </a:pPr>
            <a:r>
              <a:rPr lang="en-US" sz="2399" spc="-47" dirty="0">
                <a:solidFill>
                  <a:srgbClr val="FFFFFF"/>
                </a:solidFill>
                <a:latin typeface="Inter"/>
                <a:ea typeface="Inter"/>
                <a:cs typeface="Inter"/>
                <a:sym typeface="Inter"/>
              </a:rPr>
              <a:t>Differences between departments are minimal (&lt;2 km)</a:t>
            </a:r>
          </a:p>
          <a:p>
            <a:pPr algn="just">
              <a:lnSpc>
                <a:spcPts val="3359"/>
              </a:lnSpc>
            </a:pPr>
            <a:r>
              <a:rPr lang="en-US" sz="2399" spc="-47" dirty="0">
                <a:solidFill>
                  <a:srgbClr val="FFFFFF"/>
                </a:solidFill>
                <a:latin typeface="Inter"/>
                <a:ea typeface="Inter"/>
                <a:cs typeface="Inter"/>
                <a:sym typeface="Inter"/>
              </a:rPr>
              <a:t>4. Department Size (Total Employees)</a:t>
            </a:r>
          </a:p>
          <a:p>
            <a:pPr algn="just">
              <a:lnSpc>
                <a:spcPts val="3359"/>
              </a:lnSpc>
            </a:pPr>
            <a:r>
              <a:rPr lang="en-US" sz="2399" spc="-47" dirty="0">
                <a:solidFill>
                  <a:srgbClr val="FFFFFF"/>
                </a:solidFill>
                <a:latin typeface="Inter"/>
                <a:ea typeface="Inter"/>
                <a:cs typeface="Inter"/>
                <a:sym typeface="Inter"/>
              </a:rPr>
              <a:t>Technology: 4.81K employees</a:t>
            </a:r>
          </a:p>
          <a:p>
            <a:pPr algn="just">
              <a:lnSpc>
                <a:spcPts val="3359"/>
              </a:lnSpc>
            </a:pPr>
            <a:r>
              <a:rPr lang="en-US" sz="2399" spc="-47" dirty="0">
                <a:solidFill>
                  <a:srgbClr val="FFFFFF"/>
                </a:solidFill>
                <a:latin typeface="Inter"/>
                <a:ea typeface="Inter"/>
                <a:cs typeface="Inter"/>
                <a:sym typeface="Inter"/>
              </a:rPr>
              <a:t>Sales: 2.23K employees</a:t>
            </a:r>
          </a:p>
          <a:p>
            <a:pPr algn="just">
              <a:lnSpc>
                <a:spcPts val="3359"/>
              </a:lnSpc>
            </a:pPr>
            <a:r>
              <a:rPr lang="en-US" sz="2399" spc="-47" dirty="0">
                <a:solidFill>
                  <a:srgbClr val="FFFFFF"/>
                </a:solidFill>
                <a:latin typeface="Inter"/>
                <a:ea typeface="Inter"/>
                <a:cs typeface="Inter"/>
                <a:sym typeface="Inter"/>
              </a:rPr>
              <a:t>Human Resources: 0.32K employees</a:t>
            </a:r>
          </a:p>
          <a:p>
            <a:pPr algn="just">
              <a:lnSpc>
                <a:spcPts val="3359"/>
              </a:lnSpc>
            </a:pPr>
            <a:r>
              <a:rPr lang="en-US" sz="2399" spc="-47" dirty="0">
                <a:solidFill>
                  <a:srgbClr val="FFFFFF"/>
                </a:solidFill>
                <a:latin typeface="Inter"/>
                <a:ea typeface="Inter"/>
                <a:cs typeface="Inter"/>
                <a:sym typeface="Inter"/>
              </a:rPr>
              <a:t>5. Transport Allowances Over Time</a:t>
            </a:r>
          </a:p>
          <a:p>
            <a:pPr algn="just">
              <a:lnSpc>
                <a:spcPts val="3359"/>
              </a:lnSpc>
            </a:pPr>
            <a:r>
              <a:rPr lang="en-US" sz="2399" spc="-47" dirty="0">
                <a:solidFill>
                  <a:srgbClr val="FFFFFF"/>
                </a:solidFill>
                <a:latin typeface="Inter"/>
                <a:ea typeface="Inter"/>
                <a:cs typeface="Inter"/>
                <a:sym typeface="Inter"/>
              </a:rPr>
              <a:t>Total Transport Allowance Paid: $231.55K</a:t>
            </a:r>
          </a:p>
          <a:p>
            <a:pPr algn="just">
              <a:lnSpc>
                <a:spcPts val="3359"/>
              </a:lnSpc>
            </a:pPr>
            <a:r>
              <a:rPr lang="en-US" sz="2399" spc="-47" dirty="0">
                <a:solidFill>
                  <a:srgbClr val="FFFFFF"/>
                </a:solidFill>
                <a:latin typeface="Inter"/>
                <a:ea typeface="Inter"/>
                <a:cs typeface="Inter"/>
                <a:sym typeface="Inter"/>
              </a:rPr>
              <a:t>Yearly range: $18K – $30K</a:t>
            </a:r>
          </a:p>
          <a:p>
            <a:pPr algn="just">
              <a:lnSpc>
                <a:spcPts val="3359"/>
              </a:lnSpc>
              <a:spcBef>
                <a:spcPct val="0"/>
              </a:spcBef>
            </a:pPr>
            <a:r>
              <a:rPr lang="en-US" sz="2399" spc="-47" dirty="0">
                <a:solidFill>
                  <a:srgbClr val="FFFFFF"/>
                </a:solidFill>
                <a:latin typeface="Inter"/>
                <a:ea typeface="Inter"/>
                <a:cs typeface="Inter"/>
                <a:sym typeface="Inter"/>
              </a:rPr>
              <a:t>The trend shows a gradual increase toward 2022</a:t>
            </a:r>
          </a:p>
        </p:txBody>
      </p:sp>
      <p:grpSp>
        <p:nvGrpSpPr>
          <p:cNvPr id="11" name="Group 11"/>
          <p:cNvGrpSpPr/>
          <p:nvPr/>
        </p:nvGrpSpPr>
        <p:grpSpPr>
          <a:xfrm>
            <a:off x="1028700" y="454041"/>
            <a:ext cx="10867520" cy="1224523"/>
            <a:chOff x="0" y="0"/>
            <a:chExt cx="2862228" cy="322508"/>
          </a:xfrm>
        </p:grpSpPr>
        <p:sp>
          <p:nvSpPr>
            <p:cNvPr id="12" name="Freeform 12"/>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3" name="TextBox 13"/>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TextBox 8"/>
          <p:cNvSpPr txBox="1"/>
          <p:nvPr/>
        </p:nvSpPr>
        <p:spPr>
          <a:xfrm>
            <a:off x="1589013" y="2247899"/>
            <a:ext cx="3897387" cy="430695"/>
          </a:xfrm>
          <a:prstGeom prst="rect">
            <a:avLst/>
          </a:prstGeom>
        </p:spPr>
        <p:txBody>
          <a:bodyPr wrap="square" lIns="0" tIns="0" rIns="0" bIns="0" rtlCol="0" anchor="t">
            <a:spAutoFit/>
          </a:bodyPr>
          <a:lstStyle/>
          <a:p>
            <a:pPr algn="just">
              <a:lnSpc>
                <a:spcPts val="3639"/>
              </a:lnSpc>
              <a:spcBef>
                <a:spcPct val="0"/>
              </a:spcBef>
            </a:pPr>
            <a:r>
              <a:rPr lang="en-US" sz="2599" spc="-51" dirty="0">
                <a:solidFill>
                  <a:srgbClr val="FFFFFF"/>
                </a:solidFill>
                <a:latin typeface="Inter"/>
                <a:ea typeface="Inter"/>
                <a:cs typeface="Inter"/>
                <a:sym typeface="Inter"/>
              </a:rPr>
              <a:t>💡 </a:t>
            </a:r>
            <a:r>
              <a:rPr lang="en-US" sz="2800" spc="-51" dirty="0">
                <a:solidFill>
                  <a:srgbClr val="FFFFFF"/>
                </a:solidFill>
                <a:latin typeface="Inter"/>
                <a:ea typeface="Inter"/>
                <a:cs typeface="Inter"/>
                <a:sym typeface="Inter"/>
              </a:rPr>
              <a:t>Recommendations</a:t>
            </a:r>
            <a:endParaRPr lang="en-US" sz="2599" spc="-51" dirty="0">
              <a:solidFill>
                <a:srgbClr val="FFFFFF"/>
              </a:solidFill>
              <a:latin typeface="Inter"/>
              <a:ea typeface="Inter"/>
              <a:cs typeface="Inter"/>
              <a:sym typeface="Inter"/>
            </a:endParaRPr>
          </a:p>
        </p:txBody>
      </p:sp>
      <p:sp>
        <p:nvSpPr>
          <p:cNvPr id="9" name="TextBox 9"/>
          <p:cNvSpPr txBox="1"/>
          <p:nvPr/>
        </p:nvSpPr>
        <p:spPr>
          <a:xfrm>
            <a:off x="1589013" y="3124835"/>
            <a:ext cx="5129695" cy="598995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1. Address the Gap Between Self &amp; Manager Ratings</a:t>
            </a:r>
          </a:p>
          <a:p>
            <a:pPr algn="l">
              <a:lnSpc>
                <a:spcPts val="3219"/>
              </a:lnSpc>
              <a:spcBef>
                <a:spcPct val="0"/>
              </a:spcBef>
            </a:pPr>
            <a:r>
              <a:rPr lang="en-US" sz="2299" spc="-45">
                <a:solidFill>
                  <a:srgbClr val="FFFFFF"/>
                </a:solidFill>
                <a:latin typeface="Inter"/>
                <a:ea typeface="Inter"/>
                <a:cs typeface="Inter"/>
                <a:sym typeface="Inter"/>
              </a:rPr>
              <a:t>Employees consistently rate themselves higher than managers do (≈7% difference).</a:t>
            </a:r>
          </a:p>
          <a:p>
            <a:pPr algn="l">
              <a:lnSpc>
                <a:spcPts val="3219"/>
              </a:lnSpc>
              <a:spcBef>
                <a:spcPct val="0"/>
              </a:spcBef>
            </a:pPr>
            <a:r>
              <a:rPr lang="en-US" sz="2299" spc="-45">
                <a:solidFill>
                  <a:srgbClr val="FFFFFF"/>
                </a:solidFill>
                <a:latin typeface="Inter"/>
                <a:ea typeface="Inter"/>
                <a:cs typeface="Inter"/>
                <a:sym typeface="Inter"/>
              </a:rPr>
              <a:t> This may indicate:</a:t>
            </a:r>
          </a:p>
          <a:p>
            <a:pPr algn="l">
              <a:lnSpc>
                <a:spcPts val="3219"/>
              </a:lnSpc>
              <a:spcBef>
                <a:spcPct val="0"/>
              </a:spcBef>
            </a:pPr>
            <a:r>
              <a:rPr lang="en-US" sz="2299" spc="-45">
                <a:solidFill>
                  <a:srgbClr val="FFFFFF"/>
                </a:solidFill>
                <a:latin typeface="Inter"/>
                <a:ea typeface="Inter"/>
                <a:cs typeface="Inter"/>
                <a:sym typeface="Inter"/>
              </a:rPr>
              <a:t>Misalignment in performance expectations</a:t>
            </a:r>
          </a:p>
          <a:p>
            <a:pPr algn="l">
              <a:lnSpc>
                <a:spcPts val="3219"/>
              </a:lnSpc>
              <a:spcBef>
                <a:spcPct val="0"/>
              </a:spcBef>
            </a:pPr>
            <a:r>
              <a:rPr lang="en-US" sz="2299" spc="-45">
                <a:solidFill>
                  <a:srgbClr val="FFFFFF"/>
                </a:solidFill>
                <a:latin typeface="Inter"/>
                <a:ea typeface="Inter"/>
                <a:cs typeface="Inter"/>
                <a:sym typeface="Inter"/>
              </a:rPr>
              <a:t>Insufficient feedback frequency</a:t>
            </a:r>
          </a:p>
          <a:p>
            <a:pPr algn="l">
              <a:lnSpc>
                <a:spcPts val="3219"/>
              </a:lnSpc>
              <a:spcBef>
                <a:spcPct val="0"/>
              </a:spcBef>
            </a:pPr>
            <a:r>
              <a:rPr lang="en-US" sz="2299" spc="-45">
                <a:solidFill>
                  <a:srgbClr val="FFFFFF"/>
                </a:solidFill>
                <a:latin typeface="Inter"/>
                <a:ea typeface="Inter"/>
                <a:cs typeface="Inter"/>
                <a:sym typeface="Inter"/>
              </a:rPr>
              <a:t>Lack of standardized evaluation criteria</a:t>
            </a:r>
          </a:p>
          <a:p>
            <a:pPr algn="l">
              <a:lnSpc>
                <a:spcPts val="3219"/>
              </a:lnSpc>
              <a:spcBef>
                <a:spcPct val="0"/>
              </a:spcBef>
            </a:pPr>
            <a:r>
              <a:rPr lang="en-US" sz="2299" spc="-45">
                <a:solidFill>
                  <a:srgbClr val="FFFFFF"/>
                </a:solidFill>
                <a:latin typeface="Inter"/>
                <a:ea typeface="Inter"/>
                <a:cs typeface="Inter"/>
                <a:sym typeface="Inter"/>
              </a:rPr>
              <a:t>Recommendation:</a:t>
            </a:r>
          </a:p>
          <a:p>
            <a:pPr algn="l">
              <a:lnSpc>
                <a:spcPts val="3219"/>
              </a:lnSpc>
              <a:spcBef>
                <a:spcPct val="0"/>
              </a:spcBef>
            </a:pPr>
            <a:r>
              <a:rPr lang="en-US" sz="2299" spc="-45">
                <a:solidFill>
                  <a:srgbClr val="FFFFFF"/>
                </a:solidFill>
                <a:latin typeface="Inter"/>
                <a:ea typeface="Inter"/>
                <a:cs typeface="Inter"/>
                <a:sym typeface="Inter"/>
              </a:rPr>
              <a:t> Implement calibration sessions and training for managers to ensure consistent rating standards.</a:t>
            </a:r>
          </a:p>
        </p:txBody>
      </p:sp>
      <p:sp>
        <p:nvSpPr>
          <p:cNvPr id="10" name="TextBox 10"/>
          <p:cNvSpPr txBox="1"/>
          <p:nvPr/>
        </p:nvSpPr>
        <p:spPr>
          <a:xfrm>
            <a:off x="7202225" y="3124835"/>
            <a:ext cx="4827303" cy="598995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2. Strengthen HR Department Capacity</a:t>
            </a:r>
          </a:p>
          <a:p>
            <a:pPr algn="l">
              <a:lnSpc>
                <a:spcPts val="3219"/>
              </a:lnSpc>
              <a:spcBef>
                <a:spcPct val="0"/>
              </a:spcBef>
            </a:pPr>
            <a:r>
              <a:rPr lang="en-US" sz="2299" spc="-45">
                <a:solidFill>
                  <a:srgbClr val="FFFFFF"/>
                </a:solidFill>
                <a:latin typeface="Inter"/>
                <a:ea typeface="Inter"/>
                <a:cs typeface="Inter"/>
                <a:sym typeface="Inter"/>
              </a:rPr>
              <a:t>HR has the smallest workforce (320 employees) compared to Technology (4.8K) and Sales (2.2K).</a:t>
            </a:r>
          </a:p>
          <a:p>
            <a:pPr algn="l">
              <a:lnSpc>
                <a:spcPts val="3219"/>
              </a:lnSpc>
              <a:spcBef>
                <a:spcPct val="0"/>
              </a:spcBef>
            </a:pPr>
            <a:r>
              <a:rPr lang="en-US" sz="2299" spc="-45">
                <a:solidFill>
                  <a:srgbClr val="FFFFFF"/>
                </a:solidFill>
                <a:latin typeface="Inter"/>
                <a:ea typeface="Inter"/>
                <a:cs typeface="Inter"/>
                <a:sym typeface="Inter"/>
              </a:rPr>
              <a:t> A small HR team supporting a large workforce may lead to:</a:t>
            </a:r>
          </a:p>
          <a:p>
            <a:pPr algn="l">
              <a:lnSpc>
                <a:spcPts val="3219"/>
              </a:lnSpc>
              <a:spcBef>
                <a:spcPct val="0"/>
              </a:spcBef>
            </a:pPr>
            <a:r>
              <a:rPr lang="en-US" sz="2299" spc="-45">
                <a:solidFill>
                  <a:srgbClr val="FFFFFF"/>
                </a:solidFill>
                <a:latin typeface="Inter"/>
                <a:ea typeface="Inter"/>
                <a:cs typeface="Inter"/>
                <a:sym typeface="Inter"/>
              </a:rPr>
              <a:t>Overload on HR staff</a:t>
            </a:r>
          </a:p>
          <a:p>
            <a:pPr algn="l">
              <a:lnSpc>
                <a:spcPts val="3219"/>
              </a:lnSpc>
              <a:spcBef>
                <a:spcPct val="0"/>
              </a:spcBef>
            </a:pPr>
            <a:r>
              <a:rPr lang="en-US" sz="2299" spc="-45">
                <a:solidFill>
                  <a:srgbClr val="FFFFFF"/>
                </a:solidFill>
                <a:latin typeface="Inter"/>
                <a:ea typeface="Inter"/>
                <a:cs typeface="Inter"/>
                <a:sym typeface="Inter"/>
              </a:rPr>
              <a:t>Slower issue resolution</a:t>
            </a:r>
          </a:p>
          <a:p>
            <a:pPr algn="l">
              <a:lnSpc>
                <a:spcPts val="3219"/>
              </a:lnSpc>
              <a:spcBef>
                <a:spcPct val="0"/>
              </a:spcBef>
            </a:pPr>
            <a:r>
              <a:rPr lang="en-US" sz="2299" spc="-45">
                <a:solidFill>
                  <a:srgbClr val="FFFFFF"/>
                </a:solidFill>
                <a:latin typeface="Inter"/>
                <a:ea typeface="Inter"/>
                <a:cs typeface="Inter"/>
                <a:sym typeface="Inter"/>
              </a:rPr>
              <a:t>Higher risk of employee dissatisfaction</a:t>
            </a:r>
          </a:p>
          <a:p>
            <a:pPr algn="l">
              <a:lnSpc>
                <a:spcPts val="3219"/>
              </a:lnSpc>
              <a:spcBef>
                <a:spcPct val="0"/>
              </a:spcBef>
            </a:pPr>
            <a:r>
              <a:rPr lang="en-US" sz="2299" spc="-45">
                <a:solidFill>
                  <a:srgbClr val="FFFFFF"/>
                </a:solidFill>
                <a:latin typeface="Inter"/>
                <a:ea typeface="Inter"/>
                <a:cs typeface="Inter"/>
                <a:sym typeface="Inter"/>
              </a:rPr>
              <a:t>Recommendation:</a:t>
            </a:r>
          </a:p>
          <a:p>
            <a:pPr algn="l">
              <a:lnSpc>
                <a:spcPts val="3219"/>
              </a:lnSpc>
              <a:spcBef>
                <a:spcPct val="0"/>
              </a:spcBef>
            </a:pPr>
            <a:r>
              <a:rPr lang="en-US" sz="2299" spc="-45">
                <a:solidFill>
                  <a:srgbClr val="FFFFFF"/>
                </a:solidFill>
                <a:latin typeface="Inter"/>
                <a:ea typeface="Inter"/>
                <a:cs typeface="Inter"/>
                <a:sym typeface="Inter"/>
              </a:rPr>
              <a:t> Evaluate HR staffing levels and automate repetitive HR tasks using HRIS systems.</a:t>
            </a:r>
          </a:p>
        </p:txBody>
      </p:sp>
      <p:sp>
        <p:nvSpPr>
          <p:cNvPr id="11" name="TextBox 11"/>
          <p:cNvSpPr txBox="1"/>
          <p:nvPr/>
        </p:nvSpPr>
        <p:spPr>
          <a:xfrm>
            <a:off x="12333819" y="3124835"/>
            <a:ext cx="4041238" cy="558990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3. Address High Commute Distances</a:t>
            </a:r>
          </a:p>
          <a:p>
            <a:pPr algn="l">
              <a:lnSpc>
                <a:spcPts val="3219"/>
              </a:lnSpc>
              <a:spcBef>
                <a:spcPct val="0"/>
              </a:spcBef>
            </a:pPr>
            <a:r>
              <a:rPr lang="en-US" sz="2299" spc="-45">
                <a:solidFill>
                  <a:srgbClr val="FFFFFF"/>
                </a:solidFill>
                <a:latin typeface="Inter"/>
                <a:ea typeface="Inter"/>
                <a:cs typeface="Inter"/>
                <a:sym typeface="Inter"/>
              </a:rPr>
              <a:t>Average distances (~22–23 km) may contribute to:</a:t>
            </a:r>
          </a:p>
          <a:p>
            <a:pPr algn="l">
              <a:lnSpc>
                <a:spcPts val="3219"/>
              </a:lnSpc>
              <a:spcBef>
                <a:spcPct val="0"/>
              </a:spcBef>
            </a:pPr>
            <a:r>
              <a:rPr lang="en-US" sz="2299" spc="-45">
                <a:solidFill>
                  <a:srgbClr val="FFFFFF"/>
                </a:solidFill>
                <a:latin typeface="Inter"/>
                <a:ea typeface="Inter"/>
                <a:cs typeface="Inter"/>
                <a:sym typeface="Inter"/>
              </a:rPr>
              <a:t>Fatigue</a:t>
            </a:r>
          </a:p>
          <a:p>
            <a:pPr algn="l">
              <a:lnSpc>
                <a:spcPts val="3219"/>
              </a:lnSpc>
              <a:spcBef>
                <a:spcPct val="0"/>
              </a:spcBef>
            </a:pPr>
            <a:r>
              <a:rPr lang="en-US" sz="2299" spc="-45">
                <a:solidFill>
                  <a:srgbClr val="FFFFFF"/>
                </a:solidFill>
                <a:latin typeface="Inter"/>
                <a:ea typeface="Inter"/>
                <a:cs typeface="Inter"/>
                <a:sym typeface="Inter"/>
              </a:rPr>
              <a:t>Lower punctuality</a:t>
            </a:r>
          </a:p>
          <a:p>
            <a:pPr algn="l">
              <a:lnSpc>
                <a:spcPts val="3219"/>
              </a:lnSpc>
              <a:spcBef>
                <a:spcPct val="0"/>
              </a:spcBef>
            </a:pPr>
            <a:r>
              <a:rPr lang="en-US" sz="2299" spc="-45">
                <a:solidFill>
                  <a:srgbClr val="FFFFFF"/>
                </a:solidFill>
                <a:latin typeface="Inter"/>
                <a:ea typeface="Inter"/>
                <a:cs typeface="Inter"/>
                <a:sym typeface="Inter"/>
              </a:rPr>
              <a:t>Higher turnover risks</a:t>
            </a:r>
          </a:p>
          <a:p>
            <a:pPr algn="l">
              <a:lnSpc>
                <a:spcPts val="3219"/>
              </a:lnSpc>
              <a:spcBef>
                <a:spcPct val="0"/>
              </a:spcBef>
            </a:pPr>
            <a:r>
              <a:rPr lang="en-US" sz="2299" spc="-45">
                <a:solidFill>
                  <a:srgbClr val="FFFFFF"/>
                </a:solidFill>
                <a:latin typeface="Inter"/>
                <a:ea typeface="Inter"/>
                <a:cs typeface="Inter"/>
                <a:sym typeface="Inter"/>
              </a:rPr>
              <a:t>Recommendation:</a:t>
            </a:r>
          </a:p>
          <a:p>
            <a:pPr algn="l">
              <a:lnSpc>
                <a:spcPts val="3219"/>
              </a:lnSpc>
              <a:spcBef>
                <a:spcPct val="0"/>
              </a:spcBef>
            </a:pPr>
            <a:r>
              <a:rPr lang="en-US" sz="2299" spc="-45">
                <a:solidFill>
                  <a:srgbClr val="FFFFFF"/>
                </a:solidFill>
                <a:latin typeface="Inter"/>
                <a:ea typeface="Inter"/>
                <a:cs typeface="Inter"/>
                <a:sym typeface="Inter"/>
              </a:rPr>
              <a:t> Introduce:</a:t>
            </a:r>
          </a:p>
          <a:p>
            <a:pPr algn="l">
              <a:lnSpc>
                <a:spcPts val="3219"/>
              </a:lnSpc>
              <a:spcBef>
                <a:spcPct val="0"/>
              </a:spcBef>
            </a:pPr>
            <a:r>
              <a:rPr lang="en-US" sz="2299" spc="-45">
                <a:solidFill>
                  <a:srgbClr val="FFFFFF"/>
                </a:solidFill>
                <a:latin typeface="Inter"/>
                <a:ea typeface="Inter"/>
                <a:cs typeface="Inter"/>
                <a:sym typeface="Inter"/>
              </a:rPr>
              <a:t>Partial remote-work options</a:t>
            </a:r>
          </a:p>
          <a:p>
            <a:pPr algn="l">
              <a:lnSpc>
                <a:spcPts val="3219"/>
              </a:lnSpc>
              <a:spcBef>
                <a:spcPct val="0"/>
              </a:spcBef>
            </a:pPr>
            <a:r>
              <a:rPr lang="en-US" sz="2299" spc="-45">
                <a:solidFill>
                  <a:srgbClr val="FFFFFF"/>
                </a:solidFill>
                <a:latin typeface="Inter"/>
                <a:ea typeface="Inter"/>
                <a:cs typeface="Inter"/>
                <a:sym typeface="Inter"/>
              </a:rPr>
              <a:t>Transport stipends (already tracked)</a:t>
            </a:r>
          </a:p>
          <a:p>
            <a:pPr algn="l">
              <a:lnSpc>
                <a:spcPts val="3219"/>
              </a:lnSpc>
              <a:spcBef>
                <a:spcPct val="0"/>
              </a:spcBef>
            </a:pPr>
            <a:r>
              <a:rPr lang="en-US" sz="2299" spc="-45">
                <a:solidFill>
                  <a:srgbClr val="FFFFFF"/>
                </a:solidFill>
                <a:latin typeface="Inter"/>
                <a:ea typeface="Inter"/>
                <a:cs typeface="Inter"/>
                <a:sym typeface="Inter"/>
              </a:rPr>
              <a:t>Shuttle services for peak routes</a:t>
            </a:r>
          </a:p>
        </p:txBody>
      </p:sp>
      <p:grpSp>
        <p:nvGrpSpPr>
          <p:cNvPr id="12" name="Group 12"/>
          <p:cNvGrpSpPr/>
          <p:nvPr/>
        </p:nvGrpSpPr>
        <p:grpSpPr>
          <a:xfrm>
            <a:off x="1028700" y="454041"/>
            <a:ext cx="10867520" cy="1224523"/>
            <a:chOff x="0" y="0"/>
            <a:chExt cx="2862228" cy="322508"/>
          </a:xfrm>
        </p:grpSpPr>
        <p:sp>
          <p:nvSpPr>
            <p:cNvPr id="13" name="Freeform 13"/>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4" name="TextBox 14"/>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TextBox 8"/>
          <p:cNvSpPr txBox="1"/>
          <p:nvPr/>
        </p:nvSpPr>
        <p:spPr>
          <a:xfrm>
            <a:off x="1569783" y="2524667"/>
            <a:ext cx="6260486" cy="398970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4. Continue Monitoring Transport Allowances</a:t>
            </a:r>
          </a:p>
          <a:p>
            <a:pPr algn="l">
              <a:lnSpc>
                <a:spcPts val="3219"/>
              </a:lnSpc>
              <a:spcBef>
                <a:spcPct val="0"/>
              </a:spcBef>
            </a:pPr>
            <a:r>
              <a:rPr lang="en-US" sz="2299" spc="-45">
                <a:solidFill>
                  <a:srgbClr val="FFFFFF"/>
                </a:solidFill>
                <a:latin typeface="Inter"/>
                <a:ea typeface="Inter"/>
                <a:cs typeface="Inter"/>
                <a:sym typeface="Inter"/>
              </a:rPr>
              <a:t>The allowances show fluctuations but a general upward trend toward $25K–$30K.</a:t>
            </a:r>
          </a:p>
          <a:p>
            <a:pPr algn="l">
              <a:lnSpc>
                <a:spcPts val="3219"/>
              </a:lnSpc>
              <a:spcBef>
                <a:spcPct val="0"/>
              </a:spcBef>
            </a:pPr>
            <a:r>
              <a:rPr lang="en-US" sz="2299" spc="-45">
                <a:solidFill>
                  <a:srgbClr val="FFFFFF"/>
                </a:solidFill>
                <a:latin typeface="Inter"/>
                <a:ea typeface="Inter"/>
                <a:cs typeface="Inter"/>
                <a:sym typeface="Inter"/>
              </a:rPr>
              <a:t> This increase may be tied to:</a:t>
            </a:r>
          </a:p>
          <a:p>
            <a:pPr algn="l">
              <a:lnSpc>
                <a:spcPts val="3219"/>
              </a:lnSpc>
              <a:spcBef>
                <a:spcPct val="0"/>
              </a:spcBef>
            </a:pPr>
            <a:r>
              <a:rPr lang="en-US" sz="2299" spc="-45">
                <a:solidFill>
                  <a:srgbClr val="FFFFFF"/>
                </a:solidFill>
                <a:latin typeface="Inter"/>
                <a:ea typeface="Inter"/>
                <a:cs typeface="Inter"/>
                <a:sym typeface="Inter"/>
              </a:rPr>
              <a:t>Inflation</a:t>
            </a:r>
          </a:p>
          <a:p>
            <a:pPr algn="l">
              <a:lnSpc>
                <a:spcPts val="3219"/>
              </a:lnSpc>
              <a:spcBef>
                <a:spcPct val="0"/>
              </a:spcBef>
            </a:pPr>
            <a:r>
              <a:rPr lang="en-US" sz="2299" spc="-45">
                <a:solidFill>
                  <a:srgbClr val="FFFFFF"/>
                </a:solidFill>
                <a:latin typeface="Inter"/>
                <a:ea typeface="Inter"/>
                <a:cs typeface="Inter"/>
                <a:sym typeface="Inter"/>
              </a:rPr>
              <a:t>Fuel prices</a:t>
            </a:r>
          </a:p>
          <a:p>
            <a:pPr algn="l">
              <a:lnSpc>
                <a:spcPts val="3219"/>
              </a:lnSpc>
              <a:spcBef>
                <a:spcPct val="0"/>
              </a:spcBef>
            </a:pPr>
            <a:r>
              <a:rPr lang="en-US" sz="2299" spc="-45">
                <a:solidFill>
                  <a:srgbClr val="FFFFFF"/>
                </a:solidFill>
                <a:latin typeface="Inter"/>
                <a:ea typeface="Inter"/>
                <a:cs typeface="Inter"/>
                <a:sym typeface="Inter"/>
              </a:rPr>
              <a:t>Growth in employee count</a:t>
            </a:r>
          </a:p>
          <a:p>
            <a:pPr algn="l">
              <a:lnSpc>
                <a:spcPts val="3219"/>
              </a:lnSpc>
              <a:spcBef>
                <a:spcPct val="0"/>
              </a:spcBef>
            </a:pPr>
            <a:r>
              <a:rPr lang="en-US" sz="2299" spc="-45">
                <a:solidFill>
                  <a:srgbClr val="FFFFFF"/>
                </a:solidFill>
                <a:latin typeface="Inter"/>
                <a:ea typeface="Inter"/>
                <a:cs typeface="Inter"/>
                <a:sym typeface="Inter"/>
              </a:rPr>
              <a:t>Recommendation:</a:t>
            </a:r>
          </a:p>
          <a:p>
            <a:pPr algn="l">
              <a:lnSpc>
                <a:spcPts val="3219"/>
              </a:lnSpc>
              <a:spcBef>
                <a:spcPct val="0"/>
              </a:spcBef>
            </a:pPr>
            <a:r>
              <a:rPr lang="en-US" sz="2299" spc="-45">
                <a:solidFill>
                  <a:srgbClr val="FFFFFF"/>
                </a:solidFill>
                <a:latin typeface="Inter"/>
                <a:ea typeface="Inter"/>
                <a:cs typeface="Inter"/>
                <a:sym typeface="Inter"/>
              </a:rPr>
              <a:t> Regularly reassess transport allowances to maintain fairness and cost control.</a:t>
            </a:r>
          </a:p>
        </p:txBody>
      </p:sp>
      <p:sp>
        <p:nvSpPr>
          <p:cNvPr id="9" name="TextBox 9"/>
          <p:cNvSpPr txBox="1"/>
          <p:nvPr/>
        </p:nvSpPr>
        <p:spPr>
          <a:xfrm>
            <a:off x="9160244" y="2524667"/>
            <a:ext cx="5255225" cy="438975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5. Explore Rating Level Patterns</a:t>
            </a:r>
          </a:p>
          <a:p>
            <a:pPr algn="l">
              <a:lnSpc>
                <a:spcPts val="3219"/>
              </a:lnSpc>
              <a:spcBef>
                <a:spcPct val="0"/>
              </a:spcBef>
            </a:pPr>
            <a:r>
              <a:rPr lang="en-US" sz="2299" spc="-45">
                <a:solidFill>
                  <a:srgbClr val="FFFFFF"/>
                </a:solidFill>
                <a:latin typeface="Inter"/>
                <a:ea typeface="Inter"/>
                <a:cs typeface="Inter"/>
                <a:sym typeface="Inter"/>
              </a:rPr>
              <a:t>Technology has the largest number of employees across all rating levels.</a:t>
            </a:r>
          </a:p>
          <a:p>
            <a:pPr algn="l">
              <a:lnSpc>
                <a:spcPts val="3219"/>
              </a:lnSpc>
              <a:spcBef>
                <a:spcPct val="0"/>
              </a:spcBef>
            </a:pPr>
            <a:r>
              <a:rPr lang="en-US" sz="2299" spc="-45">
                <a:solidFill>
                  <a:srgbClr val="FFFFFF"/>
                </a:solidFill>
                <a:latin typeface="Inter"/>
                <a:ea typeface="Inter"/>
                <a:cs typeface="Inter"/>
                <a:sym typeface="Inter"/>
              </a:rPr>
              <a:t> Sales have a moderate distribution, while HR is significantly lower.</a:t>
            </a:r>
          </a:p>
          <a:p>
            <a:pPr algn="l">
              <a:lnSpc>
                <a:spcPts val="3219"/>
              </a:lnSpc>
              <a:spcBef>
                <a:spcPct val="0"/>
              </a:spcBef>
            </a:pPr>
            <a:r>
              <a:rPr lang="en-US" sz="2299" spc="-45">
                <a:solidFill>
                  <a:srgbClr val="FFFFFF"/>
                </a:solidFill>
                <a:latin typeface="Inter"/>
                <a:ea typeface="Inter"/>
                <a:cs typeface="Inter"/>
                <a:sym typeface="Inter"/>
              </a:rPr>
              <a:t>Recommendation:</a:t>
            </a:r>
          </a:p>
          <a:p>
            <a:pPr algn="l">
              <a:lnSpc>
                <a:spcPts val="3219"/>
              </a:lnSpc>
              <a:spcBef>
                <a:spcPct val="0"/>
              </a:spcBef>
            </a:pPr>
            <a:r>
              <a:rPr lang="en-US" sz="2299" spc="-45">
                <a:solidFill>
                  <a:srgbClr val="FFFFFF"/>
                </a:solidFill>
                <a:latin typeface="Inter"/>
                <a:ea typeface="Inter"/>
                <a:cs typeface="Inter"/>
                <a:sym typeface="Inter"/>
              </a:rPr>
              <a:t> Use these patterns to:</a:t>
            </a:r>
          </a:p>
          <a:p>
            <a:pPr algn="l">
              <a:lnSpc>
                <a:spcPts val="3219"/>
              </a:lnSpc>
              <a:spcBef>
                <a:spcPct val="0"/>
              </a:spcBef>
            </a:pPr>
            <a:r>
              <a:rPr lang="en-US" sz="2299" spc="-45">
                <a:solidFill>
                  <a:srgbClr val="FFFFFF"/>
                </a:solidFill>
                <a:latin typeface="Inter"/>
                <a:ea typeface="Inter"/>
                <a:cs typeface="Inter"/>
                <a:sym typeface="Inter"/>
              </a:rPr>
              <a:t>Identify training needs</a:t>
            </a:r>
          </a:p>
          <a:p>
            <a:pPr algn="l">
              <a:lnSpc>
                <a:spcPts val="3219"/>
              </a:lnSpc>
              <a:spcBef>
                <a:spcPct val="0"/>
              </a:spcBef>
            </a:pPr>
            <a:r>
              <a:rPr lang="en-US" sz="2299" spc="-45">
                <a:solidFill>
                  <a:srgbClr val="FFFFFF"/>
                </a:solidFill>
                <a:latin typeface="Inter"/>
                <a:ea typeface="Inter"/>
                <a:cs typeface="Inter"/>
                <a:sym typeface="Inter"/>
              </a:rPr>
              <a:t>Track high-performer clusters</a:t>
            </a:r>
          </a:p>
          <a:p>
            <a:pPr algn="l">
              <a:lnSpc>
                <a:spcPts val="3219"/>
              </a:lnSpc>
              <a:spcBef>
                <a:spcPct val="0"/>
              </a:spcBef>
            </a:pPr>
            <a:r>
              <a:rPr lang="en-US" sz="2299" spc="-45">
                <a:solidFill>
                  <a:srgbClr val="FFFFFF"/>
                </a:solidFill>
                <a:latin typeface="Inter"/>
                <a:ea typeface="Inter"/>
                <a:cs typeface="Inter"/>
                <a:sym typeface="Inter"/>
              </a:rPr>
              <a:t>Plan promotions and succession pipelines</a:t>
            </a:r>
          </a:p>
        </p:txBody>
      </p:sp>
      <p:grpSp>
        <p:nvGrpSpPr>
          <p:cNvPr id="10" name="Group 10"/>
          <p:cNvGrpSpPr/>
          <p:nvPr/>
        </p:nvGrpSpPr>
        <p:grpSpPr>
          <a:xfrm>
            <a:off x="1028700" y="454041"/>
            <a:ext cx="10867520" cy="1224523"/>
            <a:chOff x="0" y="0"/>
            <a:chExt cx="2862228" cy="322508"/>
          </a:xfrm>
        </p:grpSpPr>
        <p:sp>
          <p:nvSpPr>
            <p:cNvPr id="11" name="Freeform 11"/>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2" name="TextBox 12"/>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Freeform 8"/>
          <p:cNvSpPr/>
          <p:nvPr/>
        </p:nvSpPr>
        <p:spPr>
          <a:xfrm>
            <a:off x="1288578" y="3240697"/>
            <a:ext cx="8979703" cy="4930176"/>
          </a:xfrm>
          <a:custGeom>
            <a:avLst/>
            <a:gdLst/>
            <a:ahLst/>
            <a:cxnLst/>
            <a:rect l="l" t="t" r="r" b="b"/>
            <a:pathLst>
              <a:path w="8979703" h="4930176">
                <a:moveTo>
                  <a:pt x="0" y="0"/>
                </a:moveTo>
                <a:lnTo>
                  <a:pt x="8979703" y="0"/>
                </a:lnTo>
                <a:lnTo>
                  <a:pt x="8979703" y="4930176"/>
                </a:lnTo>
                <a:lnTo>
                  <a:pt x="0" y="4930176"/>
                </a:lnTo>
                <a:lnTo>
                  <a:pt x="0" y="0"/>
                </a:lnTo>
                <a:close/>
              </a:path>
            </a:pathLst>
          </a:custGeom>
          <a:blipFill>
            <a:blip r:embed="rId8"/>
            <a:stretch>
              <a:fillRect t="-1112" b="-1112"/>
            </a:stretch>
          </a:blipFill>
        </p:spPr>
        <p:txBody>
          <a:bodyPr/>
          <a:lstStyle/>
          <a:p>
            <a:endParaRPr lang="ar-EG"/>
          </a:p>
        </p:txBody>
      </p:sp>
      <p:sp>
        <p:nvSpPr>
          <p:cNvPr id="9" name="TextBox 9"/>
          <p:cNvSpPr txBox="1"/>
          <p:nvPr/>
        </p:nvSpPr>
        <p:spPr>
          <a:xfrm>
            <a:off x="10268280" y="2476501"/>
            <a:ext cx="4514519" cy="424027"/>
          </a:xfrm>
          <a:prstGeom prst="rect">
            <a:avLst/>
          </a:prstGeom>
        </p:spPr>
        <p:txBody>
          <a:bodyPr wrap="square" lIns="0" tIns="0" rIns="0" bIns="0" rtlCol="0" anchor="t">
            <a:spAutoFit/>
          </a:bodyPr>
          <a:lstStyle/>
          <a:p>
            <a:pPr algn="ctr">
              <a:lnSpc>
                <a:spcPts val="3639"/>
              </a:lnSpc>
              <a:spcBef>
                <a:spcPct val="0"/>
              </a:spcBef>
            </a:pPr>
            <a:r>
              <a:rPr lang="en-US" sz="2599" spc="-51" dirty="0">
                <a:solidFill>
                  <a:srgbClr val="FFFFFF"/>
                </a:solidFill>
                <a:latin typeface="Inter"/>
                <a:ea typeface="Inter"/>
                <a:cs typeface="Inter"/>
                <a:sym typeface="Inter"/>
              </a:rPr>
              <a:t>⭐ Dashboard Description</a:t>
            </a:r>
          </a:p>
        </p:txBody>
      </p:sp>
      <p:sp>
        <p:nvSpPr>
          <p:cNvPr id="10" name="TextBox 10"/>
          <p:cNvSpPr txBox="1"/>
          <p:nvPr/>
        </p:nvSpPr>
        <p:spPr>
          <a:xfrm>
            <a:off x="10534170" y="2939141"/>
            <a:ext cx="6309123" cy="558990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The Education Level Dashboard provides a detailed breakdown of employee qualifications, salary levels by education background, and workforce trends by marital status over time.</a:t>
            </a:r>
          </a:p>
          <a:p>
            <a:pPr algn="l">
              <a:lnSpc>
                <a:spcPts val="3219"/>
              </a:lnSpc>
              <a:spcBef>
                <a:spcPct val="0"/>
              </a:spcBef>
            </a:pPr>
            <a:r>
              <a:rPr lang="en-US" sz="2299" spc="-45">
                <a:solidFill>
                  <a:srgbClr val="FFFFFF"/>
                </a:solidFill>
                <a:latin typeface="Inter"/>
                <a:ea typeface="Inter"/>
                <a:cs typeface="Inter"/>
                <a:sym typeface="Inter"/>
              </a:rPr>
              <a:t> It gives HR and management a clear understanding of how education impacts compensation, how employees are distributed across education tiers, and how demographic patterns evolve annually.</a:t>
            </a:r>
          </a:p>
          <a:p>
            <a:pPr algn="l">
              <a:lnSpc>
                <a:spcPts val="3219"/>
              </a:lnSpc>
              <a:spcBef>
                <a:spcPct val="0"/>
              </a:spcBef>
            </a:pPr>
            <a:r>
              <a:rPr lang="en-US" sz="2299" spc="-45">
                <a:solidFill>
                  <a:srgbClr val="FFFFFF"/>
                </a:solidFill>
                <a:latin typeface="Inter"/>
                <a:ea typeface="Inter"/>
                <a:cs typeface="Inter"/>
                <a:sym typeface="Inter"/>
              </a:rPr>
              <a:t>The dashboard combines qualification counts, salary analysis by education level and field, and longitudinal demographic trends, enabling smarter talent planning, compensation strategy optimization, and workforce forecasting.</a:t>
            </a:r>
          </a:p>
        </p:txBody>
      </p:sp>
      <p:grpSp>
        <p:nvGrpSpPr>
          <p:cNvPr id="11" name="Group 11"/>
          <p:cNvGrpSpPr/>
          <p:nvPr/>
        </p:nvGrpSpPr>
        <p:grpSpPr>
          <a:xfrm>
            <a:off x="1028700" y="454041"/>
            <a:ext cx="10867520" cy="1224523"/>
            <a:chOff x="0" y="0"/>
            <a:chExt cx="2862228" cy="322508"/>
          </a:xfrm>
        </p:grpSpPr>
        <p:sp>
          <p:nvSpPr>
            <p:cNvPr id="12" name="Freeform 12"/>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3" name="TextBox 13"/>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TextBox 8"/>
          <p:cNvSpPr txBox="1"/>
          <p:nvPr/>
        </p:nvSpPr>
        <p:spPr>
          <a:xfrm>
            <a:off x="1288578" y="2833558"/>
            <a:ext cx="5503606" cy="639000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1. Employee Count by Education Level</a:t>
            </a:r>
          </a:p>
          <a:p>
            <a:pPr algn="l">
              <a:lnSpc>
                <a:spcPts val="3219"/>
              </a:lnSpc>
              <a:spcBef>
                <a:spcPct val="0"/>
              </a:spcBef>
            </a:pPr>
            <a:r>
              <a:rPr lang="en-US" sz="2299" spc="-45">
                <a:solidFill>
                  <a:srgbClr val="FFFFFF"/>
                </a:solidFill>
                <a:latin typeface="Inter"/>
                <a:ea typeface="Inter"/>
                <a:cs typeface="Inter"/>
                <a:sym typeface="Inter"/>
              </a:rPr>
              <a:t>No Formal Qualification: 170</a:t>
            </a:r>
          </a:p>
          <a:p>
            <a:pPr algn="l">
              <a:lnSpc>
                <a:spcPts val="3219"/>
              </a:lnSpc>
              <a:spcBef>
                <a:spcPct val="0"/>
              </a:spcBef>
            </a:pPr>
            <a:r>
              <a:rPr lang="en-US" sz="2299" spc="-45">
                <a:solidFill>
                  <a:srgbClr val="FFFFFF"/>
                </a:solidFill>
                <a:latin typeface="Inter"/>
                <a:ea typeface="Inter"/>
                <a:cs typeface="Inter"/>
                <a:sym typeface="Inter"/>
              </a:rPr>
              <a:t>High School: 282</a:t>
            </a:r>
          </a:p>
          <a:p>
            <a:pPr algn="l">
              <a:lnSpc>
                <a:spcPts val="3219"/>
              </a:lnSpc>
              <a:spcBef>
                <a:spcPct val="0"/>
              </a:spcBef>
            </a:pPr>
            <a:r>
              <a:rPr lang="en-US" sz="2299" spc="-45">
                <a:solidFill>
                  <a:srgbClr val="FFFFFF"/>
                </a:solidFill>
                <a:latin typeface="Inter"/>
                <a:ea typeface="Inter"/>
                <a:cs typeface="Inter"/>
                <a:sym typeface="Inter"/>
              </a:rPr>
              <a:t>Bachelors: 572</a:t>
            </a:r>
          </a:p>
          <a:p>
            <a:pPr algn="l">
              <a:lnSpc>
                <a:spcPts val="3219"/>
              </a:lnSpc>
              <a:spcBef>
                <a:spcPct val="0"/>
              </a:spcBef>
            </a:pPr>
            <a:r>
              <a:rPr lang="en-US" sz="2299" spc="-45">
                <a:solidFill>
                  <a:srgbClr val="FFFFFF"/>
                </a:solidFill>
                <a:latin typeface="Inter"/>
                <a:ea typeface="Inter"/>
                <a:cs typeface="Inter"/>
                <a:sym typeface="Inter"/>
              </a:rPr>
              <a:t>Masters: 398</a:t>
            </a:r>
          </a:p>
          <a:p>
            <a:pPr algn="l">
              <a:lnSpc>
                <a:spcPts val="3219"/>
              </a:lnSpc>
              <a:spcBef>
                <a:spcPct val="0"/>
              </a:spcBef>
            </a:pPr>
            <a:r>
              <a:rPr lang="en-US" sz="2299" spc="-45">
                <a:solidFill>
                  <a:srgbClr val="FFFFFF"/>
                </a:solidFill>
                <a:latin typeface="Inter"/>
                <a:ea typeface="Inter"/>
                <a:cs typeface="Inter"/>
                <a:sym typeface="Inter"/>
              </a:rPr>
              <a:t>Doctorate: 48</a:t>
            </a:r>
          </a:p>
          <a:p>
            <a:pPr algn="l">
              <a:lnSpc>
                <a:spcPts val="3219"/>
              </a:lnSpc>
              <a:spcBef>
                <a:spcPct val="0"/>
              </a:spcBef>
            </a:pPr>
            <a:r>
              <a:rPr lang="en-US" sz="2299" spc="-45">
                <a:solidFill>
                  <a:srgbClr val="FFFFFF"/>
                </a:solidFill>
                <a:latin typeface="Inter"/>
                <a:ea typeface="Inter"/>
                <a:cs typeface="Inter"/>
                <a:sym typeface="Inter"/>
              </a:rPr>
              <a:t>Total = 1,470 employees (matches other dashboards)</a:t>
            </a:r>
          </a:p>
          <a:p>
            <a:pPr algn="l">
              <a:lnSpc>
                <a:spcPts val="3219"/>
              </a:lnSpc>
              <a:spcBef>
                <a:spcPct val="0"/>
              </a:spcBef>
            </a:pPr>
            <a:r>
              <a:rPr lang="en-US" sz="2299" spc="-45">
                <a:solidFill>
                  <a:srgbClr val="FFFFFF"/>
                </a:solidFill>
                <a:latin typeface="Inter"/>
                <a:ea typeface="Inter"/>
                <a:cs typeface="Inter"/>
                <a:sym typeface="Inter"/>
              </a:rPr>
              <a:t>2. Average Salary by Education Level</a:t>
            </a:r>
          </a:p>
          <a:p>
            <a:pPr algn="l">
              <a:lnSpc>
                <a:spcPts val="3219"/>
              </a:lnSpc>
              <a:spcBef>
                <a:spcPct val="0"/>
              </a:spcBef>
            </a:pPr>
            <a:r>
              <a:rPr lang="en-US" sz="2299" spc="-45">
                <a:solidFill>
                  <a:srgbClr val="FFFFFF"/>
                </a:solidFill>
                <a:latin typeface="Inter"/>
                <a:ea typeface="Inter"/>
                <a:cs typeface="Inter"/>
                <a:sym typeface="Inter"/>
              </a:rPr>
              <a:t>Doctorate: 154K (highest)</a:t>
            </a:r>
          </a:p>
          <a:p>
            <a:pPr algn="l">
              <a:lnSpc>
                <a:spcPts val="3219"/>
              </a:lnSpc>
              <a:spcBef>
                <a:spcPct val="0"/>
              </a:spcBef>
            </a:pPr>
            <a:r>
              <a:rPr lang="en-US" sz="2299" spc="-45">
                <a:solidFill>
                  <a:srgbClr val="FFFFFF"/>
                </a:solidFill>
                <a:latin typeface="Inter"/>
                <a:ea typeface="Inter"/>
                <a:cs typeface="Inter"/>
                <a:sym typeface="Inter"/>
              </a:rPr>
              <a:t>Masters: 118K</a:t>
            </a:r>
          </a:p>
          <a:p>
            <a:pPr algn="l">
              <a:lnSpc>
                <a:spcPts val="3219"/>
              </a:lnSpc>
              <a:spcBef>
                <a:spcPct val="0"/>
              </a:spcBef>
            </a:pPr>
            <a:r>
              <a:rPr lang="en-US" sz="2299" spc="-45">
                <a:solidFill>
                  <a:srgbClr val="FFFFFF"/>
                </a:solidFill>
                <a:latin typeface="Inter"/>
                <a:ea typeface="Inter"/>
                <a:cs typeface="Inter"/>
                <a:sym typeface="Inter"/>
              </a:rPr>
              <a:t>Bachelors: 115K</a:t>
            </a:r>
          </a:p>
          <a:p>
            <a:pPr algn="l">
              <a:lnSpc>
                <a:spcPts val="3219"/>
              </a:lnSpc>
              <a:spcBef>
                <a:spcPct val="0"/>
              </a:spcBef>
            </a:pPr>
            <a:r>
              <a:rPr lang="en-US" sz="2299" spc="-45">
                <a:solidFill>
                  <a:srgbClr val="FFFFFF"/>
                </a:solidFill>
                <a:latin typeface="Inter"/>
                <a:ea typeface="Inter"/>
                <a:cs typeface="Inter"/>
                <a:sym typeface="Inter"/>
              </a:rPr>
              <a:t>High School: 105K</a:t>
            </a:r>
          </a:p>
          <a:p>
            <a:pPr algn="l">
              <a:lnSpc>
                <a:spcPts val="3219"/>
              </a:lnSpc>
              <a:spcBef>
                <a:spcPct val="0"/>
              </a:spcBef>
            </a:pPr>
            <a:r>
              <a:rPr lang="en-US" sz="2299" spc="-45">
                <a:solidFill>
                  <a:srgbClr val="FFFFFF"/>
                </a:solidFill>
                <a:latin typeface="Inter"/>
                <a:ea typeface="Inter"/>
                <a:cs typeface="Inter"/>
                <a:sym typeface="Inter"/>
              </a:rPr>
              <a:t>No Formal Qualification: 95K (lowest)</a:t>
            </a:r>
          </a:p>
          <a:p>
            <a:pPr algn="l">
              <a:lnSpc>
                <a:spcPts val="3219"/>
              </a:lnSpc>
              <a:spcBef>
                <a:spcPct val="0"/>
              </a:spcBef>
            </a:pPr>
            <a:r>
              <a:rPr lang="en-US" sz="2299" spc="-45">
                <a:solidFill>
                  <a:srgbClr val="FFFFFF"/>
                </a:solidFill>
                <a:latin typeface="Inter"/>
                <a:ea typeface="Inter"/>
                <a:cs typeface="Inter"/>
                <a:sym typeface="Inter"/>
              </a:rPr>
              <a:t>Clear positive correlation: Higher qualification = higher salary.</a:t>
            </a:r>
          </a:p>
        </p:txBody>
      </p:sp>
      <p:sp>
        <p:nvSpPr>
          <p:cNvPr id="9" name="TextBox 9"/>
          <p:cNvSpPr txBox="1"/>
          <p:nvPr/>
        </p:nvSpPr>
        <p:spPr>
          <a:xfrm>
            <a:off x="1288578" y="2193406"/>
            <a:ext cx="5813470" cy="448311"/>
          </a:xfrm>
          <a:prstGeom prst="rect">
            <a:avLst/>
          </a:prstGeom>
        </p:spPr>
        <p:txBody>
          <a:bodyPr lIns="0" tIns="0" rIns="0" bIns="0" rtlCol="0" anchor="t">
            <a:spAutoFit/>
          </a:bodyPr>
          <a:lstStyle/>
          <a:p>
            <a:pPr algn="l">
              <a:lnSpc>
                <a:spcPts val="3639"/>
              </a:lnSpc>
              <a:spcBef>
                <a:spcPct val="0"/>
              </a:spcBef>
            </a:pPr>
            <a:r>
              <a:rPr lang="en-US" sz="2599" spc="-51">
                <a:solidFill>
                  <a:srgbClr val="FFFFFF"/>
                </a:solidFill>
                <a:latin typeface="Inter"/>
                <a:ea typeface="Inter"/>
                <a:cs typeface="Inter"/>
                <a:sym typeface="Inter"/>
              </a:rPr>
              <a:t>📊 Key Performance Indicators (KPIs)</a:t>
            </a:r>
          </a:p>
        </p:txBody>
      </p:sp>
      <p:sp>
        <p:nvSpPr>
          <p:cNvPr id="10" name="TextBox 10"/>
          <p:cNvSpPr txBox="1"/>
          <p:nvPr/>
        </p:nvSpPr>
        <p:spPr>
          <a:xfrm>
            <a:off x="6808377" y="2833558"/>
            <a:ext cx="4821793" cy="438975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3. Average Salary by Education Field</a:t>
            </a:r>
          </a:p>
          <a:p>
            <a:pPr algn="l">
              <a:lnSpc>
                <a:spcPts val="3219"/>
              </a:lnSpc>
              <a:spcBef>
                <a:spcPct val="0"/>
              </a:spcBef>
            </a:pPr>
            <a:r>
              <a:rPr lang="en-US" sz="2299" spc="-45">
                <a:solidFill>
                  <a:srgbClr val="FFFFFF"/>
                </a:solidFill>
                <a:latin typeface="Inter"/>
                <a:ea typeface="Inter"/>
                <a:cs typeface="Inter"/>
                <a:sym typeface="Inter"/>
              </a:rPr>
              <a:t>Top-earning fields:</a:t>
            </a:r>
          </a:p>
          <a:p>
            <a:pPr algn="l">
              <a:lnSpc>
                <a:spcPts val="3219"/>
              </a:lnSpc>
              <a:spcBef>
                <a:spcPct val="0"/>
              </a:spcBef>
            </a:pPr>
            <a:r>
              <a:rPr lang="en-US" sz="2299" spc="-45">
                <a:solidFill>
                  <a:srgbClr val="FFFFFF"/>
                </a:solidFill>
                <a:latin typeface="Inter"/>
                <a:ea typeface="Inter"/>
                <a:cs typeface="Inter"/>
                <a:sym typeface="Inter"/>
              </a:rPr>
              <a:t>Human Resources: 145.57K</a:t>
            </a:r>
          </a:p>
          <a:p>
            <a:pPr algn="l">
              <a:lnSpc>
                <a:spcPts val="3219"/>
              </a:lnSpc>
              <a:spcBef>
                <a:spcPct val="0"/>
              </a:spcBef>
            </a:pPr>
            <a:r>
              <a:rPr lang="en-US" sz="2299" spc="-45">
                <a:solidFill>
                  <a:srgbClr val="FFFFFF"/>
                </a:solidFill>
                <a:latin typeface="Inter"/>
                <a:ea typeface="Inter"/>
                <a:cs typeface="Inter"/>
                <a:sym typeface="Inter"/>
              </a:rPr>
              <a:t>Marketing: 124.28K</a:t>
            </a:r>
          </a:p>
          <a:p>
            <a:pPr algn="l">
              <a:lnSpc>
                <a:spcPts val="3219"/>
              </a:lnSpc>
              <a:spcBef>
                <a:spcPct val="0"/>
              </a:spcBef>
            </a:pPr>
            <a:r>
              <a:rPr lang="en-US" sz="2299" spc="-45">
                <a:solidFill>
                  <a:srgbClr val="FFFFFF"/>
                </a:solidFill>
                <a:latin typeface="Inter"/>
                <a:ea typeface="Inter"/>
                <a:cs typeface="Inter"/>
                <a:sym typeface="Inter"/>
              </a:rPr>
              <a:t>Information Systems: 114.38K</a:t>
            </a:r>
          </a:p>
          <a:p>
            <a:pPr algn="l">
              <a:lnSpc>
                <a:spcPts val="3219"/>
              </a:lnSpc>
              <a:spcBef>
                <a:spcPct val="0"/>
              </a:spcBef>
            </a:pPr>
            <a:r>
              <a:rPr lang="en-US" sz="2299" spc="-45">
                <a:solidFill>
                  <a:srgbClr val="FFFFFF"/>
                </a:solidFill>
                <a:latin typeface="Inter"/>
                <a:ea typeface="Inter"/>
                <a:cs typeface="Inter"/>
                <a:sym typeface="Inter"/>
              </a:rPr>
              <a:t>Economics: 112.22K</a:t>
            </a:r>
          </a:p>
          <a:p>
            <a:pPr algn="l">
              <a:lnSpc>
                <a:spcPts val="3219"/>
              </a:lnSpc>
              <a:spcBef>
                <a:spcPct val="0"/>
              </a:spcBef>
            </a:pPr>
            <a:r>
              <a:rPr lang="en-US" sz="2299" spc="-45">
                <a:solidFill>
                  <a:srgbClr val="FFFFFF"/>
                </a:solidFill>
                <a:latin typeface="Inter"/>
                <a:ea typeface="Inter"/>
                <a:cs typeface="Inter"/>
                <a:sym typeface="Inter"/>
              </a:rPr>
              <a:t>Computer Science: 109.35K</a:t>
            </a:r>
          </a:p>
          <a:p>
            <a:pPr algn="l">
              <a:lnSpc>
                <a:spcPts val="3219"/>
              </a:lnSpc>
              <a:spcBef>
                <a:spcPct val="0"/>
              </a:spcBef>
            </a:pPr>
            <a:r>
              <a:rPr lang="en-US" sz="2299" spc="-45">
                <a:solidFill>
                  <a:srgbClr val="FFFFFF"/>
                </a:solidFill>
                <a:latin typeface="Inter"/>
                <a:ea typeface="Inter"/>
                <a:cs typeface="Inter"/>
                <a:sym typeface="Inter"/>
              </a:rPr>
              <a:t>Lower salary fields:</a:t>
            </a:r>
          </a:p>
          <a:p>
            <a:pPr algn="l">
              <a:lnSpc>
                <a:spcPts val="3219"/>
              </a:lnSpc>
              <a:spcBef>
                <a:spcPct val="0"/>
              </a:spcBef>
            </a:pPr>
            <a:r>
              <a:rPr lang="en-US" sz="2299" spc="-45">
                <a:solidFill>
                  <a:srgbClr val="FFFFFF"/>
                </a:solidFill>
                <a:latin typeface="Inter"/>
                <a:ea typeface="Inter"/>
                <a:cs typeface="Inter"/>
                <a:sym typeface="Inter"/>
              </a:rPr>
              <a:t>Business Studies: 98.41K</a:t>
            </a:r>
          </a:p>
          <a:p>
            <a:pPr algn="l">
              <a:lnSpc>
                <a:spcPts val="3219"/>
              </a:lnSpc>
              <a:spcBef>
                <a:spcPct val="0"/>
              </a:spcBef>
            </a:pPr>
            <a:r>
              <a:rPr lang="en-US" sz="2299" spc="-45">
                <a:solidFill>
                  <a:srgbClr val="FFFFFF"/>
                </a:solidFill>
                <a:latin typeface="Inter"/>
                <a:ea typeface="Inter"/>
                <a:cs typeface="Inter"/>
                <a:sym typeface="Inter"/>
              </a:rPr>
              <a:t>Other Fields: 96.34K</a:t>
            </a:r>
          </a:p>
          <a:p>
            <a:pPr algn="l">
              <a:lnSpc>
                <a:spcPts val="3219"/>
              </a:lnSpc>
              <a:spcBef>
                <a:spcPct val="0"/>
              </a:spcBef>
            </a:pPr>
            <a:r>
              <a:rPr lang="en-US" sz="2299" spc="-45">
                <a:solidFill>
                  <a:srgbClr val="FFFFFF"/>
                </a:solidFill>
                <a:latin typeface="Inter"/>
                <a:ea typeface="Inter"/>
                <a:cs typeface="Inter"/>
                <a:sym typeface="Inter"/>
              </a:rPr>
              <a:t>Technical Degrees: 94.87K</a:t>
            </a:r>
          </a:p>
        </p:txBody>
      </p:sp>
      <p:sp>
        <p:nvSpPr>
          <p:cNvPr id="11" name="TextBox 11"/>
          <p:cNvSpPr txBox="1"/>
          <p:nvPr/>
        </p:nvSpPr>
        <p:spPr>
          <a:xfrm>
            <a:off x="12217884" y="2833558"/>
            <a:ext cx="4578152" cy="518985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4. Marital Status Trend Over Years (2013–2022)</a:t>
            </a:r>
          </a:p>
          <a:p>
            <a:pPr algn="l">
              <a:lnSpc>
                <a:spcPts val="3219"/>
              </a:lnSpc>
              <a:spcBef>
                <a:spcPct val="0"/>
              </a:spcBef>
            </a:pPr>
            <a:r>
              <a:rPr lang="en-US" sz="2299" spc="-45">
                <a:solidFill>
                  <a:srgbClr val="FFFFFF"/>
                </a:solidFill>
                <a:latin typeface="Inter"/>
                <a:ea typeface="Inter"/>
                <a:cs typeface="Inter"/>
                <a:sym typeface="Inter"/>
              </a:rPr>
              <a:t>Married employees consistently dominate (≈55%+ each year)</a:t>
            </a:r>
          </a:p>
          <a:p>
            <a:pPr algn="l">
              <a:lnSpc>
                <a:spcPts val="3219"/>
              </a:lnSpc>
              <a:spcBef>
                <a:spcPct val="0"/>
              </a:spcBef>
            </a:pPr>
            <a:r>
              <a:rPr lang="en-US" sz="2299" spc="-45">
                <a:solidFill>
                  <a:srgbClr val="FFFFFF"/>
                </a:solidFill>
                <a:latin typeface="Inter"/>
                <a:ea typeface="Inter"/>
                <a:cs typeface="Inter"/>
                <a:sym typeface="Inter"/>
              </a:rPr>
              <a:t>Single employees represent ~25–35%</a:t>
            </a:r>
          </a:p>
          <a:p>
            <a:pPr algn="l">
              <a:lnSpc>
                <a:spcPts val="3219"/>
              </a:lnSpc>
              <a:spcBef>
                <a:spcPct val="0"/>
              </a:spcBef>
            </a:pPr>
            <a:r>
              <a:rPr lang="en-US" sz="2299" spc="-45">
                <a:solidFill>
                  <a:srgbClr val="FFFFFF"/>
                </a:solidFill>
                <a:latin typeface="Inter"/>
                <a:ea typeface="Inter"/>
                <a:cs typeface="Inter"/>
                <a:sym typeface="Inter"/>
              </a:rPr>
              <a:t>Divorced employees are the smallest group (~15–25%)</a:t>
            </a:r>
          </a:p>
          <a:p>
            <a:pPr algn="l">
              <a:lnSpc>
                <a:spcPts val="3219"/>
              </a:lnSpc>
              <a:spcBef>
                <a:spcPct val="0"/>
              </a:spcBef>
            </a:pPr>
            <a:r>
              <a:rPr lang="en-US" sz="2299" spc="-45">
                <a:solidFill>
                  <a:srgbClr val="FFFFFF"/>
                </a:solidFill>
                <a:latin typeface="Inter"/>
                <a:ea typeface="Inter"/>
                <a:cs typeface="Inter"/>
                <a:sym typeface="Inter"/>
              </a:rPr>
              <a:t>Significant increase noted in 2022:</a:t>
            </a:r>
          </a:p>
          <a:p>
            <a:pPr algn="l">
              <a:lnSpc>
                <a:spcPts val="3219"/>
              </a:lnSpc>
              <a:spcBef>
                <a:spcPct val="0"/>
              </a:spcBef>
            </a:pPr>
            <a:r>
              <a:rPr lang="en-US" sz="2299" spc="-45">
                <a:solidFill>
                  <a:srgbClr val="FFFFFF"/>
                </a:solidFill>
                <a:latin typeface="Inter"/>
                <a:ea typeface="Inter"/>
                <a:cs typeface="Inter"/>
                <a:sym typeface="Inter"/>
              </a:rPr>
              <a:t>Married: 105</a:t>
            </a:r>
          </a:p>
          <a:p>
            <a:pPr algn="l">
              <a:lnSpc>
                <a:spcPts val="3219"/>
              </a:lnSpc>
              <a:spcBef>
                <a:spcPct val="0"/>
              </a:spcBef>
            </a:pPr>
            <a:r>
              <a:rPr lang="en-US" sz="2299" spc="-45">
                <a:solidFill>
                  <a:srgbClr val="FFFFFF"/>
                </a:solidFill>
                <a:latin typeface="Inter"/>
                <a:ea typeface="Inter"/>
                <a:cs typeface="Inter"/>
                <a:sym typeface="Inter"/>
              </a:rPr>
              <a:t>Single: 37</a:t>
            </a:r>
          </a:p>
          <a:p>
            <a:pPr algn="l">
              <a:lnSpc>
                <a:spcPts val="3219"/>
              </a:lnSpc>
              <a:spcBef>
                <a:spcPct val="0"/>
              </a:spcBef>
            </a:pPr>
            <a:r>
              <a:rPr lang="en-US" sz="2299" spc="-45">
                <a:solidFill>
                  <a:srgbClr val="FFFFFF"/>
                </a:solidFill>
                <a:latin typeface="Inter"/>
                <a:ea typeface="Inter"/>
                <a:cs typeface="Inter"/>
                <a:sym typeface="Inter"/>
              </a:rPr>
              <a:t>Divorced: 13</a:t>
            </a:r>
          </a:p>
        </p:txBody>
      </p:sp>
      <p:grpSp>
        <p:nvGrpSpPr>
          <p:cNvPr id="12" name="Group 12"/>
          <p:cNvGrpSpPr/>
          <p:nvPr/>
        </p:nvGrpSpPr>
        <p:grpSpPr>
          <a:xfrm>
            <a:off x="1028700" y="454041"/>
            <a:ext cx="10867520" cy="1224523"/>
            <a:chOff x="0" y="0"/>
            <a:chExt cx="2862228" cy="322508"/>
          </a:xfrm>
        </p:grpSpPr>
        <p:sp>
          <p:nvSpPr>
            <p:cNvPr id="13" name="Freeform 13"/>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4" name="TextBox 14"/>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TextBox 8"/>
          <p:cNvSpPr txBox="1"/>
          <p:nvPr/>
        </p:nvSpPr>
        <p:spPr>
          <a:xfrm>
            <a:off x="1288578" y="2142286"/>
            <a:ext cx="5340822" cy="424027"/>
          </a:xfrm>
          <a:prstGeom prst="rect">
            <a:avLst/>
          </a:prstGeom>
        </p:spPr>
        <p:txBody>
          <a:bodyPr wrap="square" lIns="0" tIns="0" rIns="0" bIns="0" rtlCol="0" anchor="t">
            <a:spAutoFit/>
          </a:bodyPr>
          <a:lstStyle/>
          <a:p>
            <a:pPr>
              <a:lnSpc>
                <a:spcPts val="3639"/>
              </a:lnSpc>
              <a:spcBef>
                <a:spcPct val="0"/>
              </a:spcBef>
            </a:pPr>
            <a:r>
              <a:rPr lang="en-US" sz="2599" spc="-51" dirty="0">
                <a:solidFill>
                  <a:srgbClr val="FFFFFF"/>
                </a:solidFill>
                <a:latin typeface="Inter"/>
                <a:ea typeface="Inter"/>
                <a:cs typeface="Inter"/>
                <a:sym typeface="Inter"/>
              </a:rPr>
              <a:t>💡 Strategic Recommendations</a:t>
            </a:r>
          </a:p>
        </p:txBody>
      </p:sp>
      <p:sp>
        <p:nvSpPr>
          <p:cNvPr id="9" name="TextBox 9"/>
          <p:cNvSpPr txBox="1"/>
          <p:nvPr/>
        </p:nvSpPr>
        <p:spPr>
          <a:xfrm>
            <a:off x="1288578" y="3233608"/>
            <a:ext cx="14717435" cy="518985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1. Develop Advanced Education Incentive Programs</a:t>
            </a:r>
          </a:p>
          <a:p>
            <a:pPr algn="l">
              <a:lnSpc>
                <a:spcPts val="3219"/>
              </a:lnSpc>
              <a:spcBef>
                <a:spcPct val="0"/>
              </a:spcBef>
            </a:pPr>
            <a:r>
              <a:rPr lang="en-US" sz="2299" spc="-45">
                <a:solidFill>
                  <a:srgbClr val="FFFFFF"/>
                </a:solidFill>
                <a:latin typeface="Inter"/>
                <a:ea typeface="Inter"/>
                <a:cs typeface="Inter"/>
                <a:sym typeface="Inter"/>
              </a:rPr>
              <a:t>Doctorate and Master's holders show substantially higher salaries, but they are limited in number (48 and 398).</a:t>
            </a:r>
          </a:p>
          <a:p>
            <a:pPr algn="l">
              <a:lnSpc>
                <a:spcPts val="3219"/>
              </a:lnSpc>
              <a:spcBef>
                <a:spcPct val="0"/>
              </a:spcBef>
            </a:pPr>
            <a:r>
              <a:rPr lang="en-US" sz="2299" spc="-45">
                <a:solidFill>
                  <a:srgbClr val="FFFFFF"/>
                </a:solidFill>
                <a:latin typeface="Inter"/>
                <a:ea typeface="Inter"/>
                <a:cs typeface="Inter"/>
                <a:sym typeface="Inter"/>
              </a:rPr>
              <a:t> To increase expertise and strengthen the organization’s capability:</a:t>
            </a:r>
          </a:p>
          <a:p>
            <a:pPr algn="l">
              <a:lnSpc>
                <a:spcPts val="3219"/>
              </a:lnSpc>
              <a:spcBef>
                <a:spcPct val="0"/>
              </a:spcBef>
            </a:pPr>
            <a:r>
              <a:rPr lang="en-US" sz="2299" spc="-45">
                <a:solidFill>
                  <a:srgbClr val="FFFFFF"/>
                </a:solidFill>
                <a:latin typeface="Inter"/>
                <a:ea typeface="Inter"/>
                <a:cs typeface="Inter"/>
                <a:sym typeface="Inter"/>
              </a:rPr>
              <a:t>✅ Offer tuition reimbursement</a:t>
            </a:r>
          </a:p>
          <a:p>
            <a:pPr algn="l">
              <a:lnSpc>
                <a:spcPts val="3219"/>
              </a:lnSpc>
              <a:spcBef>
                <a:spcPct val="0"/>
              </a:spcBef>
            </a:pPr>
            <a:r>
              <a:rPr lang="en-US" sz="2299" spc="-45">
                <a:solidFill>
                  <a:srgbClr val="FFFFFF"/>
                </a:solidFill>
                <a:latin typeface="Inter"/>
                <a:ea typeface="Inter"/>
                <a:cs typeface="Inter"/>
                <a:sym typeface="Inter"/>
              </a:rPr>
              <a:t>✅ Support professional certifications</a:t>
            </a:r>
          </a:p>
          <a:p>
            <a:pPr algn="l">
              <a:lnSpc>
                <a:spcPts val="3219"/>
              </a:lnSpc>
              <a:spcBef>
                <a:spcPct val="0"/>
              </a:spcBef>
            </a:pPr>
            <a:r>
              <a:rPr lang="en-US" sz="2299" spc="-45">
                <a:solidFill>
                  <a:srgbClr val="FFFFFF"/>
                </a:solidFill>
                <a:latin typeface="Inter"/>
                <a:ea typeface="Inter"/>
                <a:cs typeface="Inter"/>
                <a:sym typeface="Inter"/>
              </a:rPr>
              <a:t>✅ Create career ladders tied to education or skill advancement</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2. Optimize Compensation Strategy by Education Field</a:t>
            </a:r>
          </a:p>
          <a:p>
            <a:pPr algn="l">
              <a:lnSpc>
                <a:spcPts val="3219"/>
              </a:lnSpc>
              <a:spcBef>
                <a:spcPct val="0"/>
              </a:spcBef>
            </a:pPr>
            <a:r>
              <a:rPr lang="en-US" sz="2299" spc="-45">
                <a:solidFill>
                  <a:srgbClr val="FFFFFF"/>
                </a:solidFill>
                <a:latin typeface="Inter"/>
                <a:ea typeface="Inter"/>
                <a:cs typeface="Inter"/>
                <a:sym typeface="Inter"/>
              </a:rPr>
              <a:t>Some fields (HR, Marketing, Information Systems) demonstrate higher salary demand.</a:t>
            </a:r>
          </a:p>
          <a:p>
            <a:pPr algn="l">
              <a:lnSpc>
                <a:spcPts val="3219"/>
              </a:lnSpc>
              <a:spcBef>
                <a:spcPct val="0"/>
              </a:spcBef>
            </a:pPr>
            <a:r>
              <a:rPr lang="en-US" sz="2299" spc="-45">
                <a:solidFill>
                  <a:srgbClr val="FFFFFF"/>
                </a:solidFill>
                <a:latin typeface="Inter"/>
                <a:ea typeface="Inter"/>
                <a:cs typeface="Inter"/>
                <a:sym typeface="Inter"/>
              </a:rPr>
              <a:t>Recommendation:</a:t>
            </a:r>
          </a:p>
          <a:p>
            <a:pPr algn="l">
              <a:lnSpc>
                <a:spcPts val="3219"/>
              </a:lnSpc>
              <a:spcBef>
                <a:spcPct val="0"/>
              </a:spcBef>
            </a:pPr>
            <a:r>
              <a:rPr lang="en-US" sz="2299" spc="-45">
                <a:solidFill>
                  <a:srgbClr val="FFFFFF"/>
                </a:solidFill>
                <a:latin typeface="Inter"/>
                <a:ea typeface="Inter"/>
                <a:cs typeface="Inter"/>
                <a:sym typeface="Inter"/>
              </a:rPr>
              <a:t> 📌 Align future hiring with compensation benchmarks</a:t>
            </a:r>
          </a:p>
          <a:p>
            <a:pPr algn="l">
              <a:lnSpc>
                <a:spcPts val="3219"/>
              </a:lnSpc>
              <a:spcBef>
                <a:spcPct val="0"/>
              </a:spcBef>
            </a:pPr>
            <a:r>
              <a:rPr lang="en-US" sz="2299" spc="-45">
                <a:solidFill>
                  <a:srgbClr val="FFFFFF"/>
                </a:solidFill>
                <a:latin typeface="Inter"/>
                <a:ea typeface="Inter"/>
                <a:cs typeface="Inter"/>
                <a:sym typeface="Inter"/>
              </a:rPr>
              <a:t> 📌 Review pay for fields currently undervalued, like Technical Degrees and Business Studies</a:t>
            </a:r>
          </a:p>
          <a:p>
            <a:pPr algn="l">
              <a:lnSpc>
                <a:spcPts val="3219"/>
              </a:lnSpc>
              <a:spcBef>
                <a:spcPct val="0"/>
              </a:spcBef>
            </a:pPr>
            <a:r>
              <a:rPr lang="en-US" sz="2299" spc="-45">
                <a:solidFill>
                  <a:srgbClr val="FFFFFF"/>
                </a:solidFill>
                <a:latin typeface="Inter"/>
                <a:ea typeface="Inter"/>
                <a:cs typeface="Inter"/>
                <a:sym typeface="Inter"/>
              </a:rPr>
              <a:t> 📌 Ensure internal equity across education fields</a:t>
            </a:r>
          </a:p>
        </p:txBody>
      </p:sp>
      <p:grpSp>
        <p:nvGrpSpPr>
          <p:cNvPr id="10" name="Group 10"/>
          <p:cNvGrpSpPr/>
          <p:nvPr/>
        </p:nvGrpSpPr>
        <p:grpSpPr>
          <a:xfrm>
            <a:off x="1028700" y="454041"/>
            <a:ext cx="10867520" cy="1224523"/>
            <a:chOff x="0" y="0"/>
            <a:chExt cx="2862228" cy="322508"/>
          </a:xfrm>
        </p:grpSpPr>
        <p:sp>
          <p:nvSpPr>
            <p:cNvPr id="11" name="Freeform 11"/>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2" name="TextBox 12"/>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TextBox 8"/>
          <p:cNvSpPr txBox="1"/>
          <p:nvPr/>
        </p:nvSpPr>
        <p:spPr>
          <a:xfrm>
            <a:off x="1519802" y="2433508"/>
            <a:ext cx="10865525" cy="639000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3. Strengthen Workforce Development at Lower Education Levels</a:t>
            </a:r>
          </a:p>
          <a:p>
            <a:pPr algn="l">
              <a:lnSpc>
                <a:spcPts val="3219"/>
              </a:lnSpc>
              <a:spcBef>
                <a:spcPct val="0"/>
              </a:spcBef>
            </a:pPr>
            <a:r>
              <a:rPr lang="en-US" sz="2299" spc="-45">
                <a:solidFill>
                  <a:srgbClr val="FFFFFF"/>
                </a:solidFill>
                <a:latin typeface="Inter"/>
                <a:ea typeface="Inter"/>
                <a:cs typeface="Inter"/>
                <a:sym typeface="Inter"/>
              </a:rPr>
              <a:t>Employees with High School and No Formal qualifications earn the lowest salaries.</a:t>
            </a:r>
          </a:p>
          <a:p>
            <a:pPr algn="l">
              <a:lnSpc>
                <a:spcPts val="3219"/>
              </a:lnSpc>
              <a:spcBef>
                <a:spcPct val="0"/>
              </a:spcBef>
            </a:pPr>
            <a:r>
              <a:rPr lang="en-US" sz="2299" spc="-45">
                <a:solidFill>
                  <a:srgbClr val="FFFFFF"/>
                </a:solidFill>
                <a:latin typeface="Inter"/>
                <a:ea typeface="Inter"/>
                <a:cs typeface="Inter"/>
                <a:sym typeface="Inter"/>
              </a:rPr>
              <a:t>Recommendation:</a:t>
            </a:r>
          </a:p>
          <a:p>
            <a:pPr algn="l">
              <a:lnSpc>
                <a:spcPts val="3219"/>
              </a:lnSpc>
              <a:spcBef>
                <a:spcPct val="0"/>
              </a:spcBef>
            </a:pPr>
            <a:r>
              <a:rPr lang="en-US" sz="2299" spc="-45">
                <a:solidFill>
                  <a:srgbClr val="FFFFFF"/>
                </a:solidFill>
                <a:latin typeface="Inter"/>
                <a:ea typeface="Inter"/>
                <a:cs typeface="Inter"/>
                <a:sym typeface="Inter"/>
              </a:rPr>
              <a:t> 🎓 Provide targeted upskilling programs</a:t>
            </a:r>
          </a:p>
          <a:p>
            <a:pPr algn="l">
              <a:lnSpc>
                <a:spcPts val="3219"/>
              </a:lnSpc>
              <a:spcBef>
                <a:spcPct val="0"/>
              </a:spcBef>
            </a:pPr>
            <a:r>
              <a:rPr lang="en-US" sz="2299" spc="-45">
                <a:solidFill>
                  <a:srgbClr val="FFFFFF"/>
                </a:solidFill>
                <a:latin typeface="Inter"/>
                <a:ea typeface="Inter"/>
                <a:cs typeface="Inter"/>
                <a:sym typeface="Inter"/>
              </a:rPr>
              <a:t> 🎯 Create pathways for promotion through skill-based training</a:t>
            </a:r>
          </a:p>
          <a:p>
            <a:pPr algn="l">
              <a:lnSpc>
                <a:spcPts val="3219"/>
              </a:lnSpc>
              <a:spcBef>
                <a:spcPct val="0"/>
              </a:spcBef>
            </a:pPr>
            <a:r>
              <a:rPr lang="en-US" sz="2299" spc="-45">
                <a:solidFill>
                  <a:srgbClr val="FFFFFF"/>
                </a:solidFill>
                <a:latin typeface="Inter"/>
                <a:ea typeface="Inter"/>
                <a:cs typeface="Inter"/>
                <a:sym typeface="Inter"/>
              </a:rPr>
              <a:t> 🏫 Offer partnerships with technical institutes</a:t>
            </a:r>
          </a:p>
          <a:p>
            <a:pPr algn="l">
              <a:lnSpc>
                <a:spcPts val="3219"/>
              </a:lnSpc>
              <a:spcBef>
                <a:spcPct val="0"/>
              </a:spcBef>
            </a:pPr>
            <a:r>
              <a:rPr lang="en-US" sz="2299" spc="-45">
                <a:solidFill>
                  <a:srgbClr val="FFFFFF"/>
                </a:solidFill>
                <a:latin typeface="Inter"/>
                <a:ea typeface="Inter"/>
                <a:cs typeface="Inter"/>
                <a:sym typeface="Inter"/>
              </a:rPr>
              <a:t>This helps reduce turnover and increase employee satisfaction.</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4. Monitor Shifts in Marital Status Trends</a:t>
            </a:r>
          </a:p>
          <a:p>
            <a:pPr algn="l">
              <a:lnSpc>
                <a:spcPts val="3219"/>
              </a:lnSpc>
              <a:spcBef>
                <a:spcPct val="0"/>
              </a:spcBef>
            </a:pPr>
            <a:r>
              <a:rPr lang="en-US" sz="2299" spc="-45">
                <a:solidFill>
                  <a:srgbClr val="FFFFFF"/>
                </a:solidFill>
                <a:latin typeface="Inter"/>
                <a:ea typeface="Inter"/>
                <a:cs typeface="Inter"/>
                <a:sym typeface="Inter"/>
              </a:rPr>
              <a:t>The upward trend in married employees may imply:</a:t>
            </a:r>
          </a:p>
          <a:p>
            <a:pPr algn="l">
              <a:lnSpc>
                <a:spcPts val="3219"/>
              </a:lnSpc>
              <a:spcBef>
                <a:spcPct val="0"/>
              </a:spcBef>
            </a:pPr>
            <a:r>
              <a:rPr lang="en-US" sz="2299" spc="-45">
                <a:solidFill>
                  <a:srgbClr val="FFFFFF"/>
                </a:solidFill>
                <a:latin typeface="Inter"/>
                <a:ea typeface="Inter"/>
                <a:cs typeface="Inter"/>
                <a:sym typeface="Inter"/>
              </a:rPr>
              <a:t>Higher demand for family-related benefits</a:t>
            </a:r>
          </a:p>
          <a:p>
            <a:pPr algn="l">
              <a:lnSpc>
                <a:spcPts val="3219"/>
              </a:lnSpc>
              <a:spcBef>
                <a:spcPct val="0"/>
              </a:spcBef>
            </a:pPr>
            <a:r>
              <a:rPr lang="en-US" sz="2299" spc="-45">
                <a:solidFill>
                  <a:srgbClr val="FFFFFF"/>
                </a:solidFill>
                <a:latin typeface="Inter"/>
                <a:ea typeface="Inter"/>
                <a:cs typeface="Inter"/>
                <a:sym typeface="Inter"/>
              </a:rPr>
              <a:t>Need for stability-focused retention plans</a:t>
            </a:r>
          </a:p>
          <a:p>
            <a:pPr algn="l">
              <a:lnSpc>
                <a:spcPts val="3219"/>
              </a:lnSpc>
              <a:spcBef>
                <a:spcPct val="0"/>
              </a:spcBef>
            </a:pPr>
            <a:r>
              <a:rPr lang="en-US" sz="2299" spc="-45">
                <a:solidFill>
                  <a:srgbClr val="FFFFFF"/>
                </a:solidFill>
                <a:latin typeface="Inter"/>
                <a:ea typeface="Inter"/>
                <a:cs typeface="Inter"/>
                <a:sym typeface="Inter"/>
              </a:rPr>
              <a:t>Potential for higher benefit cost structures</a:t>
            </a:r>
          </a:p>
          <a:p>
            <a:pPr algn="l">
              <a:lnSpc>
                <a:spcPts val="3219"/>
              </a:lnSpc>
              <a:spcBef>
                <a:spcPct val="0"/>
              </a:spcBef>
            </a:pPr>
            <a:r>
              <a:rPr lang="en-US" sz="2299" spc="-45">
                <a:solidFill>
                  <a:srgbClr val="FFFFFF"/>
                </a:solidFill>
                <a:latin typeface="Inter"/>
                <a:ea typeface="Inter"/>
                <a:cs typeface="Inter"/>
                <a:sym typeface="Inter"/>
              </a:rPr>
              <a:t>Recommendation:</a:t>
            </a:r>
          </a:p>
          <a:p>
            <a:pPr algn="l">
              <a:lnSpc>
                <a:spcPts val="3219"/>
              </a:lnSpc>
              <a:spcBef>
                <a:spcPct val="0"/>
              </a:spcBef>
            </a:pPr>
            <a:r>
              <a:rPr lang="en-US" sz="2299" spc="-45">
                <a:solidFill>
                  <a:srgbClr val="FFFFFF"/>
                </a:solidFill>
                <a:latin typeface="Inter"/>
                <a:ea typeface="Inter"/>
                <a:cs typeface="Inter"/>
                <a:sym typeface="Inter"/>
              </a:rPr>
              <a:t> 👨‍👩‍👧 Review family insurance, parental leave, and flexible schedule policies</a:t>
            </a:r>
          </a:p>
          <a:p>
            <a:pPr algn="l">
              <a:lnSpc>
                <a:spcPts val="3219"/>
              </a:lnSpc>
              <a:spcBef>
                <a:spcPct val="0"/>
              </a:spcBef>
            </a:pPr>
            <a:r>
              <a:rPr lang="en-US" sz="2299" spc="-45">
                <a:solidFill>
                  <a:srgbClr val="FFFFFF"/>
                </a:solidFill>
                <a:latin typeface="Inter"/>
                <a:ea typeface="Inter"/>
                <a:cs typeface="Inter"/>
                <a:sym typeface="Inter"/>
              </a:rPr>
              <a:t> 📈 Forecast workforce demographics to support benefits budgeting</a:t>
            </a:r>
          </a:p>
        </p:txBody>
      </p:sp>
      <p:grpSp>
        <p:nvGrpSpPr>
          <p:cNvPr id="9" name="Group 9"/>
          <p:cNvGrpSpPr/>
          <p:nvPr/>
        </p:nvGrpSpPr>
        <p:grpSpPr>
          <a:xfrm>
            <a:off x="1028700" y="454041"/>
            <a:ext cx="10867520" cy="1224523"/>
            <a:chOff x="0" y="0"/>
            <a:chExt cx="2862228" cy="322508"/>
          </a:xfrm>
        </p:grpSpPr>
        <p:sp>
          <p:nvSpPr>
            <p:cNvPr id="10" name="Freeform 10"/>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1" name="TextBox 11"/>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3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TextBox 8"/>
          <p:cNvSpPr txBox="1"/>
          <p:nvPr/>
        </p:nvSpPr>
        <p:spPr>
          <a:xfrm>
            <a:off x="1288578" y="2801482"/>
            <a:ext cx="11920181" cy="238950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5. Recruit Strategically Using Education-Salary Insights</a:t>
            </a:r>
          </a:p>
          <a:p>
            <a:pPr algn="l">
              <a:lnSpc>
                <a:spcPts val="3219"/>
              </a:lnSpc>
              <a:spcBef>
                <a:spcPct val="0"/>
              </a:spcBef>
            </a:pPr>
            <a:r>
              <a:rPr lang="en-US" sz="2299" spc="-45">
                <a:solidFill>
                  <a:srgbClr val="FFFFFF"/>
                </a:solidFill>
                <a:latin typeface="Inter"/>
                <a:ea typeface="Inter"/>
                <a:cs typeface="Inter"/>
                <a:sym typeface="Inter"/>
              </a:rPr>
              <a:t>Fields like HR, Marketing, and IS have higher salary expectations.</a:t>
            </a:r>
          </a:p>
          <a:p>
            <a:pPr algn="l">
              <a:lnSpc>
                <a:spcPts val="3219"/>
              </a:lnSpc>
              <a:spcBef>
                <a:spcPct val="0"/>
              </a:spcBef>
            </a:pPr>
            <a:r>
              <a:rPr lang="en-US" sz="2299" spc="-45">
                <a:solidFill>
                  <a:srgbClr val="FFFFFF"/>
                </a:solidFill>
                <a:latin typeface="Inter"/>
                <a:ea typeface="Inter"/>
                <a:cs typeface="Inter"/>
                <a:sym typeface="Inter"/>
              </a:rPr>
              <a:t>Recommendation:</a:t>
            </a:r>
          </a:p>
          <a:p>
            <a:pPr algn="l">
              <a:lnSpc>
                <a:spcPts val="3219"/>
              </a:lnSpc>
              <a:spcBef>
                <a:spcPct val="0"/>
              </a:spcBef>
            </a:pPr>
            <a:r>
              <a:rPr lang="en-US" sz="2299" spc="-45">
                <a:solidFill>
                  <a:srgbClr val="FFFFFF"/>
                </a:solidFill>
                <a:latin typeface="Inter"/>
                <a:ea typeface="Inter"/>
                <a:cs typeface="Inter"/>
                <a:sym typeface="Inter"/>
              </a:rPr>
              <a:t> 📝 Use dashboard insights to adjust recruitment budgets</a:t>
            </a:r>
          </a:p>
          <a:p>
            <a:pPr algn="l">
              <a:lnSpc>
                <a:spcPts val="3219"/>
              </a:lnSpc>
              <a:spcBef>
                <a:spcPct val="0"/>
              </a:spcBef>
            </a:pPr>
            <a:r>
              <a:rPr lang="en-US" sz="2299" spc="-45">
                <a:solidFill>
                  <a:srgbClr val="FFFFFF"/>
                </a:solidFill>
                <a:latin typeface="Inter"/>
                <a:ea typeface="Inter"/>
                <a:cs typeface="Inter"/>
                <a:sym typeface="Inter"/>
              </a:rPr>
              <a:t> 💼 Evaluate if higher-earning fields correlate with higher performance or business impact</a:t>
            </a:r>
          </a:p>
          <a:p>
            <a:pPr algn="l">
              <a:lnSpc>
                <a:spcPts val="3219"/>
              </a:lnSpc>
              <a:spcBef>
                <a:spcPct val="0"/>
              </a:spcBef>
            </a:pPr>
            <a:r>
              <a:rPr lang="en-US" sz="2299" spc="-45">
                <a:solidFill>
                  <a:srgbClr val="FFFFFF"/>
                </a:solidFill>
                <a:latin typeface="Inter"/>
                <a:ea typeface="Inter"/>
                <a:cs typeface="Inter"/>
                <a:sym typeface="Inter"/>
              </a:rPr>
              <a:t> 📊 Direct recruitment investment toward fields with the best ROI</a:t>
            </a:r>
          </a:p>
        </p:txBody>
      </p:sp>
      <p:grpSp>
        <p:nvGrpSpPr>
          <p:cNvPr id="9" name="Group 9"/>
          <p:cNvGrpSpPr/>
          <p:nvPr/>
        </p:nvGrpSpPr>
        <p:grpSpPr>
          <a:xfrm>
            <a:off x="1028700" y="454041"/>
            <a:ext cx="10867520" cy="1224523"/>
            <a:chOff x="0" y="0"/>
            <a:chExt cx="2862228" cy="322508"/>
          </a:xfrm>
        </p:grpSpPr>
        <p:sp>
          <p:nvSpPr>
            <p:cNvPr id="10" name="Freeform 10"/>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1" name="TextBox 11"/>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3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Freeform 8"/>
          <p:cNvSpPr/>
          <p:nvPr/>
        </p:nvSpPr>
        <p:spPr>
          <a:xfrm>
            <a:off x="1288578" y="3332655"/>
            <a:ext cx="8675873" cy="4203819"/>
          </a:xfrm>
          <a:custGeom>
            <a:avLst/>
            <a:gdLst/>
            <a:ahLst/>
            <a:cxnLst/>
            <a:rect l="l" t="t" r="r" b="b"/>
            <a:pathLst>
              <a:path w="8675873" h="4203819">
                <a:moveTo>
                  <a:pt x="0" y="0"/>
                </a:moveTo>
                <a:lnTo>
                  <a:pt x="8675873" y="0"/>
                </a:lnTo>
                <a:lnTo>
                  <a:pt x="8675873" y="4203819"/>
                </a:lnTo>
                <a:lnTo>
                  <a:pt x="0" y="4203819"/>
                </a:lnTo>
                <a:lnTo>
                  <a:pt x="0" y="0"/>
                </a:lnTo>
                <a:close/>
              </a:path>
            </a:pathLst>
          </a:custGeom>
          <a:blipFill>
            <a:blip r:embed="rId8"/>
            <a:stretch>
              <a:fillRect r="-1474"/>
            </a:stretch>
          </a:blipFill>
        </p:spPr>
        <p:txBody>
          <a:bodyPr/>
          <a:lstStyle/>
          <a:p>
            <a:endParaRPr lang="ar-EG"/>
          </a:p>
        </p:txBody>
      </p:sp>
      <p:sp>
        <p:nvSpPr>
          <p:cNvPr id="9" name="TextBox 9"/>
          <p:cNvSpPr txBox="1"/>
          <p:nvPr/>
        </p:nvSpPr>
        <p:spPr>
          <a:xfrm>
            <a:off x="10268280" y="2552700"/>
            <a:ext cx="4362119" cy="424027"/>
          </a:xfrm>
          <a:prstGeom prst="rect">
            <a:avLst/>
          </a:prstGeom>
        </p:spPr>
        <p:txBody>
          <a:bodyPr wrap="square" lIns="0" tIns="0" rIns="0" bIns="0" rtlCol="0" anchor="t">
            <a:spAutoFit/>
          </a:bodyPr>
          <a:lstStyle/>
          <a:p>
            <a:pPr algn="l">
              <a:lnSpc>
                <a:spcPts val="3639"/>
              </a:lnSpc>
              <a:spcBef>
                <a:spcPct val="0"/>
              </a:spcBef>
            </a:pPr>
            <a:r>
              <a:rPr lang="en-US" sz="2599" spc="-51" dirty="0">
                <a:solidFill>
                  <a:srgbClr val="FFFFFF"/>
                </a:solidFill>
                <a:latin typeface="Inter"/>
                <a:ea typeface="Inter"/>
                <a:cs typeface="Inter"/>
                <a:sym typeface="Inter"/>
              </a:rPr>
              <a:t>📌 Dashboard Description</a:t>
            </a:r>
          </a:p>
        </p:txBody>
      </p:sp>
      <p:sp>
        <p:nvSpPr>
          <p:cNvPr id="10" name="TextBox 10"/>
          <p:cNvSpPr txBox="1"/>
          <p:nvPr/>
        </p:nvSpPr>
        <p:spPr>
          <a:xfrm>
            <a:off x="10268281" y="3114190"/>
            <a:ext cx="6865464" cy="558990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This dashboard provides a comprehensive view of employee attrition and retention across the organization. It visualizes key workforce metrics—including total employees, active vs. attrition counts, demographic distribution, and attrition trends—allowing HR and management to assess the stability, diversity, and satisfaction of the workforce.</a:t>
            </a:r>
          </a:p>
          <a:p>
            <a:pPr algn="l">
              <a:lnSpc>
                <a:spcPts val="3219"/>
              </a:lnSpc>
              <a:spcBef>
                <a:spcPct val="0"/>
              </a:spcBef>
            </a:pPr>
            <a:r>
              <a:rPr lang="en-US" sz="2299" spc="-45">
                <a:solidFill>
                  <a:srgbClr val="FFFFFF"/>
                </a:solidFill>
                <a:latin typeface="Inter"/>
                <a:ea typeface="Inter"/>
                <a:cs typeface="Inter"/>
                <a:sym typeface="Inter"/>
              </a:rPr>
              <a:t> It highlights which employee groups and salary ranges are most at risk, identifies departments with higher turnover, and evaluates how tenure varies across different age groups. The dashboard supports strategic workforce planning and helps target interventions to improve employee retention.</a:t>
            </a:r>
          </a:p>
        </p:txBody>
      </p:sp>
      <p:grpSp>
        <p:nvGrpSpPr>
          <p:cNvPr id="11" name="Group 11"/>
          <p:cNvGrpSpPr/>
          <p:nvPr/>
        </p:nvGrpSpPr>
        <p:grpSpPr>
          <a:xfrm>
            <a:off x="1028700" y="454041"/>
            <a:ext cx="10867520" cy="1224523"/>
            <a:chOff x="0" y="0"/>
            <a:chExt cx="2862228" cy="322508"/>
          </a:xfrm>
        </p:grpSpPr>
        <p:sp>
          <p:nvSpPr>
            <p:cNvPr id="12" name="Freeform 12"/>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3" name="TextBox 13"/>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38.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TextBox 8"/>
          <p:cNvSpPr txBox="1"/>
          <p:nvPr/>
        </p:nvSpPr>
        <p:spPr>
          <a:xfrm>
            <a:off x="1288578" y="2247900"/>
            <a:ext cx="6466996" cy="424027"/>
          </a:xfrm>
          <a:prstGeom prst="rect">
            <a:avLst/>
          </a:prstGeom>
        </p:spPr>
        <p:txBody>
          <a:bodyPr wrap="square" lIns="0" tIns="0" rIns="0" bIns="0" rtlCol="0" anchor="t">
            <a:spAutoFit/>
          </a:bodyPr>
          <a:lstStyle/>
          <a:p>
            <a:pPr>
              <a:lnSpc>
                <a:spcPts val="3639"/>
              </a:lnSpc>
              <a:spcBef>
                <a:spcPct val="0"/>
              </a:spcBef>
            </a:pPr>
            <a:r>
              <a:rPr lang="en-US" sz="2599" spc="-51" dirty="0">
                <a:solidFill>
                  <a:srgbClr val="FFFFFF"/>
                </a:solidFill>
                <a:latin typeface="Inter"/>
                <a:ea typeface="Inter"/>
                <a:cs typeface="Inter"/>
                <a:sym typeface="Inter"/>
              </a:rPr>
              <a:t>📊 Key Performance Indicators (KPIs)</a:t>
            </a:r>
          </a:p>
        </p:txBody>
      </p:sp>
      <p:sp>
        <p:nvSpPr>
          <p:cNvPr id="9" name="TextBox 9"/>
          <p:cNvSpPr txBox="1"/>
          <p:nvPr/>
        </p:nvSpPr>
        <p:spPr>
          <a:xfrm>
            <a:off x="1479505" y="3178460"/>
            <a:ext cx="6466996" cy="5576397"/>
          </a:xfrm>
          <a:prstGeom prst="rect">
            <a:avLst/>
          </a:prstGeom>
        </p:spPr>
        <p:txBody>
          <a:bodyPr lIns="0" tIns="0" rIns="0" bIns="0" rtlCol="0" anchor="t">
            <a:spAutoFit/>
          </a:bodyPr>
          <a:lstStyle/>
          <a:p>
            <a:pPr algn="l">
              <a:lnSpc>
                <a:spcPts val="3212"/>
              </a:lnSpc>
              <a:spcBef>
                <a:spcPct val="0"/>
              </a:spcBef>
            </a:pPr>
            <a:r>
              <a:rPr lang="en-US" sz="2294" spc="-45">
                <a:solidFill>
                  <a:srgbClr val="FFFFFF"/>
                </a:solidFill>
                <a:latin typeface="Inter"/>
                <a:ea typeface="Inter"/>
                <a:cs typeface="Inter"/>
                <a:sym typeface="Inter"/>
              </a:rPr>
              <a:t>1. Total Employees</a:t>
            </a:r>
          </a:p>
          <a:p>
            <a:pPr algn="l">
              <a:lnSpc>
                <a:spcPts val="3212"/>
              </a:lnSpc>
              <a:spcBef>
                <a:spcPct val="0"/>
              </a:spcBef>
            </a:pPr>
            <a:r>
              <a:rPr lang="en-US" sz="2294" spc="-45">
                <a:solidFill>
                  <a:srgbClr val="FFFFFF"/>
                </a:solidFill>
                <a:latin typeface="Inter"/>
                <a:ea typeface="Inter"/>
                <a:cs typeface="Inter"/>
                <a:sym typeface="Inter"/>
              </a:rPr>
              <a:t>1470 employees</a:t>
            </a:r>
          </a:p>
          <a:p>
            <a:pPr algn="l">
              <a:lnSpc>
                <a:spcPts val="3212"/>
              </a:lnSpc>
              <a:spcBef>
                <a:spcPct val="0"/>
              </a:spcBef>
            </a:pPr>
            <a:r>
              <a:rPr lang="en-US" sz="2294" spc="-45">
                <a:solidFill>
                  <a:srgbClr val="FFFFFF"/>
                </a:solidFill>
                <a:latin typeface="Inter"/>
                <a:ea typeface="Inter"/>
                <a:cs typeface="Inter"/>
                <a:sym typeface="Inter"/>
              </a:rPr>
              <a:t> Represents the full workforce size.</a:t>
            </a:r>
          </a:p>
          <a:p>
            <a:pPr algn="l">
              <a:lnSpc>
                <a:spcPts val="3212"/>
              </a:lnSpc>
              <a:spcBef>
                <a:spcPct val="0"/>
              </a:spcBef>
            </a:pPr>
            <a:endParaRPr lang="en-US" sz="2294" spc="-45">
              <a:solidFill>
                <a:srgbClr val="FFFFFF"/>
              </a:solidFill>
              <a:latin typeface="Inter"/>
              <a:ea typeface="Inter"/>
              <a:cs typeface="Inter"/>
              <a:sym typeface="Inter"/>
            </a:endParaRPr>
          </a:p>
          <a:p>
            <a:pPr algn="l">
              <a:lnSpc>
                <a:spcPts val="3212"/>
              </a:lnSpc>
              <a:spcBef>
                <a:spcPct val="0"/>
              </a:spcBef>
            </a:pPr>
            <a:r>
              <a:rPr lang="en-US" sz="2294" spc="-45">
                <a:solidFill>
                  <a:srgbClr val="FFFFFF"/>
                </a:solidFill>
                <a:latin typeface="Inter"/>
                <a:ea typeface="Inter"/>
                <a:cs typeface="Inter"/>
                <a:sym typeface="Inter"/>
              </a:rPr>
              <a:t>2. Total Attrition (Employees who left)</a:t>
            </a:r>
          </a:p>
          <a:p>
            <a:pPr algn="l">
              <a:lnSpc>
                <a:spcPts val="3212"/>
              </a:lnSpc>
              <a:spcBef>
                <a:spcPct val="0"/>
              </a:spcBef>
            </a:pPr>
            <a:r>
              <a:rPr lang="en-US" sz="2294" spc="-45">
                <a:solidFill>
                  <a:srgbClr val="FFFFFF"/>
                </a:solidFill>
                <a:latin typeface="Inter"/>
                <a:ea typeface="Inter"/>
                <a:cs typeface="Inter"/>
                <a:sym typeface="Inter"/>
              </a:rPr>
              <a:t>237 employees</a:t>
            </a:r>
          </a:p>
          <a:p>
            <a:pPr algn="l">
              <a:lnSpc>
                <a:spcPts val="3212"/>
              </a:lnSpc>
              <a:spcBef>
                <a:spcPct val="0"/>
              </a:spcBef>
            </a:pPr>
            <a:r>
              <a:rPr lang="en-US" sz="2294" spc="-45">
                <a:solidFill>
                  <a:srgbClr val="FFFFFF"/>
                </a:solidFill>
                <a:latin typeface="Inter"/>
                <a:ea typeface="Inter"/>
                <a:cs typeface="Inter"/>
                <a:sym typeface="Inter"/>
              </a:rPr>
              <a:t> Attrition Rate: 16%</a:t>
            </a:r>
          </a:p>
          <a:p>
            <a:pPr algn="l">
              <a:lnSpc>
                <a:spcPts val="3212"/>
              </a:lnSpc>
              <a:spcBef>
                <a:spcPct val="0"/>
              </a:spcBef>
            </a:pPr>
            <a:r>
              <a:rPr lang="en-US" sz="2294" spc="-45">
                <a:solidFill>
                  <a:srgbClr val="FFFFFF"/>
                </a:solidFill>
                <a:latin typeface="Inter"/>
                <a:ea typeface="Inter"/>
                <a:cs typeface="Inter"/>
                <a:sym typeface="Inter"/>
              </a:rPr>
              <a:t> Indicates a moderate turnover level that should be monitored.</a:t>
            </a:r>
          </a:p>
          <a:p>
            <a:pPr algn="l">
              <a:lnSpc>
                <a:spcPts val="3212"/>
              </a:lnSpc>
              <a:spcBef>
                <a:spcPct val="0"/>
              </a:spcBef>
            </a:pPr>
            <a:endParaRPr lang="en-US" sz="2294" spc="-45">
              <a:solidFill>
                <a:srgbClr val="FFFFFF"/>
              </a:solidFill>
              <a:latin typeface="Inter"/>
              <a:ea typeface="Inter"/>
              <a:cs typeface="Inter"/>
              <a:sym typeface="Inter"/>
            </a:endParaRPr>
          </a:p>
          <a:p>
            <a:pPr algn="l">
              <a:lnSpc>
                <a:spcPts val="3212"/>
              </a:lnSpc>
              <a:spcBef>
                <a:spcPct val="0"/>
              </a:spcBef>
            </a:pPr>
            <a:r>
              <a:rPr lang="en-US" sz="2294" spc="-45">
                <a:solidFill>
                  <a:srgbClr val="FFFFFF"/>
                </a:solidFill>
                <a:latin typeface="Inter"/>
                <a:ea typeface="Inter"/>
                <a:cs typeface="Inter"/>
                <a:sym typeface="Inter"/>
              </a:rPr>
              <a:t>3. Active Employees</a:t>
            </a:r>
          </a:p>
          <a:p>
            <a:pPr algn="l">
              <a:lnSpc>
                <a:spcPts val="3212"/>
              </a:lnSpc>
              <a:spcBef>
                <a:spcPct val="0"/>
              </a:spcBef>
            </a:pPr>
            <a:r>
              <a:rPr lang="en-US" sz="2294" spc="-45">
                <a:solidFill>
                  <a:srgbClr val="FFFFFF"/>
                </a:solidFill>
                <a:latin typeface="Inter"/>
                <a:ea typeface="Inter"/>
                <a:cs typeface="Inter"/>
                <a:sym typeface="Inter"/>
              </a:rPr>
              <a:t>1233 employees (84%)</a:t>
            </a:r>
          </a:p>
          <a:p>
            <a:pPr algn="l">
              <a:lnSpc>
                <a:spcPts val="3212"/>
              </a:lnSpc>
              <a:spcBef>
                <a:spcPct val="0"/>
              </a:spcBef>
            </a:pPr>
            <a:r>
              <a:rPr lang="en-US" sz="2294" spc="-45">
                <a:solidFill>
                  <a:srgbClr val="FFFFFF"/>
                </a:solidFill>
                <a:latin typeface="Inter"/>
                <a:ea typeface="Inter"/>
                <a:cs typeface="Inter"/>
                <a:sym typeface="Inter"/>
              </a:rPr>
              <a:t> Shows the current workforce after accounting for attrition.</a:t>
            </a:r>
          </a:p>
        </p:txBody>
      </p:sp>
      <p:sp>
        <p:nvSpPr>
          <p:cNvPr id="10" name="TextBox 10"/>
          <p:cNvSpPr txBox="1"/>
          <p:nvPr/>
        </p:nvSpPr>
        <p:spPr>
          <a:xfrm>
            <a:off x="8438997" y="3178460"/>
            <a:ext cx="7974725" cy="478980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4. Attrition by Salary Range</a:t>
            </a:r>
          </a:p>
          <a:p>
            <a:pPr algn="l">
              <a:lnSpc>
                <a:spcPts val="3219"/>
              </a:lnSpc>
              <a:spcBef>
                <a:spcPct val="0"/>
              </a:spcBef>
            </a:pPr>
            <a:r>
              <a:rPr lang="en-US" sz="2299" spc="-45">
                <a:solidFill>
                  <a:srgbClr val="FFFFFF"/>
                </a:solidFill>
                <a:latin typeface="Inter"/>
                <a:ea typeface="Inter"/>
                <a:cs typeface="Inter"/>
                <a:sym typeface="Inter"/>
              </a:rPr>
              <a:t>Highest attrition: 0–100K salary range (0.20)</a:t>
            </a:r>
          </a:p>
          <a:p>
            <a:pPr algn="l">
              <a:lnSpc>
                <a:spcPts val="3219"/>
              </a:lnSpc>
              <a:spcBef>
                <a:spcPct val="0"/>
              </a:spcBef>
            </a:pPr>
            <a:r>
              <a:rPr lang="en-US" sz="2299" spc="-45">
                <a:solidFill>
                  <a:srgbClr val="FFFFFF"/>
                </a:solidFill>
                <a:latin typeface="Inter"/>
                <a:ea typeface="Inter"/>
                <a:cs typeface="Inter"/>
                <a:sym typeface="Inter"/>
              </a:rPr>
              <a:t>Attrition decreases as salary increases, ending around 0.08 for 300K–400K range</a:t>
            </a:r>
          </a:p>
          <a:p>
            <a:pPr algn="l">
              <a:lnSpc>
                <a:spcPts val="3219"/>
              </a:lnSpc>
              <a:spcBef>
                <a:spcPct val="0"/>
              </a:spcBef>
            </a:pPr>
            <a:r>
              <a:rPr lang="en-US" sz="2299" spc="-45">
                <a:solidFill>
                  <a:srgbClr val="FFFFFF"/>
                </a:solidFill>
                <a:latin typeface="Inter"/>
                <a:ea typeface="Inter"/>
                <a:cs typeface="Inter"/>
                <a:sym typeface="Inter"/>
              </a:rPr>
              <a:t> ⚠ Indicates lower-salary employees are more likely to leave.</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5. Attrition by Department</a:t>
            </a:r>
          </a:p>
          <a:p>
            <a:pPr marL="496567" lvl="1" indent="-248284" algn="l">
              <a:lnSpc>
                <a:spcPts val="3219"/>
              </a:lnSpc>
              <a:spcBef>
                <a:spcPct val="0"/>
              </a:spcBef>
              <a:buFont typeface="Arial"/>
              <a:buChar char="•"/>
            </a:pPr>
            <a:r>
              <a:rPr lang="en-US" sz="2299" spc="-45">
                <a:solidFill>
                  <a:srgbClr val="FFFFFF"/>
                </a:solidFill>
                <a:latin typeface="Inter"/>
                <a:ea typeface="Inter"/>
                <a:cs typeface="Inter"/>
                <a:sym typeface="Inter"/>
              </a:rPr>
              <a:t>Sales: 0.21 (Highest)</a:t>
            </a:r>
          </a:p>
          <a:p>
            <a:pPr marL="496567" lvl="1" indent="-248284" algn="l">
              <a:lnSpc>
                <a:spcPts val="3219"/>
              </a:lnSpc>
              <a:spcBef>
                <a:spcPct val="0"/>
              </a:spcBef>
              <a:buFont typeface="Arial"/>
              <a:buChar char="•"/>
            </a:pPr>
            <a:r>
              <a:rPr lang="en-US" sz="2299" spc="-45">
                <a:solidFill>
                  <a:srgbClr val="FFFFFF"/>
                </a:solidFill>
                <a:latin typeface="Inter"/>
                <a:ea typeface="Inter"/>
                <a:cs typeface="Inter"/>
                <a:sym typeface="Inter"/>
              </a:rPr>
              <a:t>HR: 0.19</a:t>
            </a:r>
          </a:p>
          <a:p>
            <a:pPr marL="496567" lvl="1" indent="-248284" algn="l">
              <a:lnSpc>
                <a:spcPts val="3219"/>
              </a:lnSpc>
              <a:spcBef>
                <a:spcPct val="0"/>
              </a:spcBef>
              <a:buFont typeface="Arial"/>
              <a:buChar char="•"/>
            </a:pPr>
            <a:r>
              <a:rPr lang="en-US" sz="2299" spc="-45">
                <a:solidFill>
                  <a:srgbClr val="FFFFFF"/>
                </a:solidFill>
                <a:latin typeface="Inter"/>
                <a:ea typeface="Inter"/>
                <a:cs typeface="Inter"/>
                <a:sym typeface="Inter"/>
              </a:rPr>
              <a:t>Technology: 0.14 (Lowest)</a:t>
            </a:r>
          </a:p>
          <a:p>
            <a:pPr marL="496567" lvl="1" indent="-248284" algn="l">
              <a:lnSpc>
                <a:spcPts val="3219"/>
              </a:lnSpc>
              <a:spcBef>
                <a:spcPct val="0"/>
              </a:spcBef>
              <a:buFont typeface="Arial"/>
              <a:buChar char="•"/>
            </a:pPr>
            <a:r>
              <a:rPr lang="en-US" sz="2299" spc="-45">
                <a:solidFill>
                  <a:srgbClr val="FFFFFF"/>
                </a:solidFill>
                <a:latin typeface="Inter"/>
                <a:ea typeface="Inter"/>
                <a:cs typeface="Inter"/>
                <a:sym typeface="Inter"/>
              </a:rPr>
              <a:t> ⚠ Sales is a critical turnover hotspot.</a:t>
            </a:r>
          </a:p>
        </p:txBody>
      </p:sp>
      <p:grpSp>
        <p:nvGrpSpPr>
          <p:cNvPr id="11" name="Group 11"/>
          <p:cNvGrpSpPr/>
          <p:nvPr/>
        </p:nvGrpSpPr>
        <p:grpSpPr>
          <a:xfrm>
            <a:off x="1028700" y="454041"/>
            <a:ext cx="10867520" cy="1224523"/>
            <a:chOff x="0" y="0"/>
            <a:chExt cx="2862228" cy="322508"/>
          </a:xfrm>
        </p:grpSpPr>
        <p:sp>
          <p:nvSpPr>
            <p:cNvPr id="12" name="Freeform 12"/>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3" name="TextBox 13"/>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39.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TextBox 8"/>
          <p:cNvSpPr txBox="1"/>
          <p:nvPr/>
        </p:nvSpPr>
        <p:spPr>
          <a:xfrm>
            <a:off x="1288578" y="2833558"/>
            <a:ext cx="7414027" cy="558990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6. Attrition by Ethnicity</a:t>
            </a:r>
          </a:p>
          <a:p>
            <a:pPr algn="l">
              <a:lnSpc>
                <a:spcPts val="3219"/>
              </a:lnSpc>
              <a:spcBef>
                <a:spcPct val="0"/>
              </a:spcBef>
            </a:pPr>
            <a:r>
              <a:rPr lang="en-US" sz="2299" spc="-45">
                <a:solidFill>
                  <a:srgbClr val="FFFFFF"/>
                </a:solidFill>
                <a:latin typeface="Inter"/>
                <a:ea typeface="Inter"/>
                <a:cs typeface="Inter"/>
                <a:sym typeface="Inter"/>
              </a:rPr>
              <a:t>Major categories displayed include:</a:t>
            </a:r>
          </a:p>
          <a:p>
            <a:pPr algn="l">
              <a:lnSpc>
                <a:spcPts val="3219"/>
              </a:lnSpc>
              <a:spcBef>
                <a:spcPct val="0"/>
              </a:spcBef>
            </a:pPr>
            <a:r>
              <a:rPr lang="en-US" sz="2299" spc="-45">
                <a:solidFill>
                  <a:srgbClr val="FFFFFF"/>
                </a:solidFill>
                <a:latin typeface="Inter"/>
                <a:ea typeface="Inter"/>
                <a:cs typeface="Inter"/>
                <a:sym typeface="Inter"/>
              </a:rPr>
              <a:t>White (860 employees)</a:t>
            </a:r>
          </a:p>
          <a:p>
            <a:pPr algn="l">
              <a:lnSpc>
                <a:spcPts val="3219"/>
              </a:lnSpc>
              <a:spcBef>
                <a:spcPct val="0"/>
              </a:spcBef>
            </a:pPr>
            <a:r>
              <a:rPr lang="en-US" sz="2299" spc="-45">
                <a:solidFill>
                  <a:srgbClr val="FFFFFF"/>
                </a:solidFill>
                <a:latin typeface="Inter"/>
                <a:ea typeface="Inter"/>
                <a:cs typeface="Inter"/>
                <a:sym typeface="Inter"/>
              </a:rPr>
              <a:t>African American (207)</a:t>
            </a:r>
          </a:p>
          <a:p>
            <a:pPr algn="l">
              <a:lnSpc>
                <a:spcPts val="3219"/>
              </a:lnSpc>
              <a:spcBef>
                <a:spcPct val="0"/>
              </a:spcBef>
            </a:pPr>
            <a:r>
              <a:rPr lang="en-US" sz="2299" spc="-45">
                <a:solidFill>
                  <a:srgbClr val="FFFFFF"/>
                </a:solidFill>
                <a:latin typeface="Inter"/>
                <a:ea typeface="Inter"/>
                <a:cs typeface="Inter"/>
                <a:sym typeface="Inter"/>
              </a:rPr>
              <a:t>Mixed / Multiple groups (198)</a:t>
            </a:r>
          </a:p>
          <a:p>
            <a:pPr algn="l">
              <a:lnSpc>
                <a:spcPts val="3219"/>
              </a:lnSpc>
              <a:spcBef>
                <a:spcPct val="0"/>
              </a:spcBef>
            </a:pPr>
            <a:r>
              <a:rPr lang="en-US" sz="2299" spc="-45">
                <a:solidFill>
                  <a:srgbClr val="FFFFFF"/>
                </a:solidFill>
                <a:latin typeface="Inter"/>
                <a:ea typeface="Inter"/>
                <a:cs typeface="Inter"/>
                <a:sym typeface="Inter"/>
              </a:rPr>
              <a:t>Asian (113)</a:t>
            </a:r>
          </a:p>
          <a:p>
            <a:pPr algn="l">
              <a:lnSpc>
                <a:spcPts val="3219"/>
              </a:lnSpc>
              <a:spcBef>
                <a:spcPct val="0"/>
              </a:spcBef>
            </a:pPr>
            <a:r>
              <a:rPr lang="en-US" sz="2299" spc="-45">
                <a:solidFill>
                  <a:srgbClr val="FFFFFF"/>
                </a:solidFill>
                <a:latin typeface="Inter"/>
                <a:ea typeface="Inter"/>
                <a:cs typeface="Inter"/>
                <a:sym typeface="Inter"/>
              </a:rPr>
              <a:t> Total attrition is 237, distribution visible by ethnicity.</a:t>
            </a:r>
          </a:p>
          <a:p>
            <a:pPr algn="l">
              <a:lnSpc>
                <a:spcPts val="3219"/>
              </a:lnSpc>
              <a:spcBef>
                <a:spcPct val="0"/>
              </a:spcBef>
            </a:pPr>
            <a:r>
              <a:rPr lang="en-US" sz="2299" spc="-45">
                <a:solidFill>
                  <a:srgbClr val="FFFFFF"/>
                </a:solidFill>
                <a:latin typeface="Inter"/>
                <a:ea typeface="Inter"/>
                <a:cs typeface="Inter"/>
                <a:sym typeface="Inter"/>
              </a:rPr>
              <a:t> Useful to detect diversity-related retention gaps.</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7. Average Years at Company</a:t>
            </a:r>
          </a:p>
          <a:p>
            <a:pPr algn="l">
              <a:lnSpc>
                <a:spcPts val="3219"/>
              </a:lnSpc>
              <a:spcBef>
                <a:spcPct val="0"/>
              </a:spcBef>
            </a:pPr>
            <a:r>
              <a:rPr lang="en-US" sz="2299" spc="-45">
                <a:solidFill>
                  <a:srgbClr val="FFFFFF"/>
                </a:solidFill>
                <a:latin typeface="Inter"/>
                <a:ea typeface="Inter"/>
                <a:cs typeface="Inter"/>
                <a:sym typeface="Inter"/>
              </a:rPr>
              <a:t>Overall Average Tenure: 4.56 years</a:t>
            </a:r>
          </a:p>
          <a:p>
            <a:pPr algn="l">
              <a:lnSpc>
                <a:spcPts val="3219"/>
              </a:lnSpc>
              <a:spcBef>
                <a:spcPct val="0"/>
              </a:spcBef>
            </a:pPr>
            <a:r>
              <a:rPr lang="en-US" sz="2299" spc="-45">
                <a:solidFill>
                  <a:srgbClr val="FFFFFF"/>
                </a:solidFill>
                <a:latin typeface="Inter"/>
                <a:ea typeface="Inter"/>
                <a:cs typeface="Inter"/>
                <a:sym typeface="Inter"/>
              </a:rPr>
              <a:t> Tenure rises with age and peaks around ~40 years old (7–9 years).</a:t>
            </a:r>
          </a:p>
          <a:p>
            <a:pPr algn="l">
              <a:lnSpc>
                <a:spcPts val="3219"/>
              </a:lnSpc>
              <a:spcBef>
                <a:spcPct val="0"/>
              </a:spcBef>
            </a:pPr>
            <a:r>
              <a:rPr lang="en-US" sz="2299" spc="-45">
                <a:solidFill>
                  <a:srgbClr val="FFFFFF"/>
                </a:solidFill>
                <a:latin typeface="Inter"/>
                <a:ea typeface="Inter"/>
                <a:cs typeface="Inter"/>
                <a:sym typeface="Inter"/>
              </a:rPr>
              <a:t> Sharp drop again after age 50.</a:t>
            </a:r>
          </a:p>
        </p:txBody>
      </p:sp>
      <p:sp>
        <p:nvSpPr>
          <p:cNvPr id="9" name="TextBox 9"/>
          <p:cNvSpPr txBox="1"/>
          <p:nvPr/>
        </p:nvSpPr>
        <p:spPr>
          <a:xfrm>
            <a:off x="8956912" y="2833558"/>
            <a:ext cx="7747110" cy="478980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 Insights &amp; Notable Observations</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Younger employees have lower tenure, likely early exits or frequent job changes.</a:t>
            </a:r>
          </a:p>
          <a:p>
            <a:pPr algn="l">
              <a:lnSpc>
                <a:spcPts val="3219"/>
              </a:lnSpc>
              <a:spcBef>
                <a:spcPct val="0"/>
              </a:spcBef>
            </a:pPr>
            <a:r>
              <a:rPr lang="en-US" sz="2299" spc="-45">
                <a:solidFill>
                  <a:srgbClr val="FFFFFF"/>
                </a:solidFill>
                <a:latin typeface="Inter"/>
                <a:ea typeface="Inter"/>
                <a:cs typeface="Inter"/>
                <a:sym typeface="Inter"/>
              </a:rPr>
              <a:t>Sales department shows significantly higher attrition, suggesting workload, targets, or compensation issues.</a:t>
            </a:r>
          </a:p>
          <a:p>
            <a:pPr algn="l">
              <a:lnSpc>
                <a:spcPts val="3219"/>
              </a:lnSpc>
              <a:spcBef>
                <a:spcPct val="0"/>
              </a:spcBef>
            </a:pPr>
            <a:r>
              <a:rPr lang="en-US" sz="2299" spc="-45">
                <a:solidFill>
                  <a:srgbClr val="FFFFFF"/>
                </a:solidFill>
                <a:latin typeface="Inter"/>
                <a:ea typeface="Inter"/>
                <a:cs typeface="Inter"/>
                <a:sym typeface="Inter"/>
              </a:rPr>
              <a:t>Lower salary bands have higher attrition, indicating financial dissatisfaction or competitive market pull.</a:t>
            </a:r>
          </a:p>
          <a:p>
            <a:pPr algn="l">
              <a:lnSpc>
                <a:spcPts val="3219"/>
              </a:lnSpc>
              <a:spcBef>
                <a:spcPct val="0"/>
              </a:spcBef>
            </a:pPr>
            <a:r>
              <a:rPr lang="en-US" sz="2299" spc="-45">
                <a:solidFill>
                  <a:srgbClr val="FFFFFF"/>
                </a:solidFill>
                <a:latin typeface="Inter"/>
                <a:ea typeface="Inter"/>
                <a:cs typeface="Inter"/>
                <a:sym typeface="Inter"/>
              </a:rPr>
              <a:t>Most employees stay 4–9 years, especially mid-age groups (30–45).</a:t>
            </a:r>
          </a:p>
          <a:p>
            <a:pPr algn="l">
              <a:lnSpc>
                <a:spcPts val="3219"/>
              </a:lnSpc>
              <a:spcBef>
                <a:spcPct val="0"/>
              </a:spcBef>
            </a:pPr>
            <a:r>
              <a:rPr lang="en-US" sz="2299" spc="-45">
                <a:solidFill>
                  <a:srgbClr val="FFFFFF"/>
                </a:solidFill>
                <a:latin typeface="Inter"/>
                <a:ea typeface="Inter"/>
                <a:cs typeface="Inter"/>
                <a:sym typeface="Inter"/>
              </a:rPr>
              <a:t>Demographics remain relatively stable but could hide underlying disparities.</a:t>
            </a:r>
          </a:p>
        </p:txBody>
      </p:sp>
      <p:grpSp>
        <p:nvGrpSpPr>
          <p:cNvPr id="10" name="Group 10"/>
          <p:cNvGrpSpPr/>
          <p:nvPr/>
        </p:nvGrpSpPr>
        <p:grpSpPr>
          <a:xfrm>
            <a:off x="1028700" y="454041"/>
            <a:ext cx="10867520" cy="1224523"/>
            <a:chOff x="0" y="0"/>
            <a:chExt cx="2862228" cy="322508"/>
          </a:xfrm>
        </p:grpSpPr>
        <p:sp>
          <p:nvSpPr>
            <p:cNvPr id="11" name="Freeform 11"/>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2" name="TextBox 12"/>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40.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sp>
        <p:nvSpPr>
          <p:cNvPr id="8" name="TextBox 8"/>
          <p:cNvSpPr txBox="1"/>
          <p:nvPr/>
        </p:nvSpPr>
        <p:spPr>
          <a:xfrm>
            <a:off x="1682009" y="2913827"/>
            <a:ext cx="12429530" cy="5989955"/>
          </a:xfrm>
          <a:prstGeom prst="rect">
            <a:avLst/>
          </a:prstGeom>
        </p:spPr>
        <p:txBody>
          <a:bodyPr lIns="0" tIns="0" rIns="0" bIns="0" rtlCol="0" anchor="t">
            <a:spAutoFit/>
          </a:bodyPr>
          <a:lstStyle/>
          <a:p>
            <a:pPr algn="l">
              <a:lnSpc>
                <a:spcPts val="3219"/>
              </a:lnSpc>
              <a:spcBef>
                <a:spcPct val="0"/>
              </a:spcBef>
            </a:pPr>
            <a:r>
              <a:rPr lang="en-US" sz="2299" spc="-45">
                <a:solidFill>
                  <a:srgbClr val="FFFFFF"/>
                </a:solidFill>
                <a:latin typeface="Inter"/>
                <a:ea typeface="Inter"/>
                <a:cs typeface="Inter"/>
                <a:sym typeface="Inter"/>
              </a:rPr>
              <a:t>1. Improve Retention for Lower-Salary Employees</a:t>
            </a:r>
          </a:p>
          <a:p>
            <a:pPr algn="l">
              <a:lnSpc>
                <a:spcPts val="3219"/>
              </a:lnSpc>
              <a:spcBef>
                <a:spcPct val="0"/>
              </a:spcBef>
            </a:pPr>
            <a:r>
              <a:rPr lang="en-US" sz="2299" spc="-45">
                <a:solidFill>
                  <a:srgbClr val="FFFFFF"/>
                </a:solidFill>
                <a:latin typeface="Inter"/>
                <a:ea typeface="Inter"/>
                <a:cs typeface="Inter"/>
                <a:sym typeface="Inter"/>
              </a:rPr>
              <a:t>Review compensation packages for salary ranges under 100K.</a:t>
            </a:r>
          </a:p>
          <a:p>
            <a:pPr algn="l">
              <a:lnSpc>
                <a:spcPts val="3219"/>
              </a:lnSpc>
              <a:spcBef>
                <a:spcPct val="0"/>
              </a:spcBef>
            </a:pPr>
            <a:r>
              <a:rPr lang="en-US" sz="2299" spc="-45">
                <a:solidFill>
                  <a:srgbClr val="FFFFFF"/>
                </a:solidFill>
                <a:latin typeface="Inter"/>
                <a:ea typeface="Inter"/>
                <a:cs typeface="Inter"/>
                <a:sym typeface="Inter"/>
              </a:rPr>
              <a:t>Introduce performance bonuses or career advancement pathways.</a:t>
            </a:r>
          </a:p>
          <a:p>
            <a:pPr algn="l">
              <a:lnSpc>
                <a:spcPts val="3219"/>
              </a:lnSpc>
              <a:spcBef>
                <a:spcPct val="0"/>
              </a:spcBef>
            </a:pPr>
            <a:r>
              <a:rPr lang="en-US" sz="2299" spc="-45">
                <a:solidFill>
                  <a:srgbClr val="FFFFFF"/>
                </a:solidFill>
                <a:latin typeface="Inter"/>
                <a:ea typeface="Inter"/>
                <a:cs typeface="Inter"/>
                <a:sym typeface="Inter"/>
              </a:rPr>
              <a:t>Offer training and certifications to increase internal promotion opportunities.</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2. Targeted Intervention in Sales Department</a:t>
            </a:r>
          </a:p>
          <a:p>
            <a:pPr algn="l">
              <a:lnSpc>
                <a:spcPts val="3219"/>
              </a:lnSpc>
              <a:spcBef>
                <a:spcPct val="0"/>
              </a:spcBef>
            </a:pPr>
            <a:r>
              <a:rPr lang="en-US" sz="2299" spc="-45">
                <a:solidFill>
                  <a:srgbClr val="FFFFFF"/>
                </a:solidFill>
                <a:latin typeface="Inter"/>
                <a:ea typeface="Inter"/>
                <a:cs typeface="Inter"/>
                <a:sym typeface="Inter"/>
              </a:rPr>
              <a:t>Conduct exit interviews to identify root causes (excessive KPIs, pressure, commission issues).</a:t>
            </a:r>
          </a:p>
          <a:p>
            <a:pPr algn="l">
              <a:lnSpc>
                <a:spcPts val="3219"/>
              </a:lnSpc>
              <a:spcBef>
                <a:spcPct val="0"/>
              </a:spcBef>
            </a:pPr>
            <a:r>
              <a:rPr lang="en-US" sz="2299" spc="-45">
                <a:solidFill>
                  <a:srgbClr val="FFFFFF"/>
                </a:solidFill>
                <a:latin typeface="Inter"/>
                <a:ea typeface="Inter"/>
                <a:cs typeface="Inter"/>
                <a:sym typeface="Inter"/>
              </a:rPr>
              <a:t>Introduce employee wellness and sales support tools.</a:t>
            </a:r>
          </a:p>
          <a:p>
            <a:pPr algn="l">
              <a:lnSpc>
                <a:spcPts val="3219"/>
              </a:lnSpc>
              <a:spcBef>
                <a:spcPct val="0"/>
              </a:spcBef>
            </a:pPr>
            <a:r>
              <a:rPr lang="en-US" sz="2299" spc="-45">
                <a:solidFill>
                  <a:srgbClr val="FFFFFF"/>
                </a:solidFill>
                <a:latin typeface="Inter"/>
                <a:ea typeface="Inter"/>
                <a:cs typeface="Inter"/>
                <a:sym typeface="Inter"/>
              </a:rPr>
              <a:t>Rebalance workloads or adjust commission structures.</a:t>
            </a:r>
          </a:p>
          <a:p>
            <a:pPr algn="l">
              <a:lnSpc>
                <a:spcPts val="3219"/>
              </a:lnSpc>
              <a:spcBef>
                <a:spcPct val="0"/>
              </a:spcBef>
            </a:pPr>
            <a:endParaRPr lang="en-US" sz="2299" spc="-45">
              <a:solidFill>
                <a:srgbClr val="FFFFFF"/>
              </a:solidFill>
              <a:latin typeface="Inter"/>
              <a:ea typeface="Inter"/>
              <a:cs typeface="Inter"/>
              <a:sym typeface="Inter"/>
            </a:endParaRPr>
          </a:p>
          <a:p>
            <a:pPr algn="l">
              <a:lnSpc>
                <a:spcPts val="3219"/>
              </a:lnSpc>
              <a:spcBef>
                <a:spcPct val="0"/>
              </a:spcBef>
            </a:pPr>
            <a:r>
              <a:rPr lang="en-US" sz="2299" spc="-45">
                <a:solidFill>
                  <a:srgbClr val="FFFFFF"/>
                </a:solidFill>
                <a:latin typeface="Inter"/>
                <a:ea typeface="Inter"/>
                <a:cs typeface="Inter"/>
                <a:sym typeface="Inter"/>
              </a:rPr>
              <a:t>3. Strengthen Early-Career Employee Engagement</a:t>
            </a:r>
          </a:p>
          <a:p>
            <a:pPr algn="l">
              <a:lnSpc>
                <a:spcPts val="3219"/>
              </a:lnSpc>
              <a:spcBef>
                <a:spcPct val="0"/>
              </a:spcBef>
            </a:pPr>
            <a:r>
              <a:rPr lang="en-US" sz="2299" spc="-45">
                <a:solidFill>
                  <a:srgbClr val="FFFFFF"/>
                </a:solidFill>
                <a:latin typeface="Inter"/>
                <a:ea typeface="Inter"/>
                <a:cs typeface="Inter"/>
                <a:sym typeface="Inter"/>
              </a:rPr>
              <a:t>Create a structured onboarding and mentorship program.</a:t>
            </a:r>
          </a:p>
          <a:p>
            <a:pPr algn="l">
              <a:lnSpc>
                <a:spcPts val="3219"/>
              </a:lnSpc>
              <a:spcBef>
                <a:spcPct val="0"/>
              </a:spcBef>
            </a:pPr>
            <a:r>
              <a:rPr lang="en-US" sz="2299" spc="-45">
                <a:solidFill>
                  <a:srgbClr val="FFFFFF"/>
                </a:solidFill>
                <a:latin typeface="Inter"/>
                <a:ea typeface="Inter"/>
                <a:cs typeface="Inter"/>
                <a:sym typeface="Inter"/>
              </a:rPr>
              <a:t>Provide clearer career progression for new hires.</a:t>
            </a:r>
          </a:p>
          <a:p>
            <a:pPr algn="l">
              <a:lnSpc>
                <a:spcPts val="3219"/>
              </a:lnSpc>
              <a:spcBef>
                <a:spcPct val="0"/>
              </a:spcBef>
            </a:pPr>
            <a:r>
              <a:rPr lang="en-US" sz="2299" spc="-45">
                <a:solidFill>
                  <a:srgbClr val="FFFFFF"/>
                </a:solidFill>
                <a:latin typeface="Inter"/>
                <a:ea typeface="Inter"/>
                <a:cs typeface="Inter"/>
                <a:sym typeface="Inter"/>
              </a:rPr>
              <a:t>Increase recognition and development opportunities during the first 2 years.</a:t>
            </a:r>
          </a:p>
          <a:p>
            <a:pPr algn="l">
              <a:lnSpc>
                <a:spcPts val="3219"/>
              </a:lnSpc>
              <a:spcBef>
                <a:spcPct val="0"/>
              </a:spcBef>
            </a:pPr>
            <a:r>
              <a:rPr lang="en-US" sz="2299" spc="-45">
                <a:solidFill>
                  <a:srgbClr val="FFFFFF"/>
                </a:solidFill>
                <a:latin typeface="Inter"/>
                <a:ea typeface="Inter"/>
                <a:cs typeface="Inter"/>
                <a:sym typeface="Inter"/>
              </a:rPr>
              <a:t>4. Monitor Demographic-Based Attrition</a:t>
            </a:r>
          </a:p>
        </p:txBody>
      </p:sp>
      <p:sp>
        <p:nvSpPr>
          <p:cNvPr id="9" name="TextBox 9"/>
          <p:cNvSpPr txBox="1"/>
          <p:nvPr/>
        </p:nvSpPr>
        <p:spPr>
          <a:xfrm>
            <a:off x="1682009" y="1895556"/>
            <a:ext cx="6158854" cy="424027"/>
          </a:xfrm>
          <a:prstGeom prst="rect">
            <a:avLst/>
          </a:prstGeom>
        </p:spPr>
        <p:txBody>
          <a:bodyPr wrap="square" lIns="0" tIns="0" rIns="0" bIns="0" rtlCol="0" anchor="t">
            <a:spAutoFit/>
          </a:bodyPr>
          <a:lstStyle/>
          <a:p>
            <a:pPr algn="l">
              <a:lnSpc>
                <a:spcPts val="3639"/>
              </a:lnSpc>
              <a:spcBef>
                <a:spcPct val="0"/>
              </a:spcBef>
            </a:pPr>
            <a:r>
              <a:rPr lang="en-US" sz="2599" spc="-51" dirty="0">
                <a:solidFill>
                  <a:srgbClr val="FFFFFF"/>
                </a:solidFill>
                <a:latin typeface="Inter"/>
                <a:ea typeface="Inter"/>
                <a:cs typeface="Inter"/>
                <a:sym typeface="Inter"/>
              </a:rPr>
              <a:t>✅ Actionable Recommendations</a:t>
            </a:r>
          </a:p>
        </p:txBody>
      </p:sp>
      <p:grpSp>
        <p:nvGrpSpPr>
          <p:cNvPr id="10" name="Group 10"/>
          <p:cNvGrpSpPr/>
          <p:nvPr/>
        </p:nvGrpSpPr>
        <p:grpSpPr>
          <a:xfrm>
            <a:off x="1028700" y="454041"/>
            <a:ext cx="10867520" cy="1224523"/>
            <a:chOff x="0" y="0"/>
            <a:chExt cx="2862228" cy="322508"/>
          </a:xfrm>
        </p:grpSpPr>
        <p:sp>
          <p:nvSpPr>
            <p:cNvPr id="11" name="Freeform 11"/>
            <p:cNvSpPr/>
            <p:nvPr/>
          </p:nvSpPr>
          <p:spPr>
            <a:xfrm>
              <a:off x="0" y="0"/>
              <a:ext cx="2862228" cy="322508"/>
            </a:xfrm>
            <a:custGeom>
              <a:avLst/>
              <a:gdLst/>
              <a:ahLst/>
              <a:cxnLst/>
              <a:rect l="l" t="t" r="r" b="b"/>
              <a:pathLst>
                <a:path w="2862228" h="322508">
                  <a:moveTo>
                    <a:pt x="29920" y="0"/>
                  </a:moveTo>
                  <a:lnTo>
                    <a:pt x="2832307" y="0"/>
                  </a:lnTo>
                  <a:cubicBezTo>
                    <a:pt x="2840243" y="0"/>
                    <a:pt x="2847853" y="3152"/>
                    <a:pt x="2853464" y="8763"/>
                  </a:cubicBezTo>
                  <a:cubicBezTo>
                    <a:pt x="2859075" y="14375"/>
                    <a:pt x="2862228" y="21985"/>
                    <a:pt x="2862228" y="29920"/>
                  </a:cubicBezTo>
                  <a:lnTo>
                    <a:pt x="2862228" y="292588"/>
                  </a:lnTo>
                  <a:cubicBezTo>
                    <a:pt x="2862228" y="300523"/>
                    <a:pt x="2859075" y="308134"/>
                    <a:pt x="2853464" y="313745"/>
                  </a:cubicBezTo>
                  <a:cubicBezTo>
                    <a:pt x="2847853" y="319356"/>
                    <a:pt x="2840243" y="322508"/>
                    <a:pt x="2832307" y="322508"/>
                  </a:cubicBezTo>
                  <a:lnTo>
                    <a:pt x="29920" y="322508"/>
                  </a:lnTo>
                  <a:cubicBezTo>
                    <a:pt x="21985" y="322508"/>
                    <a:pt x="14375" y="319356"/>
                    <a:pt x="8763" y="313745"/>
                  </a:cubicBezTo>
                  <a:cubicBezTo>
                    <a:pt x="3152" y="308134"/>
                    <a:pt x="0" y="300523"/>
                    <a:pt x="0" y="292588"/>
                  </a:cubicBezTo>
                  <a:lnTo>
                    <a:pt x="0" y="29920"/>
                  </a:lnTo>
                  <a:cubicBezTo>
                    <a:pt x="0" y="21985"/>
                    <a:pt x="3152" y="14375"/>
                    <a:pt x="8763" y="8763"/>
                  </a:cubicBezTo>
                  <a:cubicBezTo>
                    <a:pt x="14375" y="3152"/>
                    <a:pt x="21985" y="0"/>
                    <a:pt x="29920"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2" name="TextBox 12"/>
            <p:cNvSpPr txBox="1"/>
            <p:nvPr/>
          </p:nvSpPr>
          <p:spPr>
            <a:xfrm>
              <a:off x="0" y="-57150"/>
              <a:ext cx="2862228"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Visualization</a:t>
              </a:r>
              <a:r>
                <a:rPr lang="en-US" sz="2999" u="none" strike="noStrike" spc="-59">
                  <a:solidFill>
                    <a:srgbClr val="FFFFFF">
                      <a:alpha val="89804"/>
                    </a:srgbClr>
                  </a:solidFill>
                  <a:latin typeface="Inter"/>
                  <a:ea typeface="Inter"/>
                  <a:cs typeface="Inter"/>
                  <a:sym typeface="Inter"/>
                </a:rPr>
                <a:t> Phase (Description, KPIs and Recommendations)</a:t>
              </a:r>
            </a:p>
          </p:txBody>
        </p:sp>
      </p:grpSp>
    </p:spTree>
  </p:cSld>
  <p:clrMapOvr>
    <a:masterClrMapping/>
  </p:clrMapOvr>
  <p:transition>
    <p:wipe dir="u"/>
  </p:transition>
</p:sld>
</file>

<file path=ppt/slides/slide4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8" name="Group 8"/>
          <p:cNvGrpSpPr/>
          <p:nvPr/>
        </p:nvGrpSpPr>
        <p:grpSpPr>
          <a:xfrm>
            <a:off x="1061189" y="416438"/>
            <a:ext cx="5265943" cy="1224523"/>
            <a:chOff x="0" y="0"/>
            <a:chExt cx="1386915" cy="322508"/>
          </a:xfrm>
        </p:grpSpPr>
        <p:sp>
          <p:nvSpPr>
            <p:cNvPr id="9" name="Freeform 9"/>
            <p:cNvSpPr/>
            <p:nvPr/>
          </p:nvSpPr>
          <p:spPr>
            <a:xfrm>
              <a:off x="0" y="0"/>
              <a:ext cx="1386915" cy="322508"/>
            </a:xfrm>
            <a:custGeom>
              <a:avLst/>
              <a:gdLst/>
              <a:ahLst/>
              <a:cxnLst/>
              <a:rect l="l" t="t" r="r" b="b"/>
              <a:pathLst>
                <a:path w="1386915" h="322508">
                  <a:moveTo>
                    <a:pt x="61748" y="0"/>
                  </a:moveTo>
                  <a:lnTo>
                    <a:pt x="1325167" y="0"/>
                  </a:lnTo>
                  <a:cubicBezTo>
                    <a:pt x="1341544" y="0"/>
                    <a:pt x="1357250" y="6506"/>
                    <a:pt x="1368830" y="18086"/>
                  </a:cubicBezTo>
                  <a:cubicBezTo>
                    <a:pt x="1380410" y="29665"/>
                    <a:pt x="1386915" y="45371"/>
                    <a:pt x="1386915" y="61748"/>
                  </a:cubicBezTo>
                  <a:lnTo>
                    <a:pt x="1386915" y="260760"/>
                  </a:lnTo>
                  <a:cubicBezTo>
                    <a:pt x="1386915" y="277137"/>
                    <a:pt x="1380410" y="292843"/>
                    <a:pt x="1368830" y="304423"/>
                  </a:cubicBezTo>
                  <a:cubicBezTo>
                    <a:pt x="1357250" y="316003"/>
                    <a:pt x="1341544" y="322508"/>
                    <a:pt x="1325167" y="322508"/>
                  </a:cubicBezTo>
                  <a:lnTo>
                    <a:pt x="61748" y="322508"/>
                  </a:lnTo>
                  <a:cubicBezTo>
                    <a:pt x="27645" y="322508"/>
                    <a:pt x="0" y="294863"/>
                    <a:pt x="0" y="260760"/>
                  </a:cubicBezTo>
                  <a:lnTo>
                    <a:pt x="0" y="61748"/>
                  </a:lnTo>
                  <a:cubicBezTo>
                    <a:pt x="0" y="45371"/>
                    <a:pt x="6506" y="29665"/>
                    <a:pt x="18086" y="18086"/>
                  </a:cubicBezTo>
                  <a:cubicBezTo>
                    <a:pt x="29665" y="6506"/>
                    <a:pt x="45371" y="0"/>
                    <a:pt x="61748"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0" name="TextBox 10"/>
            <p:cNvSpPr txBox="1"/>
            <p:nvPr/>
          </p:nvSpPr>
          <p:spPr>
            <a:xfrm>
              <a:off x="0" y="-57150"/>
              <a:ext cx="1386915"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Insight</a:t>
              </a:r>
              <a:r>
                <a:rPr lang="en-US" sz="2999" u="none" strike="noStrike" spc="-59">
                  <a:solidFill>
                    <a:srgbClr val="FFFFFF">
                      <a:alpha val="89804"/>
                    </a:srgbClr>
                  </a:solidFill>
                  <a:latin typeface="Inter"/>
                  <a:ea typeface="Inter"/>
                  <a:cs typeface="Inter"/>
                  <a:sym typeface="Inter"/>
                </a:rPr>
                <a:t>s &amp; Recommendations</a:t>
              </a:r>
            </a:p>
          </p:txBody>
        </p:sp>
      </p:grpSp>
      <p:sp>
        <p:nvSpPr>
          <p:cNvPr id="11" name="TextBox 11"/>
          <p:cNvSpPr txBox="1"/>
          <p:nvPr/>
        </p:nvSpPr>
        <p:spPr>
          <a:xfrm>
            <a:off x="1462165" y="1923079"/>
            <a:ext cx="2905839" cy="495301"/>
          </a:xfrm>
          <a:prstGeom prst="rect">
            <a:avLst/>
          </a:prstGeom>
        </p:spPr>
        <p:txBody>
          <a:bodyPr lIns="0" tIns="0" rIns="0" bIns="0" rtlCol="0" anchor="t">
            <a:spAutoFit/>
          </a:bodyPr>
          <a:lstStyle/>
          <a:p>
            <a:pPr algn="ctr">
              <a:lnSpc>
                <a:spcPts val="4199"/>
              </a:lnSpc>
              <a:spcBef>
                <a:spcPct val="0"/>
              </a:spcBef>
            </a:pPr>
            <a:r>
              <a:rPr lang="en-US" sz="2999">
                <a:solidFill>
                  <a:srgbClr val="FFFFFF"/>
                </a:solidFill>
                <a:latin typeface="Canva Sans"/>
                <a:ea typeface="Canva Sans"/>
                <a:cs typeface="Canva Sans"/>
                <a:sym typeface="Canva Sans"/>
              </a:rPr>
              <a:t>📌 Key Insights </a:t>
            </a:r>
          </a:p>
        </p:txBody>
      </p:sp>
      <p:sp>
        <p:nvSpPr>
          <p:cNvPr id="12" name="TextBox 12"/>
          <p:cNvSpPr txBox="1"/>
          <p:nvPr/>
        </p:nvSpPr>
        <p:spPr>
          <a:xfrm>
            <a:off x="1728865" y="2468245"/>
            <a:ext cx="14514552" cy="6790055"/>
          </a:xfrm>
          <a:prstGeom prst="rect">
            <a:avLst/>
          </a:prstGeom>
        </p:spPr>
        <p:txBody>
          <a:bodyPr lIns="0" tIns="0" rIns="0" bIns="0" rtlCol="0" anchor="t">
            <a:spAutoFit/>
          </a:bodyPr>
          <a:lstStyle/>
          <a:p>
            <a:pPr algn="l">
              <a:lnSpc>
                <a:spcPts val="3219"/>
              </a:lnSpc>
              <a:spcBef>
                <a:spcPct val="0"/>
              </a:spcBef>
            </a:pPr>
            <a:r>
              <a:rPr lang="en-US" sz="2299">
                <a:solidFill>
                  <a:srgbClr val="FFFFFF"/>
                </a:solidFill>
                <a:latin typeface="Canva Sans"/>
                <a:ea typeface="Canva Sans"/>
                <a:cs typeface="Canva Sans"/>
                <a:sym typeface="Canva Sans"/>
              </a:rPr>
              <a:t>1. Overall Workforce Status</a:t>
            </a:r>
          </a:p>
          <a:p>
            <a:pPr algn="l">
              <a:lnSpc>
                <a:spcPts val="3219"/>
              </a:lnSpc>
              <a:spcBef>
                <a:spcPct val="0"/>
              </a:spcBef>
            </a:pPr>
            <a:r>
              <a:rPr lang="en-US" sz="2299">
                <a:solidFill>
                  <a:srgbClr val="FFFFFF"/>
                </a:solidFill>
                <a:latin typeface="Canva Sans"/>
                <a:ea typeface="Canva Sans"/>
                <a:cs typeface="Canva Sans"/>
                <a:sym typeface="Canva Sans"/>
              </a:rPr>
              <a:t>Total employees: 1470</a:t>
            </a:r>
          </a:p>
          <a:p>
            <a:pPr algn="l">
              <a:lnSpc>
                <a:spcPts val="3219"/>
              </a:lnSpc>
              <a:spcBef>
                <a:spcPct val="0"/>
              </a:spcBef>
            </a:pPr>
            <a:r>
              <a:rPr lang="en-US" sz="2299">
                <a:solidFill>
                  <a:srgbClr val="FFFFFF"/>
                </a:solidFill>
                <a:latin typeface="Canva Sans"/>
                <a:ea typeface="Canva Sans"/>
                <a:cs typeface="Canva Sans"/>
                <a:sym typeface="Canva Sans"/>
              </a:rPr>
              <a:t>Active employees: 1233 (84%)</a:t>
            </a:r>
          </a:p>
          <a:p>
            <a:pPr algn="l">
              <a:lnSpc>
                <a:spcPts val="3219"/>
              </a:lnSpc>
              <a:spcBef>
                <a:spcPct val="0"/>
              </a:spcBef>
            </a:pPr>
            <a:r>
              <a:rPr lang="en-US" sz="2299">
                <a:solidFill>
                  <a:srgbClr val="FFFFFF"/>
                </a:solidFill>
                <a:latin typeface="Canva Sans"/>
                <a:ea typeface="Canva Sans"/>
                <a:cs typeface="Canva Sans"/>
                <a:sym typeface="Canva Sans"/>
              </a:rPr>
              <a:t>Attrition: 237 (16%) — moderate but needs attention.</a:t>
            </a:r>
          </a:p>
          <a:p>
            <a:pPr algn="l">
              <a:lnSpc>
                <a:spcPts val="3219"/>
              </a:lnSpc>
              <a:spcBef>
                <a:spcPct val="0"/>
              </a:spcBef>
            </a:pPr>
            <a:r>
              <a:rPr lang="en-US" sz="2299">
                <a:solidFill>
                  <a:srgbClr val="FFFFFF"/>
                </a:solidFill>
                <a:latin typeface="Canva Sans"/>
                <a:ea typeface="Canva Sans"/>
                <a:cs typeface="Canva Sans"/>
                <a:sym typeface="Canva Sans"/>
              </a:rPr>
              <a:t>2. Attrition Drivers</a:t>
            </a:r>
          </a:p>
          <a:p>
            <a:pPr algn="l">
              <a:lnSpc>
                <a:spcPts val="3219"/>
              </a:lnSpc>
              <a:spcBef>
                <a:spcPct val="0"/>
              </a:spcBef>
            </a:pPr>
            <a:r>
              <a:rPr lang="en-US" sz="2299">
                <a:solidFill>
                  <a:srgbClr val="FFFFFF"/>
                </a:solidFill>
                <a:latin typeface="Canva Sans"/>
                <a:ea typeface="Canva Sans"/>
                <a:cs typeface="Canva Sans"/>
                <a:sym typeface="Canva Sans"/>
              </a:rPr>
              <a:t>Lowest salary ranges (0–100K) show the highest attrition.</a:t>
            </a:r>
          </a:p>
          <a:p>
            <a:pPr algn="l">
              <a:lnSpc>
                <a:spcPts val="3219"/>
              </a:lnSpc>
              <a:spcBef>
                <a:spcPct val="0"/>
              </a:spcBef>
            </a:pPr>
            <a:r>
              <a:rPr lang="en-US" sz="2299">
                <a:solidFill>
                  <a:srgbClr val="FFFFFF"/>
                </a:solidFill>
                <a:latin typeface="Canva Sans"/>
                <a:ea typeface="Canva Sans"/>
                <a:cs typeface="Canva Sans"/>
                <a:sym typeface="Canva Sans"/>
              </a:rPr>
              <a:t>Sales has the highest departmental attrition (0.21).</a:t>
            </a:r>
          </a:p>
          <a:p>
            <a:pPr algn="l">
              <a:lnSpc>
                <a:spcPts val="3219"/>
              </a:lnSpc>
              <a:spcBef>
                <a:spcPct val="0"/>
              </a:spcBef>
            </a:pPr>
            <a:r>
              <a:rPr lang="en-US" sz="2299">
                <a:solidFill>
                  <a:srgbClr val="FFFFFF"/>
                </a:solidFill>
                <a:latin typeface="Canva Sans"/>
                <a:ea typeface="Canva Sans"/>
                <a:cs typeface="Canva Sans"/>
                <a:sym typeface="Canva Sans"/>
              </a:rPr>
              <a:t>Younger employees and employees with low tenure are more likely to leave.</a:t>
            </a:r>
          </a:p>
          <a:p>
            <a:pPr algn="l">
              <a:lnSpc>
                <a:spcPts val="3219"/>
              </a:lnSpc>
              <a:spcBef>
                <a:spcPct val="0"/>
              </a:spcBef>
            </a:pPr>
            <a:r>
              <a:rPr lang="en-US" sz="2299">
                <a:solidFill>
                  <a:srgbClr val="FFFFFF"/>
                </a:solidFill>
                <a:latin typeface="Canva Sans"/>
                <a:ea typeface="Canva Sans"/>
                <a:cs typeface="Canva Sans"/>
                <a:sym typeface="Canva Sans"/>
              </a:rPr>
              <a:t>3. Demographic Distribution</a:t>
            </a:r>
          </a:p>
          <a:p>
            <a:pPr algn="l">
              <a:lnSpc>
                <a:spcPts val="3219"/>
              </a:lnSpc>
              <a:spcBef>
                <a:spcPct val="0"/>
              </a:spcBef>
            </a:pPr>
            <a:r>
              <a:rPr lang="en-US" sz="2299">
                <a:solidFill>
                  <a:srgbClr val="FFFFFF"/>
                </a:solidFill>
                <a:latin typeface="Canva Sans"/>
                <a:ea typeface="Canva Sans"/>
                <a:cs typeface="Canva Sans"/>
                <a:sym typeface="Canva Sans"/>
              </a:rPr>
              <a:t>Workforce is diverse; no extreme disparities in attrition across ethnicities.</a:t>
            </a:r>
          </a:p>
          <a:p>
            <a:pPr algn="l">
              <a:lnSpc>
                <a:spcPts val="3219"/>
              </a:lnSpc>
              <a:spcBef>
                <a:spcPct val="0"/>
              </a:spcBef>
            </a:pPr>
            <a:r>
              <a:rPr lang="en-US" sz="2299">
                <a:solidFill>
                  <a:srgbClr val="FFFFFF"/>
                </a:solidFill>
                <a:latin typeface="Canva Sans"/>
                <a:ea typeface="Canva Sans"/>
                <a:cs typeface="Canva Sans"/>
                <a:sym typeface="Canva Sans"/>
              </a:rPr>
              <a:t>Majority groups hold most of the workforce and attrition.</a:t>
            </a:r>
          </a:p>
          <a:p>
            <a:pPr algn="l">
              <a:lnSpc>
                <a:spcPts val="3219"/>
              </a:lnSpc>
              <a:spcBef>
                <a:spcPct val="0"/>
              </a:spcBef>
            </a:pPr>
            <a:r>
              <a:rPr lang="en-US" sz="2299">
                <a:solidFill>
                  <a:srgbClr val="FFFFFF"/>
                </a:solidFill>
                <a:latin typeface="Canva Sans"/>
                <a:ea typeface="Canva Sans"/>
                <a:cs typeface="Canva Sans"/>
                <a:sym typeface="Canva Sans"/>
              </a:rPr>
              <a:t>4. Tenure &amp; Age Trends</a:t>
            </a:r>
          </a:p>
          <a:p>
            <a:pPr algn="l">
              <a:lnSpc>
                <a:spcPts val="3219"/>
              </a:lnSpc>
              <a:spcBef>
                <a:spcPct val="0"/>
              </a:spcBef>
            </a:pPr>
            <a:r>
              <a:rPr lang="en-US" sz="2299">
                <a:solidFill>
                  <a:srgbClr val="FFFFFF"/>
                </a:solidFill>
                <a:latin typeface="Canva Sans"/>
                <a:ea typeface="Canva Sans"/>
                <a:cs typeface="Canva Sans"/>
                <a:sym typeface="Canva Sans"/>
              </a:rPr>
              <a:t>Average tenure is 4.56 years.</a:t>
            </a:r>
          </a:p>
          <a:p>
            <a:pPr algn="l">
              <a:lnSpc>
                <a:spcPts val="3219"/>
              </a:lnSpc>
              <a:spcBef>
                <a:spcPct val="0"/>
              </a:spcBef>
            </a:pPr>
            <a:r>
              <a:rPr lang="en-US" sz="2299">
                <a:solidFill>
                  <a:srgbClr val="FFFFFF"/>
                </a:solidFill>
                <a:latin typeface="Canva Sans"/>
                <a:ea typeface="Canva Sans"/>
                <a:cs typeface="Canva Sans"/>
                <a:sym typeface="Canva Sans"/>
              </a:rPr>
              <a:t>Tenure increases steadily until age ~40 (7–9 years), then drops after 50.</a:t>
            </a:r>
          </a:p>
          <a:p>
            <a:pPr algn="l">
              <a:lnSpc>
                <a:spcPts val="3219"/>
              </a:lnSpc>
              <a:spcBef>
                <a:spcPct val="0"/>
              </a:spcBef>
            </a:pPr>
            <a:r>
              <a:rPr lang="en-US" sz="2299">
                <a:solidFill>
                  <a:srgbClr val="FFFFFF"/>
                </a:solidFill>
                <a:latin typeface="Canva Sans"/>
                <a:ea typeface="Canva Sans"/>
                <a:cs typeface="Canva Sans"/>
                <a:sym typeface="Canva Sans"/>
              </a:rPr>
              <a:t>Indicates early-career turnover and late-career exits.</a:t>
            </a:r>
          </a:p>
          <a:p>
            <a:pPr algn="l">
              <a:lnSpc>
                <a:spcPts val="3219"/>
              </a:lnSpc>
              <a:spcBef>
                <a:spcPct val="0"/>
              </a:spcBef>
            </a:pPr>
            <a:r>
              <a:rPr lang="en-US" sz="2299">
                <a:solidFill>
                  <a:srgbClr val="FFFFFF"/>
                </a:solidFill>
                <a:latin typeface="Canva Sans"/>
                <a:ea typeface="Canva Sans"/>
                <a:cs typeface="Canva Sans"/>
                <a:sym typeface="Canva Sans"/>
              </a:rPr>
              <a:t>5. Attrition Profile</a:t>
            </a:r>
          </a:p>
          <a:p>
            <a:pPr algn="l">
              <a:lnSpc>
                <a:spcPts val="3219"/>
              </a:lnSpc>
              <a:spcBef>
                <a:spcPct val="0"/>
              </a:spcBef>
            </a:pPr>
            <a:r>
              <a:rPr lang="en-US" sz="2299">
                <a:solidFill>
                  <a:srgbClr val="FFFFFF"/>
                </a:solidFill>
                <a:latin typeface="Canva Sans"/>
                <a:ea typeface="Canva Sans"/>
                <a:cs typeface="Canva Sans"/>
                <a:sym typeface="Canva Sans"/>
              </a:rPr>
              <a:t>Majority of employees who left are concentrated in lower income bands, sales, and younger age groups.</a:t>
            </a:r>
          </a:p>
        </p:txBody>
      </p:sp>
    </p:spTree>
  </p:cSld>
  <p:clrMapOvr>
    <a:masterClrMapping/>
  </p:clrMapOvr>
  <p:transition>
    <p:wipe dir="u"/>
  </p:transition>
</p:sld>
</file>

<file path=ppt/slides/slide4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61189" y="1814094"/>
            <a:ext cx="16198111" cy="7676458"/>
            <a:chOff x="0" y="0"/>
            <a:chExt cx="4266169" cy="2021783"/>
          </a:xfrm>
        </p:grpSpPr>
        <p:sp>
          <p:nvSpPr>
            <p:cNvPr id="3" name="Freeform 3"/>
            <p:cNvSpPr/>
            <p:nvPr/>
          </p:nvSpPr>
          <p:spPr>
            <a:xfrm>
              <a:off x="0" y="0"/>
              <a:ext cx="4266169" cy="2021783"/>
            </a:xfrm>
            <a:custGeom>
              <a:avLst/>
              <a:gdLst/>
              <a:ahLst/>
              <a:cxnLst/>
              <a:rect l="l" t="t" r="r" b="b"/>
              <a:pathLst>
                <a:path w="4266169" h="2021783">
                  <a:moveTo>
                    <a:pt x="20074" y="0"/>
                  </a:moveTo>
                  <a:lnTo>
                    <a:pt x="4246095" y="0"/>
                  </a:lnTo>
                  <a:cubicBezTo>
                    <a:pt x="4257182" y="0"/>
                    <a:pt x="4266169" y="8987"/>
                    <a:pt x="4266169" y="20074"/>
                  </a:cubicBezTo>
                  <a:lnTo>
                    <a:pt x="4266169" y="2001709"/>
                  </a:lnTo>
                  <a:cubicBezTo>
                    <a:pt x="4266169" y="2007033"/>
                    <a:pt x="4264054" y="2012139"/>
                    <a:pt x="4260290" y="2015904"/>
                  </a:cubicBezTo>
                  <a:cubicBezTo>
                    <a:pt x="4256525" y="2019668"/>
                    <a:pt x="4251419" y="2021783"/>
                    <a:pt x="4246095" y="2021783"/>
                  </a:cubicBezTo>
                  <a:lnTo>
                    <a:pt x="20074" y="2021783"/>
                  </a:lnTo>
                  <a:cubicBezTo>
                    <a:pt x="14750" y="2021783"/>
                    <a:pt x="9644" y="2019668"/>
                    <a:pt x="5880" y="2015904"/>
                  </a:cubicBezTo>
                  <a:cubicBezTo>
                    <a:pt x="2115" y="2012139"/>
                    <a:pt x="0" y="2007033"/>
                    <a:pt x="0" y="2001709"/>
                  </a:cubicBezTo>
                  <a:lnTo>
                    <a:pt x="0" y="20074"/>
                  </a:lnTo>
                  <a:cubicBezTo>
                    <a:pt x="0" y="14750"/>
                    <a:pt x="2115" y="9644"/>
                    <a:pt x="5880" y="5880"/>
                  </a:cubicBezTo>
                  <a:cubicBezTo>
                    <a:pt x="9644" y="2115"/>
                    <a:pt x="14750" y="0"/>
                    <a:pt x="20074"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4" name="TextBox 4"/>
            <p:cNvSpPr txBox="1"/>
            <p:nvPr/>
          </p:nvSpPr>
          <p:spPr>
            <a:xfrm>
              <a:off x="0" y="-47625"/>
              <a:ext cx="4266169" cy="2069408"/>
            </a:xfrm>
            <a:prstGeom prst="rect">
              <a:avLst/>
            </a:prstGeom>
          </p:spPr>
          <p:txBody>
            <a:bodyPr lIns="50800" tIns="50800" rIns="50800" bIns="50800" rtlCol="0" anchor="ctr"/>
            <a:lstStyle/>
            <a:p>
              <a:pPr algn="l">
                <a:lnSpc>
                  <a:spcPts val="3219"/>
                </a:lnSpc>
                <a:spcBef>
                  <a:spcPct val="0"/>
                </a:spcBef>
              </a:pPr>
              <a:endParaRPr/>
            </a:p>
          </p:txBody>
        </p:sp>
      </p:grpSp>
      <p:sp>
        <p:nvSpPr>
          <p:cNvPr id="5" name="Freeform 5"/>
          <p:cNvSpPr/>
          <p:nvPr/>
        </p:nvSpPr>
        <p:spPr>
          <a:xfrm>
            <a:off x="14630400" y="8529046"/>
            <a:ext cx="7315200" cy="4105656"/>
          </a:xfrm>
          <a:custGeom>
            <a:avLst/>
            <a:gdLst/>
            <a:ahLst/>
            <a:cxnLst/>
            <a:rect l="l" t="t" r="r" b="b"/>
            <a:pathLst>
              <a:path w="7315200" h="4105656">
                <a:moveTo>
                  <a:pt x="0" y="0"/>
                </a:moveTo>
                <a:lnTo>
                  <a:pt x="7315200" y="0"/>
                </a:lnTo>
                <a:lnTo>
                  <a:pt x="7315200" y="4105656"/>
                </a:lnTo>
                <a:lnTo>
                  <a:pt x="0" y="41056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rot="3813866">
            <a:off x="-1642173" y="6921861"/>
            <a:ext cx="5861503" cy="3963841"/>
          </a:xfrm>
          <a:custGeom>
            <a:avLst/>
            <a:gdLst/>
            <a:ahLst/>
            <a:cxnLst/>
            <a:rect l="l" t="t" r="r" b="b"/>
            <a:pathLst>
              <a:path w="5861503" h="3963841">
                <a:moveTo>
                  <a:pt x="0" y="0"/>
                </a:moveTo>
                <a:lnTo>
                  <a:pt x="5861502" y="0"/>
                </a:lnTo>
                <a:lnTo>
                  <a:pt x="5861502" y="3963842"/>
                </a:lnTo>
                <a:lnTo>
                  <a:pt x="0" y="3963842"/>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ar-EG"/>
          </a:p>
        </p:txBody>
      </p:sp>
      <p:sp>
        <p:nvSpPr>
          <p:cNvPr id="7" name="Freeform 7"/>
          <p:cNvSpPr/>
          <p:nvPr/>
        </p:nvSpPr>
        <p:spPr>
          <a:xfrm rot="-5400000">
            <a:off x="9944828" y="123553"/>
            <a:ext cx="10781774" cy="10134868"/>
          </a:xfrm>
          <a:custGeom>
            <a:avLst/>
            <a:gdLst/>
            <a:ahLst/>
            <a:cxnLst/>
            <a:rect l="l" t="t" r="r" b="b"/>
            <a:pathLst>
              <a:path w="10781774" h="10134868">
                <a:moveTo>
                  <a:pt x="0" y="0"/>
                </a:moveTo>
                <a:lnTo>
                  <a:pt x="10781774" y="0"/>
                </a:lnTo>
                <a:lnTo>
                  <a:pt x="10781774" y="10134868"/>
                </a:lnTo>
                <a:lnTo>
                  <a:pt x="0" y="10134868"/>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ar-EG"/>
          </a:p>
        </p:txBody>
      </p:sp>
      <p:grpSp>
        <p:nvGrpSpPr>
          <p:cNvPr id="8" name="Group 8"/>
          <p:cNvGrpSpPr/>
          <p:nvPr/>
        </p:nvGrpSpPr>
        <p:grpSpPr>
          <a:xfrm>
            <a:off x="1061189" y="416438"/>
            <a:ext cx="5265943" cy="1224523"/>
            <a:chOff x="0" y="0"/>
            <a:chExt cx="1386915" cy="322508"/>
          </a:xfrm>
        </p:grpSpPr>
        <p:sp>
          <p:nvSpPr>
            <p:cNvPr id="9" name="Freeform 9"/>
            <p:cNvSpPr/>
            <p:nvPr/>
          </p:nvSpPr>
          <p:spPr>
            <a:xfrm>
              <a:off x="0" y="0"/>
              <a:ext cx="1386915" cy="322508"/>
            </a:xfrm>
            <a:custGeom>
              <a:avLst/>
              <a:gdLst/>
              <a:ahLst/>
              <a:cxnLst/>
              <a:rect l="l" t="t" r="r" b="b"/>
              <a:pathLst>
                <a:path w="1386915" h="322508">
                  <a:moveTo>
                    <a:pt x="61748" y="0"/>
                  </a:moveTo>
                  <a:lnTo>
                    <a:pt x="1325167" y="0"/>
                  </a:lnTo>
                  <a:cubicBezTo>
                    <a:pt x="1341544" y="0"/>
                    <a:pt x="1357250" y="6506"/>
                    <a:pt x="1368830" y="18086"/>
                  </a:cubicBezTo>
                  <a:cubicBezTo>
                    <a:pt x="1380410" y="29665"/>
                    <a:pt x="1386915" y="45371"/>
                    <a:pt x="1386915" y="61748"/>
                  </a:cubicBezTo>
                  <a:lnTo>
                    <a:pt x="1386915" y="260760"/>
                  </a:lnTo>
                  <a:cubicBezTo>
                    <a:pt x="1386915" y="277137"/>
                    <a:pt x="1380410" y="292843"/>
                    <a:pt x="1368830" y="304423"/>
                  </a:cubicBezTo>
                  <a:cubicBezTo>
                    <a:pt x="1357250" y="316003"/>
                    <a:pt x="1341544" y="322508"/>
                    <a:pt x="1325167" y="322508"/>
                  </a:cubicBezTo>
                  <a:lnTo>
                    <a:pt x="61748" y="322508"/>
                  </a:lnTo>
                  <a:cubicBezTo>
                    <a:pt x="27645" y="322508"/>
                    <a:pt x="0" y="294863"/>
                    <a:pt x="0" y="260760"/>
                  </a:cubicBezTo>
                  <a:lnTo>
                    <a:pt x="0" y="61748"/>
                  </a:lnTo>
                  <a:cubicBezTo>
                    <a:pt x="0" y="45371"/>
                    <a:pt x="6506" y="29665"/>
                    <a:pt x="18086" y="18086"/>
                  </a:cubicBezTo>
                  <a:cubicBezTo>
                    <a:pt x="29665" y="6506"/>
                    <a:pt x="45371" y="0"/>
                    <a:pt x="61748" y="0"/>
                  </a:cubicBezTo>
                  <a:close/>
                </a:path>
              </a:pathLst>
            </a:custGeom>
            <a:solidFill>
              <a:srgbClr val="20274C">
                <a:alpha val="89804"/>
              </a:srgbClr>
            </a:solidFill>
            <a:ln w="28575" cap="rnd">
              <a:solidFill>
                <a:srgbClr val="3D4263">
                  <a:alpha val="89804"/>
                </a:srgbClr>
              </a:solidFill>
              <a:prstDash val="solid"/>
              <a:round/>
            </a:ln>
          </p:spPr>
          <p:txBody>
            <a:bodyPr/>
            <a:lstStyle/>
            <a:p>
              <a:endParaRPr lang="ar-EG"/>
            </a:p>
          </p:txBody>
        </p:sp>
        <p:sp>
          <p:nvSpPr>
            <p:cNvPr id="10" name="TextBox 10"/>
            <p:cNvSpPr txBox="1"/>
            <p:nvPr/>
          </p:nvSpPr>
          <p:spPr>
            <a:xfrm>
              <a:off x="0" y="-57150"/>
              <a:ext cx="1386915" cy="379658"/>
            </a:xfrm>
            <a:prstGeom prst="rect">
              <a:avLst/>
            </a:prstGeom>
          </p:spPr>
          <p:txBody>
            <a:bodyPr lIns="50800" tIns="50800" rIns="50800" bIns="50800" rtlCol="0" anchor="ctr"/>
            <a:lstStyle/>
            <a:p>
              <a:pPr marL="0" lvl="0" indent="0" algn="ctr">
                <a:lnSpc>
                  <a:spcPts val="4199"/>
                </a:lnSpc>
                <a:spcBef>
                  <a:spcPct val="0"/>
                </a:spcBef>
              </a:pPr>
              <a:r>
                <a:rPr lang="en-US" sz="2999" spc="-59">
                  <a:solidFill>
                    <a:srgbClr val="FFFFFF">
                      <a:alpha val="89804"/>
                    </a:srgbClr>
                  </a:solidFill>
                  <a:latin typeface="Inter"/>
                  <a:ea typeface="Inter"/>
                  <a:cs typeface="Inter"/>
                  <a:sym typeface="Inter"/>
                </a:rPr>
                <a:t>Insight</a:t>
              </a:r>
              <a:r>
                <a:rPr lang="en-US" sz="2999" u="none" strike="noStrike" spc="-59">
                  <a:solidFill>
                    <a:srgbClr val="FFFFFF">
                      <a:alpha val="89804"/>
                    </a:srgbClr>
                  </a:solidFill>
                  <a:latin typeface="Inter"/>
                  <a:ea typeface="Inter"/>
                  <a:cs typeface="Inter"/>
                  <a:sym typeface="Inter"/>
                </a:rPr>
                <a:t>s &amp; Recommendations</a:t>
              </a:r>
            </a:p>
          </p:txBody>
        </p:sp>
      </p:grpSp>
      <p:sp>
        <p:nvSpPr>
          <p:cNvPr id="11" name="TextBox 11"/>
          <p:cNvSpPr txBox="1"/>
          <p:nvPr/>
        </p:nvSpPr>
        <p:spPr>
          <a:xfrm>
            <a:off x="1513896" y="2019300"/>
            <a:ext cx="5191704" cy="500650"/>
          </a:xfrm>
          <a:prstGeom prst="rect">
            <a:avLst/>
          </a:prstGeom>
        </p:spPr>
        <p:txBody>
          <a:bodyPr wrap="square" lIns="0" tIns="0" rIns="0" bIns="0" rtlCol="0" anchor="t">
            <a:spAutoFit/>
          </a:bodyPr>
          <a:lstStyle/>
          <a:p>
            <a:pPr algn="l">
              <a:lnSpc>
                <a:spcPts val="4199"/>
              </a:lnSpc>
              <a:spcBef>
                <a:spcPct val="0"/>
              </a:spcBef>
            </a:pPr>
            <a:r>
              <a:rPr lang="en-US" sz="2999" dirty="0">
                <a:solidFill>
                  <a:srgbClr val="FFFFFF"/>
                </a:solidFill>
                <a:latin typeface="Canva Sans"/>
                <a:ea typeface="Canva Sans"/>
                <a:cs typeface="Canva Sans"/>
                <a:sym typeface="Canva Sans"/>
              </a:rPr>
              <a:t>✅ Recommendations</a:t>
            </a:r>
          </a:p>
        </p:txBody>
      </p:sp>
      <p:sp>
        <p:nvSpPr>
          <p:cNvPr id="12" name="TextBox 12"/>
          <p:cNvSpPr txBox="1"/>
          <p:nvPr/>
        </p:nvSpPr>
        <p:spPr>
          <a:xfrm>
            <a:off x="1732971" y="2913827"/>
            <a:ext cx="10951250" cy="5989955"/>
          </a:xfrm>
          <a:prstGeom prst="rect">
            <a:avLst/>
          </a:prstGeom>
        </p:spPr>
        <p:txBody>
          <a:bodyPr lIns="0" tIns="0" rIns="0" bIns="0" rtlCol="0" anchor="t">
            <a:spAutoFit/>
          </a:bodyPr>
          <a:lstStyle/>
          <a:p>
            <a:pPr algn="l">
              <a:lnSpc>
                <a:spcPts val="3219"/>
              </a:lnSpc>
              <a:spcBef>
                <a:spcPct val="0"/>
              </a:spcBef>
            </a:pPr>
            <a:r>
              <a:rPr lang="en-US" sz="2299">
                <a:solidFill>
                  <a:srgbClr val="FFFFFF"/>
                </a:solidFill>
                <a:latin typeface="Canva Sans"/>
                <a:ea typeface="Canva Sans"/>
                <a:cs typeface="Canva Sans"/>
                <a:sym typeface="Canva Sans"/>
              </a:rPr>
              <a:t>1. Improve Retention in High-Risk Groups</a:t>
            </a:r>
          </a:p>
          <a:p>
            <a:pPr algn="l">
              <a:lnSpc>
                <a:spcPts val="3219"/>
              </a:lnSpc>
              <a:spcBef>
                <a:spcPct val="0"/>
              </a:spcBef>
            </a:pPr>
            <a:r>
              <a:rPr lang="en-US" sz="2299">
                <a:solidFill>
                  <a:srgbClr val="FFFFFF"/>
                </a:solidFill>
                <a:latin typeface="Canva Sans"/>
                <a:ea typeface="Canva Sans"/>
                <a:cs typeface="Canva Sans"/>
                <a:sym typeface="Canva Sans"/>
              </a:rPr>
              <a:t>Enhance compensation or incentives for lower salary ranges.</a:t>
            </a:r>
          </a:p>
          <a:p>
            <a:pPr algn="l">
              <a:lnSpc>
                <a:spcPts val="3219"/>
              </a:lnSpc>
              <a:spcBef>
                <a:spcPct val="0"/>
              </a:spcBef>
            </a:pPr>
            <a:r>
              <a:rPr lang="en-US" sz="2299">
                <a:solidFill>
                  <a:srgbClr val="FFFFFF"/>
                </a:solidFill>
                <a:latin typeface="Canva Sans"/>
                <a:ea typeface="Canva Sans"/>
                <a:cs typeface="Canva Sans"/>
                <a:sym typeface="Canva Sans"/>
              </a:rPr>
              <a:t>Strengthen development paths for early-career employees.</a:t>
            </a:r>
          </a:p>
          <a:p>
            <a:pPr algn="l">
              <a:lnSpc>
                <a:spcPts val="3219"/>
              </a:lnSpc>
              <a:spcBef>
                <a:spcPct val="0"/>
              </a:spcBef>
            </a:pPr>
            <a:r>
              <a:rPr lang="en-US" sz="2299">
                <a:solidFill>
                  <a:srgbClr val="FFFFFF"/>
                </a:solidFill>
                <a:latin typeface="Canva Sans"/>
                <a:ea typeface="Canva Sans"/>
                <a:cs typeface="Canva Sans"/>
                <a:sym typeface="Canva Sans"/>
              </a:rPr>
              <a:t>2. Address Sales Department Turnover</a:t>
            </a:r>
          </a:p>
          <a:p>
            <a:pPr algn="l">
              <a:lnSpc>
                <a:spcPts val="3219"/>
              </a:lnSpc>
              <a:spcBef>
                <a:spcPct val="0"/>
              </a:spcBef>
            </a:pPr>
            <a:r>
              <a:rPr lang="en-US" sz="2299">
                <a:solidFill>
                  <a:srgbClr val="FFFFFF"/>
                </a:solidFill>
                <a:latin typeface="Canva Sans"/>
                <a:ea typeface="Canva Sans"/>
                <a:cs typeface="Canva Sans"/>
                <a:sym typeface="Canva Sans"/>
              </a:rPr>
              <a:t>Review workload, KPIs, and commission structure.</a:t>
            </a:r>
          </a:p>
          <a:p>
            <a:pPr algn="l">
              <a:lnSpc>
                <a:spcPts val="3219"/>
              </a:lnSpc>
              <a:spcBef>
                <a:spcPct val="0"/>
              </a:spcBef>
            </a:pPr>
            <a:r>
              <a:rPr lang="en-US" sz="2299">
                <a:solidFill>
                  <a:srgbClr val="FFFFFF"/>
                </a:solidFill>
                <a:latin typeface="Canva Sans"/>
                <a:ea typeface="Canva Sans"/>
                <a:cs typeface="Canva Sans"/>
                <a:sym typeface="Canva Sans"/>
              </a:rPr>
              <a:t>Implement targeted engagement and support programs.</a:t>
            </a:r>
          </a:p>
          <a:p>
            <a:pPr algn="l">
              <a:lnSpc>
                <a:spcPts val="3219"/>
              </a:lnSpc>
              <a:spcBef>
                <a:spcPct val="0"/>
              </a:spcBef>
            </a:pPr>
            <a:r>
              <a:rPr lang="en-US" sz="2299">
                <a:solidFill>
                  <a:srgbClr val="FFFFFF"/>
                </a:solidFill>
                <a:latin typeface="Canva Sans"/>
                <a:ea typeface="Canva Sans"/>
                <a:cs typeface="Canva Sans"/>
                <a:sym typeface="Canva Sans"/>
              </a:rPr>
              <a:t>3. Strengthen Employee Growth &amp; Satisfaction</a:t>
            </a:r>
          </a:p>
          <a:p>
            <a:pPr algn="l">
              <a:lnSpc>
                <a:spcPts val="3219"/>
              </a:lnSpc>
              <a:spcBef>
                <a:spcPct val="0"/>
              </a:spcBef>
            </a:pPr>
            <a:r>
              <a:rPr lang="en-US" sz="2299">
                <a:solidFill>
                  <a:srgbClr val="FFFFFF"/>
                </a:solidFill>
                <a:latin typeface="Canva Sans"/>
                <a:ea typeface="Canva Sans"/>
                <a:cs typeface="Canva Sans"/>
                <a:sym typeface="Canva Sans"/>
              </a:rPr>
              <a:t>Introduce mentorship, career progression frameworks, and learning programs.</a:t>
            </a:r>
          </a:p>
          <a:p>
            <a:pPr algn="l">
              <a:lnSpc>
                <a:spcPts val="3219"/>
              </a:lnSpc>
              <a:spcBef>
                <a:spcPct val="0"/>
              </a:spcBef>
            </a:pPr>
            <a:r>
              <a:rPr lang="en-US" sz="2299">
                <a:solidFill>
                  <a:srgbClr val="FFFFFF"/>
                </a:solidFill>
                <a:latin typeface="Canva Sans"/>
                <a:ea typeface="Canva Sans"/>
                <a:cs typeface="Canva Sans"/>
                <a:sym typeface="Canva Sans"/>
              </a:rPr>
              <a:t>Boost recognition for top performers in early tenure.</a:t>
            </a:r>
          </a:p>
          <a:p>
            <a:pPr algn="l">
              <a:lnSpc>
                <a:spcPts val="3219"/>
              </a:lnSpc>
              <a:spcBef>
                <a:spcPct val="0"/>
              </a:spcBef>
            </a:pPr>
            <a:r>
              <a:rPr lang="en-US" sz="2299">
                <a:solidFill>
                  <a:srgbClr val="FFFFFF"/>
                </a:solidFill>
                <a:latin typeface="Canva Sans"/>
                <a:ea typeface="Canva Sans"/>
                <a:cs typeface="Canva Sans"/>
                <a:sym typeface="Canva Sans"/>
              </a:rPr>
              <a:t>4. Focus on Stability in Age 45+</a:t>
            </a:r>
          </a:p>
          <a:p>
            <a:pPr algn="l">
              <a:lnSpc>
                <a:spcPts val="3219"/>
              </a:lnSpc>
              <a:spcBef>
                <a:spcPct val="0"/>
              </a:spcBef>
            </a:pPr>
            <a:r>
              <a:rPr lang="en-US" sz="2299">
                <a:solidFill>
                  <a:srgbClr val="FFFFFF"/>
                </a:solidFill>
                <a:latin typeface="Canva Sans"/>
                <a:ea typeface="Canva Sans"/>
                <a:cs typeface="Canva Sans"/>
                <a:sym typeface="Canva Sans"/>
              </a:rPr>
              <a:t>Provide flexible work arrangements.</a:t>
            </a:r>
          </a:p>
          <a:p>
            <a:pPr algn="l">
              <a:lnSpc>
                <a:spcPts val="3219"/>
              </a:lnSpc>
              <a:spcBef>
                <a:spcPct val="0"/>
              </a:spcBef>
            </a:pPr>
            <a:r>
              <a:rPr lang="en-US" sz="2299">
                <a:solidFill>
                  <a:srgbClr val="FFFFFF"/>
                </a:solidFill>
                <a:latin typeface="Canva Sans"/>
                <a:ea typeface="Canva Sans"/>
                <a:cs typeface="Canva Sans"/>
                <a:sym typeface="Canva Sans"/>
              </a:rPr>
              <a:t>Offer updated career paths to reduce late-career exits.</a:t>
            </a:r>
          </a:p>
          <a:p>
            <a:pPr algn="l">
              <a:lnSpc>
                <a:spcPts val="3219"/>
              </a:lnSpc>
              <a:spcBef>
                <a:spcPct val="0"/>
              </a:spcBef>
            </a:pPr>
            <a:r>
              <a:rPr lang="en-US" sz="2299">
                <a:solidFill>
                  <a:srgbClr val="FFFFFF"/>
                </a:solidFill>
                <a:latin typeface="Canva Sans"/>
                <a:ea typeface="Canva Sans"/>
                <a:cs typeface="Canva Sans"/>
                <a:sym typeface="Canva Sans"/>
              </a:rPr>
              <a:t>5. Proactive Monitoring</a:t>
            </a:r>
          </a:p>
          <a:p>
            <a:pPr algn="l">
              <a:lnSpc>
                <a:spcPts val="3219"/>
              </a:lnSpc>
              <a:spcBef>
                <a:spcPct val="0"/>
              </a:spcBef>
            </a:pPr>
            <a:r>
              <a:rPr lang="en-US" sz="2299">
                <a:solidFill>
                  <a:srgbClr val="FFFFFF"/>
                </a:solidFill>
                <a:latin typeface="Canva Sans"/>
                <a:ea typeface="Canva Sans"/>
                <a:cs typeface="Canva Sans"/>
                <a:sym typeface="Canva Sans"/>
              </a:rPr>
              <a:t>Use data to flag at-risk employees (low salary + low tenure + sales).</a:t>
            </a:r>
          </a:p>
          <a:p>
            <a:pPr algn="l">
              <a:lnSpc>
                <a:spcPts val="3219"/>
              </a:lnSpc>
              <a:spcBef>
                <a:spcPct val="0"/>
              </a:spcBef>
            </a:pPr>
            <a:r>
              <a:rPr lang="en-US" sz="2299">
                <a:solidFill>
                  <a:srgbClr val="FFFFFF"/>
                </a:solidFill>
                <a:latin typeface="Canva Sans"/>
                <a:ea typeface="Canva Sans"/>
                <a:cs typeface="Canva Sans"/>
                <a:sym typeface="Canva Sans"/>
              </a:rPr>
              <a:t>Conduct periodic pulse surveys to catch issues early.</a:t>
            </a:r>
          </a:p>
        </p:txBody>
      </p:sp>
    </p:spTree>
  </p:cSld>
  <p:clrMapOvr>
    <a:masterClrMapping/>
  </p:clrMapOvr>
  <p:transition>
    <p:wipe dir="u"/>
  </p:transition>
</p:sld>
</file>

<file path=ppt/slides/slide4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F193C">
                <a:alpha val="100000"/>
              </a:srgbClr>
            </a:gs>
            <a:gs pos="100000">
              <a:srgbClr val="1D224A">
                <a:alpha val="100000"/>
              </a:srgbClr>
            </a:gs>
          </a:gsLst>
          <a:lin ang="2700000"/>
        </a:gradFill>
        <a:effectLst/>
      </p:bgPr>
    </p:bg>
    <p:spTree>
      <p:nvGrpSpPr>
        <p:cNvPr id="1" name=""/>
        <p:cNvGrpSpPr/>
        <p:nvPr/>
      </p:nvGrpSpPr>
      <p:grpSpPr>
        <a:xfrm>
          <a:off x="0" y="0"/>
          <a:ext cx="0" cy="0"/>
          <a:chOff x="0" y="0"/>
          <a:chExt cx="0" cy="0"/>
        </a:xfrm>
      </p:grpSpPr>
      <p:grpSp>
        <p:nvGrpSpPr>
          <p:cNvPr id="2" name="Group 2"/>
          <p:cNvGrpSpPr/>
          <p:nvPr/>
        </p:nvGrpSpPr>
        <p:grpSpPr>
          <a:xfrm>
            <a:off x="1009426" y="4577397"/>
            <a:ext cx="6256151" cy="866612"/>
            <a:chOff x="0" y="0"/>
            <a:chExt cx="2662499" cy="368813"/>
          </a:xfrm>
        </p:grpSpPr>
        <p:sp>
          <p:nvSpPr>
            <p:cNvPr id="3" name="Freeform 3"/>
            <p:cNvSpPr/>
            <p:nvPr/>
          </p:nvSpPr>
          <p:spPr>
            <a:xfrm>
              <a:off x="0" y="0"/>
              <a:ext cx="2662499" cy="368813"/>
            </a:xfrm>
            <a:custGeom>
              <a:avLst/>
              <a:gdLst/>
              <a:ahLst/>
              <a:cxnLst/>
              <a:rect l="l" t="t" r="r" b="b"/>
              <a:pathLst>
                <a:path w="2662499" h="368813">
                  <a:moveTo>
                    <a:pt x="123749" y="0"/>
                  </a:moveTo>
                  <a:lnTo>
                    <a:pt x="2538750" y="0"/>
                  </a:lnTo>
                  <a:cubicBezTo>
                    <a:pt x="2607094" y="0"/>
                    <a:pt x="2662499" y="55404"/>
                    <a:pt x="2662499" y="123749"/>
                  </a:cubicBezTo>
                  <a:lnTo>
                    <a:pt x="2662499" y="245064"/>
                  </a:lnTo>
                  <a:cubicBezTo>
                    <a:pt x="2662499" y="313409"/>
                    <a:pt x="2607094" y="368813"/>
                    <a:pt x="2538750" y="368813"/>
                  </a:cubicBezTo>
                  <a:lnTo>
                    <a:pt x="123749" y="368813"/>
                  </a:lnTo>
                  <a:cubicBezTo>
                    <a:pt x="55404" y="368813"/>
                    <a:pt x="0" y="313409"/>
                    <a:pt x="0" y="245064"/>
                  </a:cubicBezTo>
                  <a:lnTo>
                    <a:pt x="0" y="123749"/>
                  </a:lnTo>
                  <a:cubicBezTo>
                    <a:pt x="0" y="55404"/>
                    <a:pt x="55404" y="0"/>
                    <a:pt x="123749" y="0"/>
                  </a:cubicBezTo>
                  <a:close/>
                </a:path>
              </a:pathLst>
            </a:custGeom>
            <a:gradFill rotWithShape="1">
              <a:gsLst>
                <a:gs pos="0">
                  <a:srgbClr val="3647F5">
                    <a:alpha val="100000"/>
                  </a:srgbClr>
                </a:gs>
                <a:gs pos="100000">
                  <a:srgbClr val="CF53FF">
                    <a:alpha val="100000"/>
                  </a:srgbClr>
                </a:gs>
              </a:gsLst>
              <a:lin ang="0"/>
            </a:gradFill>
            <a:ln w="28575" cap="rnd">
              <a:gradFill>
                <a:gsLst>
                  <a:gs pos="0">
                    <a:srgbClr val="97A4FF">
                      <a:alpha val="100000"/>
                    </a:srgbClr>
                  </a:gs>
                  <a:gs pos="100000">
                    <a:srgbClr val="CE88FF">
                      <a:alpha val="100000"/>
                    </a:srgbClr>
                  </a:gs>
                </a:gsLst>
                <a:lin ang="0"/>
              </a:gradFill>
              <a:prstDash val="solid"/>
              <a:round/>
            </a:ln>
          </p:spPr>
          <p:txBody>
            <a:bodyPr/>
            <a:lstStyle/>
            <a:p>
              <a:endParaRPr lang="ar-EG"/>
            </a:p>
          </p:txBody>
        </p:sp>
        <p:sp>
          <p:nvSpPr>
            <p:cNvPr id="4" name="TextBox 4"/>
            <p:cNvSpPr txBox="1"/>
            <p:nvPr/>
          </p:nvSpPr>
          <p:spPr>
            <a:xfrm>
              <a:off x="0" y="-66675"/>
              <a:ext cx="2662499" cy="435488"/>
            </a:xfrm>
            <a:prstGeom prst="rect">
              <a:avLst/>
            </a:prstGeom>
          </p:spPr>
          <p:txBody>
            <a:bodyPr lIns="50800" tIns="50800" rIns="50800" bIns="50800" rtlCol="0" anchor="ctr"/>
            <a:lstStyle/>
            <a:p>
              <a:pPr algn="ctr">
                <a:lnSpc>
                  <a:spcPts val="5179"/>
                </a:lnSpc>
                <a:spcBef>
                  <a:spcPct val="0"/>
                </a:spcBef>
              </a:pPr>
              <a:r>
                <a:rPr lang="en-US" sz="3699" b="1">
                  <a:solidFill>
                    <a:srgbClr val="FFFFFF"/>
                  </a:solidFill>
                  <a:latin typeface="Canva Sans Bold"/>
                  <a:ea typeface="Canva Sans Bold"/>
                  <a:cs typeface="Canva Sans Bold"/>
                  <a:sym typeface="Canva Sans Bold"/>
                </a:rPr>
                <a:t>Taher Abdelfattah</a:t>
              </a:r>
            </a:p>
          </p:txBody>
        </p:sp>
      </p:grpSp>
      <p:grpSp>
        <p:nvGrpSpPr>
          <p:cNvPr id="5" name="Group 5"/>
          <p:cNvGrpSpPr/>
          <p:nvPr/>
        </p:nvGrpSpPr>
        <p:grpSpPr>
          <a:xfrm>
            <a:off x="10863349" y="4577397"/>
            <a:ext cx="6190012" cy="866612"/>
            <a:chOff x="0" y="0"/>
            <a:chExt cx="2634351" cy="368813"/>
          </a:xfrm>
        </p:grpSpPr>
        <p:sp>
          <p:nvSpPr>
            <p:cNvPr id="6" name="Freeform 6"/>
            <p:cNvSpPr/>
            <p:nvPr/>
          </p:nvSpPr>
          <p:spPr>
            <a:xfrm>
              <a:off x="0" y="0"/>
              <a:ext cx="2634351" cy="368813"/>
            </a:xfrm>
            <a:custGeom>
              <a:avLst/>
              <a:gdLst/>
              <a:ahLst/>
              <a:cxnLst/>
              <a:rect l="l" t="t" r="r" b="b"/>
              <a:pathLst>
                <a:path w="2634351" h="368813">
                  <a:moveTo>
                    <a:pt x="125071" y="0"/>
                  </a:moveTo>
                  <a:lnTo>
                    <a:pt x="2509280" y="0"/>
                  </a:lnTo>
                  <a:cubicBezTo>
                    <a:pt x="2542451" y="0"/>
                    <a:pt x="2574263" y="13177"/>
                    <a:pt x="2597719" y="36632"/>
                  </a:cubicBezTo>
                  <a:cubicBezTo>
                    <a:pt x="2621174" y="60088"/>
                    <a:pt x="2634351" y="91900"/>
                    <a:pt x="2634351" y="125071"/>
                  </a:cubicBezTo>
                  <a:lnTo>
                    <a:pt x="2634351" y="243742"/>
                  </a:lnTo>
                  <a:cubicBezTo>
                    <a:pt x="2634351" y="312817"/>
                    <a:pt x="2578355" y="368813"/>
                    <a:pt x="2509280" y="368813"/>
                  </a:cubicBezTo>
                  <a:lnTo>
                    <a:pt x="125071" y="368813"/>
                  </a:lnTo>
                  <a:cubicBezTo>
                    <a:pt x="91900" y="368813"/>
                    <a:pt x="60088" y="355636"/>
                    <a:pt x="36632" y="332181"/>
                  </a:cubicBezTo>
                  <a:cubicBezTo>
                    <a:pt x="13177" y="308725"/>
                    <a:pt x="0" y="276913"/>
                    <a:pt x="0" y="243742"/>
                  </a:cubicBezTo>
                  <a:lnTo>
                    <a:pt x="0" y="125071"/>
                  </a:lnTo>
                  <a:cubicBezTo>
                    <a:pt x="0" y="91900"/>
                    <a:pt x="13177" y="60088"/>
                    <a:pt x="36632" y="36632"/>
                  </a:cubicBezTo>
                  <a:cubicBezTo>
                    <a:pt x="60088" y="13177"/>
                    <a:pt x="91900" y="0"/>
                    <a:pt x="125071" y="0"/>
                  </a:cubicBezTo>
                  <a:close/>
                </a:path>
              </a:pathLst>
            </a:custGeom>
            <a:gradFill rotWithShape="1">
              <a:gsLst>
                <a:gs pos="0">
                  <a:srgbClr val="3647F5">
                    <a:alpha val="100000"/>
                  </a:srgbClr>
                </a:gs>
                <a:gs pos="100000">
                  <a:srgbClr val="CF53FF">
                    <a:alpha val="100000"/>
                  </a:srgbClr>
                </a:gs>
              </a:gsLst>
              <a:lin ang="0"/>
            </a:gradFill>
            <a:ln w="28575" cap="rnd">
              <a:gradFill>
                <a:gsLst>
                  <a:gs pos="0">
                    <a:srgbClr val="97A4FF">
                      <a:alpha val="100000"/>
                    </a:srgbClr>
                  </a:gs>
                  <a:gs pos="100000">
                    <a:srgbClr val="CE88FF">
                      <a:alpha val="100000"/>
                    </a:srgbClr>
                  </a:gs>
                </a:gsLst>
                <a:lin ang="0"/>
              </a:gradFill>
              <a:prstDash val="solid"/>
              <a:round/>
            </a:ln>
          </p:spPr>
          <p:txBody>
            <a:bodyPr/>
            <a:lstStyle/>
            <a:p>
              <a:endParaRPr lang="ar-EG"/>
            </a:p>
          </p:txBody>
        </p:sp>
        <p:sp>
          <p:nvSpPr>
            <p:cNvPr id="7" name="TextBox 7"/>
            <p:cNvSpPr txBox="1"/>
            <p:nvPr/>
          </p:nvSpPr>
          <p:spPr>
            <a:xfrm>
              <a:off x="0" y="-66675"/>
              <a:ext cx="2634351" cy="435488"/>
            </a:xfrm>
            <a:prstGeom prst="rect">
              <a:avLst/>
            </a:prstGeom>
          </p:spPr>
          <p:txBody>
            <a:bodyPr lIns="50800" tIns="50800" rIns="50800" bIns="50800" rtlCol="0" anchor="ctr"/>
            <a:lstStyle/>
            <a:p>
              <a:pPr marL="0" lvl="0" indent="0" algn="ctr">
                <a:lnSpc>
                  <a:spcPts val="5179"/>
                </a:lnSpc>
                <a:spcBef>
                  <a:spcPct val="0"/>
                </a:spcBef>
              </a:pPr>
              <a:r>
                <a:rPr lang="en-US" sz="3699" b="1">
                  <a:solidFill>
                    <a:srgbClr val="FFFFFF"/>
                  </a:solidFill>
                  <a:latin typeface="Canva Sans Bold"/>
                  <a:ea typeface="Canva Sans Bold"/>
                  <a:cs typeface="Canva Sans Bold"/>
                  <a:sym typeface="Canva Sans Bold"/>
                </a:rPr>
                <a:t>Maged Mohamed</a:t>
              </a:r>
            </a:p>
          </p:txBody>
        </p:sp>
      </p:grpSp>
      <p:grpSp>
        <p:nvGrpSpPr>
          <p:cNvPr id="8" name="Group 8"/>
          <p:cNvGrpSpPr/>
          <p:nvPr/>
        </p:nvGrpSpPr>
        <p:grpSpPr>
          <a:xfrm>
            <a:off x="1009426" y="7227926"/>
            <a:ext cx="6256151" cy="866612"/>
            <a:chOff x="0" y="0"/>
            <a:chExt cx="2662499" cy="368813"/>
          </a:xfrm>
        </p:grpSpPr>
        <p:sp>
          <p:nvSpPr>
            <p:cNvPr id="9" name="Freeform 9"/>
            <p:cNvSpPr/>
            <p:nvPr/>
          </p:nvSpPr>
          <p:spPr>
            <a:xfrm>
              <a:off x="0" y="0"/>
              <a:ext cx="2662499" cy="368813"/>
            </a:xfrm>
            <a:custGeom>
              <a:avLst/>
              <a:gdLst/>
              <a:ahLst/>
              <a:cxnLst/>
              <a:rect l="l" t="t" r="r" b="b"/>
              <a:pathLst>
                <a:path w="2662499" h="368813">
                  <a:moveTo>
                    <a:pt x="123749" y="0"/>
                  </a:moveTo>
                  <a:lnTo>
                    <a:pt x="2538750" y="0"/>
                  </a:lnTo>
                  <a:cubicBezTo>
                    <a:pt x="2607094" y="0"/>
                    <a:pt x="2662499" y="55404"/>
                    <a:pt x="2662499" y="123749"/>
                  </a:cubicBezTo>
                  <a:lnTo>
                    <a:pt x="2662499" y="245064"/>
                  </a:lnTo>
                  <a:cubicBezTo>
                    <a:pt x="2662499" y="313409"/>
                    <a:pt x="2607094" y="368813"/>
                    <a:pt x="2538750" y="368813"/>
                  </a:cubicBezTo>
                  <a:lnTo>
                    <a:pt x="123749" y="368813"/>
                  </a:lnTo>
                  <a:cubicBezTo>
                    <a:pt x="55404" y="368813"/>
                    <a:pt x="0" y="313409"/>
                    <a:pt x="0" y="245064"/>
                  </a:cubicBezTo>
                  <a:lnTo>
                    <a:pt x="0" y="123749"/>
                  </a:lnTo>
                  <a:cubicBezTo>
                    <a:pt x="0" y="55404"/>
                    <a:pt x="55404" y="0"/>
                    <a:pt x="123749" y="0"/>
                  </a:cubicBezTo>
                  <a:close/>
                </a:path>
              </a:pathLst>
            </a:custGeom>
            <a:gradFill rotWithShape="1">
              <a:gsLst>
                <a:gs pos="0">
                  <a:srgbClr val="3647F5">
                    <a:alpha val="100000"/>
                  </a:srgbClr>
                </a:gs>
                <a:gs pos="100000">
                  <a:srgbClr val="CF53FF">
                    <a:alpha val="100000"/>
                  </a:srgbClr>
                </a:gs>
              </a:gsLst>
              <a:lin ang="0"/>
            </a:gradFill>
            <a:ln w="28575" cap="rnd">
              <a:gradFill>
                <a:gsLst>
                  <a:gs pos="0">
                    <a:srgbClr val="97A4FF">
                      <a:alpha val="100000"/>
                    </a:srgbClr>
                  </a:gs>
                  <a:gs pos="100000">
                    <a:srgbClr val="CE88FF">
                      <a:alpha val="100000"/>
                    </a:srgbClr>
                  </a:gs>
                </a:gsLst>
                <a:lin ang="0"/>
              </a:gradFill>
              <a:prstDash val="solid"/>
              <a:round/>
            </a:ln>
          </p:spPr>
          <p:txBody>
            <a:bodyPr/>
            <a:lstStyle/>
            <a:p>
              <a:endParaRPr lang="ar-EG"/>
            </a:p>
          </p:txBody>
        </p:sp>
        <p:sp>
          <p:nvSpPr>
            <p:cNvPr id="10" name="TextBox 10"/>
            <p:cNvSpPr txBox="1"/>
            <p:nvPr/>
          </p:nvSpPr>
          <p:spPr>
            <a:xfrm>
              <a:off x="0" y="-66675"/>
              <a:ext cx="2662499" cy="435488"/>
            </a:xfrm>
            <a:prstGeom prst="rect">
              <a:avLst/>
            </a:prstGeom>
          </p:spPr>
          <p:txBody>
            <a:bodyPr lIns="50800" tIns="50800" rIns="50800" bIns="50800" rtlCol="0" anchor="ctr"/>
            <a:lstStyle/>
            <a:p>
              <a:pPr marL="0" lvl="0" indent="0" algn="ctr">
                <a:lnSpc>
                  <a:spcPts val="5179"/>
                </a:lnSpc>
                <a:spcBef>
                  <a:spcPct val="0"/>
                </a:spcBef>
              </a:pPr>
              <a:r>
                <a:rPr lang="en-US" sz="3699" b="1">
                  <a:solidFill>
                    <a:srgbClr val="FFFFFF"/>
                  </a:solidFill>
                  <a:latin typeface="Canva Sans Bold"/>
                  <a:ea typeface="Canva Sans Bold"/>
                  <a:cs typeface="Canva Sans Bold"/>
                  <a:sym typeface="Canva Sans Bold"/>
                </a:rPr>
                <a:t>Sandra Shenouda </a:t>
              </a:r>
            </a:p>
          </p:txBody>
        </p:sp>
      </p:grpSp>
      <p:grpSp>
        <p:nvGrpSpPr>
          <p:cNvPr id="11" name="Group 11"/>
          <p:cNvGrpSpPr/>
          <p:nvPr/>
        </p:nvGrpSpPr>
        <p:grpSpPr>
          <a:xfrm>
            <a:off x="10863349" y="7227926"/>
            <a:ext cx="6190012" cy="866612"/>
            <a:chOff x="0" y="0"/>
            <a:chExt cx="2634351" cy="368813"/>
          </a:xfrm>
        </p:grpSpPr>
        <p:sp>
          <p:nvSpPr>
            <p:cNvPr id="12" name="Freeform 12"/>
            <p:cNvSpPr/>
            <p:nvPr/>
          </p:nvSpPr>
          <p:spPr>
            <a:xfrm>
              <a:off x="0" y="0"/>
              <a:ext cx="2634351" cy="368813"/>
            </a:xfrm>
            <a:custGeom>
              <a:avLst/>
              <a:gdLst/>
              <a:ahLst/>
              <a:cxnLst/>
              <a:rect l="l" t="t" r="r" b="b"/>
              <a:pathLst>
                <a:path w="2634351" h="368813">
                  <a:moveTo>
                    <a:pt x="125071" y="0"/>
                  </a:moveTo>
                  <a:lnTo>
                    <a:pt x="2509280" y="0"/>
                  </a:lnTo>
                  <a:cubicBezTo>
                    <a:pt x="2542451" y="0"/>
                    <a:pt x="2574263" y="13177"/>
                    <a:pt x="2597719" y="36632"/>
                  </a:cubicBezTo>
                  <a:cubicBezTo>
                    <a:pt x="2621174" y="60088"/>
                    <a:pt x="2634351" y="91900"/>
                    <a:pt x="2634351" y="125071"/>
                  </a:cubicBezTo>
                  <a:lnTo>
                    <a:pt x="2634351" y="243742"/>
                  </a:lnTo>
                  <a:cubicBezTo>
                    <a:pt x="2634351" y="312817"/>
                    <a:pt x="2578355" y="368813"/>
                    <a:pt x="2509280" y="368813"/>
                  </a:cubicBezTo>
                  <a:lnTo>
                    <a:pt x="125071" y="368813"/>
                  </a:lnTo>
                  <a:cubicBezTo>
                    <a:pt x="91900" y="368813"/>
                    <a:pt x="60088" y="355636"/>
                    <a:pt x="36632" y="332181"/>
                  </a:cubicBezTo>
                  <a:cubicBezTo>
                    <a:pt x="13177" y="308725"/>
                    <a:pt x="0" y="276913"/>
                    <a:pt x="0" y="243742"/>
                  </a:cubicBezTo>
                  <a:lnTo>
                    <a:pt x="0" y="125071"/>
                  </a:lnTo>
                  <a:cubicBezTo>
                    <a:pt x="0" y="91900"/>
                    <a:pt x="13177" y="60088"/>
                    <a:pt x="36632" y="36632"/>
                  </a:cubicBezTo>
                  <a:cubicBezTo>
                    <a:pt x="60088" y="13177"/>
                    <a:pt x="91900" y="0"/>
                    <a:pt x="125071" y="0"/>
                  </a:cubicBezTo>
                  <a:close/>
                </a:path>
              </a:pathLst>
            </a:custGeom>
            <a:gradFill rotWithShape="1">
              <a:gsLst>
                <a:gs pos="0">
                  <a:srgbClr val="3647F5">
                    <a:alpha val="100000"/>
                  </a:srgbClr>
                </a:gs>
                <a:gs pos="100000">
                  <a:srgbClr val="CF53FF">
                    <a:alpha val="100000"/>
                  </a:srgbClr>
                </a:gs>
              </a:gsLst>
              <a:lin ang="0"/>
            </a:gradFill>
            <a:ln w="28575" cap="rnd">
              <a:gradFill>
                <a:gsLst>
                  <a:gs pos="0">
                    <a:srgbClr val="97A4FF">
                      <a:alpha val="100000"/>
                    </a:srgbClr>
                  </a:gs>
                  <a:gs pos="100000">
                    <a:srgbClr val="CE88FF">
                      <a:alpha val="100000"/>
                    </a:srgbClr>
                  </a:gs>
                </a:gsLst>
                <a:lin ang="0"/>
              </a:gradFill>
              <a:prstDash val="solid"/>
              <a:round/>
            </a:ln>
          </p:spPr>
          <p:txBody>
            <a:bodyPr/>
            <a:lstStyle/>
            <a:p>
              <a:endParaRPr lang="ar-EG"/>
            </a:p>
          </p:txBody>
        </p:sp>
        <p:sp>
          <p:nvSpPr>
            <p:cNvPr id="13" name="TextBox 13"/>
            <p:cNvSpPr txBox="1"/>
            <p:nvPr/>
          </p:nvSpPr>
          <p:spPr>
            <a:xfrm>
              <a:off x="0" y="-66675"/>
              <a:ext cx="2634351" cy="435488"/>
            </a:xfrm>
            <a:prstGeom prst="rect">
              <a:avLst/>
            </a:prstGeom>
          </p:spPr>
          <p:txBody>
            <a:bodyPr lIns="50800" tIns="50800" rIns="50800" bIns="50800" rtlCol="0" anchor="ctr"/>
            <a:lstStyle/>
            <a:p>
              <a:pPr marL="0" lvl="0" indent="0" algn="ctr">
                <a:lnSpc>
                  <a:spcPts val="5039"/>
                </a:lnSpc>
                <a:spcBef>
                  <a:spcPct val="0"/>
                </a:spcBef>
              </a:pPr>
              <a:r>
                <a:rPr lang="en-US" sz="3599" b="1">
                  <a:solidFill>
                    <a:srgbClr val="FFFFFF"/>
                  </a:solidFill>
                  <a:latin typeface="Canva Sans Bold"/>
                  <a:ea typeface="Canva Sans Bold"/>
                  <a:cs typeface="Canva Sans Bold"/>
                  <a:sym typeface="Canva Sans Bold"/>
                </a:rPr>
                <a:t>Mahmoud Abdelqader</a:t>
              </a:r>
            </a:p>
          </p:txBody>
        </p:sp>
      </p:grpSp>
      <p:sp>
        <p:nvSpPr>
          <p:cNvPr id="14" name="Freeform 14"/>
          <p:cNvSpPr/>
          <p:nvPr/>
        </p:nvSpPr>
        <p:spPr>
          <a:xfrm>
            <a:off x="1453114" y="5742497"/>
            <a:ext cx="406273" cy="315877"/>
          </a:xfrm>
          <a:custGeom>
            <a:avLst/>
            <a:gdLst/>
            <a:ahLst/>
            <a:cxnLst/>
            <a:rect l="l" t="t" r="r" b="b"/>
            <a:pathLst>
              <a:path w="406273" h="315877">
                <a:moveTo>
                  <a:pt x="0" y="0"/>
                </a:moveTo>
                <a:lnTo>
                  <a:pt x="406273" y="0"/>
                </a:lnTo>
                <a:lnTo>
                  <a:pt x="406273" y="315877"/>
                </a:lnTo>
                <a:lnTo>
                  <a:pt x="0" y="315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15" name="Freeform 15"/>
          <p:cNvSpPr/>
          <p:nvPr/>
        </p:nvSpPr>
        <p:spPr>
          <a:xfrm>
            <a:off x="1453114" y="6446852"/>
            <a:ext cx="406273" cy="409343"/>
          </a:xfrm>
          <a:custGeom>
            <a:avLst/>
            <a:gdLst/>
            <a:ahLst/>
            <a:cxnLst/>
            <a:rect l="l" t="t" r="r" b="b"/>
            <a:pathLst>
              <a:path w="406273" h="409343">
                <a:moveTo>
                  <a:pt x="0" y="0"/>
                </a:moveTo>
                <a:lnTo>
                  <a:pt x="406273" y="0"/>
                </a:lnTo>
                <a:lnTo>
                  <a:pt x="406273" y="409343"/>
                </a:lnTo>
                <a:lnTo>
                  <a:pt x="0" y="4093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ar-EG"/>
          </a:p>
        </p:txBody>
      </p:sp>
      <p:sp>
        <p:nvSpPr>
          <p:cNvPr id="16" name="Freeform 16"/>
          <p:cNvSpPr/>
          <p:nvPr/>
        </p:nvSpPr>
        <p:spPr>
          <a:xfrm>
            <a:off x="11481950" y="5742497"/>
            <a:ext cx="406273" cy="315877"/>
          </a:xfrm>
          <a:custGeom>
            <a:avLst/>
            <a:gdLst/>
            <a:ahLst/>
            <a:cxnLst/>
            <a:rect l="l" t="t" r="r" b="b"/>
            <a:pathLst>
              <a:path w="406273" h="315877">
                <a:moveTo>
                  <a:pt x="0" y="0"/>
                </a:moveTo>
                <a:lnTo>
                  <a:pt x="406273" y="0"/>
                </a:lnTo>
                <a:lnTo>
                  <a:pt x="406273" y="315877"/>
                </a:lnTo>
                <a:lnTo>
                  <a:pt x="0" y="3158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17" name="Freeform 17"/>
          <p:cNvSpPr/>
          <p:nvPr/>
        </p:nvSpPr>
        <p:spPr>
          <a:xfrm>
            <a:off x="11481950" y="6520094"/>
            <a:ext cx="406273" cy="409343"/>
          </a:xfrm>
          <a:custGeom>
            <a:avLst/>
            <a:gdLst/>
            <a:ahLst/>
            <a:cxnLst/>
            <a:rect l="l" t="t" r="r" b="b"/>
            <a:pathLst>
              <a:path w="406273" h="409343">
                <a:moveTo>
                  <a:pt x="0" y="0"/>
                </a:moveTo>
                <a:lnTo>
                  <a:pt x="406273" y="0"/>
                </a:lnTo>
                <a:lnTo>
                  <a:pt x="406273" y="409344"/>
                </a:lnTo>
                <a:lnTo>
                  <a:pt x="0" y="4093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ar-EG"/>
          </a:p>
        </p:txBody>
      </p:sp>
      <p:sp>
        <p:nvSpPr>
          <p:cNvPr id="18" name="Freeform 18"/>
          <p:cNvSpPr/>
          <p:nvPr/>
        </p:nvSpPr>
        <p:spPr>
          <a:xfrm>
            <a:off x="11481950" y="8551737"/>
            <a:ext cx="406273" cy="315877"/>
          </a:xfrm>
          <a:custGeom>
            <a:avLst/>
            <a:gdLst/>
            <a:ahLst/>
            <a:cxnLst/>
            <a:rect l="l" t="t" r="r" b="b"/>
            <a:pathLst>
              <a:path w="406273" h="315877">
                <a:moveTo>
                  <a:pt x="0" y="0"/>
                </a:moveTo>
                <a:lnTo>
                  <a:pt x="406273" y="0"/>
                </a:lnTo>
                <a:lnTo>
                  <a:pt x="406273" y="315878"/>
                </a:lnTo>
                <a:lnTo>
                  <a:pt x="0" y="3158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19" name="Freeform 19"/>
          <p:cNvSpPr/>
          <p:nvPr/>
        </p:nvSpPr>
        <p:spPr>
          <a:xfrm>
            <a:off x="11481950" y="9329335"/>
            <a:ext cx="406273" cy="409343"/>
          </a:xfrm>
          <a:custGeom>
            <a:avLst/>
            <a:gdLst/>
            <a:ahLst/>
            <a:cxnLst/>
            <a:rect l="l" t="t" r="r" b="b"/>
            <a:pathLst>
              <a:path w="406273" h="409343">
                <a:moveTo>
                  <a:pt x="0" y="0"/>
                </a:moveTo>
                <a:lnTo>
                  <a:pt x="406273" y="0"/>
                </a:lnTo>
                <a:lnTo>
                  <a:pt x="406273" y="409343"/>
                </a:lnTo>
                <a:lnTo>
                  <a:pt x="0" y="4093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ar-EG"/>
          </a:p>
        </p:txBody>
      </p:sp>
      <p:sp>
        <p:nvSpPr>
          <p:cNvPr id="20" name="Freeform 20"/>
          <p:cNvSpPr/>
          <p:nvPr/>
        </p:nvSpPr>
        <p:spPr>
          <a:xfrm>
            <a:off x="1453114" y="8551737"/>
            <a:ext cx="406273" cy="315877"/>
          </a:xfrm>
          <a:custGeom>
            <a:avLst/>
            <a:gdLst/>
            <a:ahLst/>
            <a:cxnLst/>
            <a:rect l="l" t="t" r="r" b="b"/>
            <a:pathLst>
              <a:path w="406273" h="315877">
                <a:moveTo>
                  <a:pt x="0" y="0"/>
                </a:moveTo>
                <a:lnTo>
                  <a:pt x="406273" y="0"/>
                </a:lnTo>
                <a:lnTo>
                  <a:pt x="406273" y="315878"/>
                </a:lnTo>
                <a:lnTo>
                  <a:pt x="0" y="3158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ar-EG"/>
          </a:p>
        </p:txBody>
      </p:sp>
      <p:sp>
        <p:nvSpPr>
          <p:cNvPr id="21" name="Freeform 21"/>
          <p:cNvSpPr/>
          <p:nvPr/>
        </p:nvSpPr>
        <p:spPr>
          <a:xfrm>
            <a:off x="1453114" y="9329335"/>
            <a:ext cx="406273" cy="409343"/>
          </a:xfrm>
          <a:custGeom>
            <a:avLst/>
            <a:gdLst/>
            <a:ahLst/>
            <a:cxnLst/>
            <a:rect l="l" t="t" r="r" b="b"/>
            <a:pathLst>
              <a:path w="406273" h="409343">
                <a:moveTo>
                  <a:pt x="0" y="0"/>
                </a:moveTo>
                <a:lnTo>
                  <a:pt x="406273" y="0"/>
                </a:lnTo>
                <a:lnTo>
                  <a:pt x="406273" y="409343"/>
                </a:lnTo>
                <a:lnTo>
                  <a:pt x="0" y="40934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ar-EG"/>
          </a:p>
        </p:txBody>
      </p:sp>
      <p:sp>
        <p:nvSpPr>
          <p:cNvPr id="22" name="Freeform 22"/>
          <p:cNvSpPr/>
          <p:nvPr/>
        </p:nvSpPr>
        <p:spPr>
          <a:xfrm rot="-946121">
            <a:off x="-4442354" y="7708489"/>
            <a:ext cx="6316522" cy="5157022"/>
          </a:xfrm>
          <a:custGeom>
            <a:avLst/>
            <a:gdLst/>
            <a:ahLst/>
            <a:cxnLst/>
            <a:rect l="l" t="t" r="r" b="b"/>
            <a:pathLst>
              <a:path w="6316522" h="5157022">
                <a:moveTo>
                  <a:pt x="0" y="0"/>
                </a:moveTo>
                <a:lnTo>
                  <a:pt x="6316522" y="0"/>
                </a:lnTo>
                <a:lnTo>
                  <a:pt x="6316522" y="5157022"/>
                </a:lnTo>
                <a:lnTo>
                  <a:pt x="0" y="5157022"/>
                </a:lnTo>
                <a:lnTo>
                  <a:pt x="0" y="0"/>
                </a:lnTo>
                <a:close/>
              </a:path>
            </a:pathLst>
          </a:custGeom>
          <a:blipFill>
            <a:blip r:embed="rId6">
              <a:extLst>
                <a:ext uri="{96DAC541-7B7A-43D3-8B79-37D633B846F1}">
                  <asvg:svgBlip xmlns:asvg="http://schemas.microsoft.com/office/drawing/2016/SVG/main" r:embed="rId7"/>
                </a:ext>
              </a:extLst>
            </a:blip>
            <a:stretch>
              <a:fillRect l="-25483" b="-17962"/>
            </a:stretch>
          </a:blipFill>
          <a:ln cap="sq">
            <a:noFill/>
            <a:prstDash val="solid"/>
            <a:miter/>
          </a:ln>
        </p:spPr>
        <p:txBody>
          <a:bodyPr/>
          <a:lstStyle/>
          <a:p>
            <a:endParaRPr lang="ar-EG"/>
          </a:p>
        </p:txBody>
      </p:sp>
      <p:sp>
        <p:nvSpPr>
          <p:cNvPr id="23" name="Freeform 23"/>
          <p:cNvSpPr/>
          <p:nvPr/>
        </p:nvSpPr>
        <p:spPr>
          <a:xfrm>
            <a:off x="12831176" y="687421"/>
            <a:ext cx="2699700" cy="3083341"/>
          </a:xfrm>
          <a:custGeom>
            <a:avLst/>
            <a:gdLst/>
            <a:ahLst/>
            <a:cxnLst/>
            <a:rect l="l" t="t" r="r" b="b"/>
            <a:pathLst>
              <a:path w="2699700" h="3083341">
                <a:moveTo>
                  <a:pt x="0" y="0"/>
                </a:moveTo>
                <a:lnTo>
                  <a:pt x="2699700" y="0"/>
                </a:lnTo>
                <a:lnTo>
                  <a:pt x="2699700" y="3083341"/>
                </a:lnTo>
                <a:lnTo>
                  <a:pt x="0" y="3083341"/>
                </a:lnTo>
                <a:lnTo>
                  <a:pt x="0" y="0"/>
                </a:lnTo>
                <a:close/>
              </a:path>
            </a:pathLst>
          </a:custGeom>
          <a:blipFill>
            <a:blip r:embed="rId8"/>
            <a:stretch>
              <a:fillRect/>
            </a:stretch>
          </a:blipFill>
        </p:spPr>
        <p:txBody>
          <a:bodyPr/>
          <a:lstStyle/>
          <a:p>
            <a:endParaRPr lang="ar-EG"/>
          </a:p>
        </p:txBody>
      </p:sp>
      <p:sp>
        <p:nvSpPr>
          <p:cNvPr id="24" name="TextBox 24"/>
          <p:cNvSpPr txBox="1"/>
          <p:nvPr/>
        </p:nvSpPr>
        <p:spPr>
          <a:xfrm>
            <a:off x="1028700" y="1219200"/>
            <a:ext cx="7319423" cy="1455420"/>
          </a:xfrm>
          <a:prstGeom prst="rect">
            <a:avLst/>
          </a:prstGeom>
        </p:spPr>
        <p:txBody>
          <a:bodyPr lIns="0" tIns="0" rIns="0" bIns="0" rtlCol="0" anchor="t">
            <a:spAutoFit/>
          </a:bodyPr>
          <a:lstStyle/>
          <a:p>
            <a:pPr algn="l">
              <a:lnSpc>
                <a:spcPts val="10800"/>
              </a:lnSpc>
            </a:pPr>
            <a:r>
              <a:rPr lang="en-US" sz="10800" spc="-432">
                <a:solidFill>
                  <a:srgbClr val="FFFFFF"/>
                </a:solidFill>
                <a:latin typeface="Inter"/>
                <a:ea typeface="Inter"/>
                <a:cs typeface="Inter"/>
                <a:sym typeface="Inter"/>
              </a:rPr>
              <a:t>Thank You!</a:t>
            </a:r>
          </a:p>
        </p:txBody>
      </p:sp>
      <p:sp>
        <p:nvSpPr>
          <p:cNvPr id="25" name="TextBox 25"/>
          <p:cNvSpPr txBox="1"/>
          <p:nvPr/>
        </p:nvSpPr>
        <p:spPr>
          <a:xfrm>
            <a:off x="12354282" y="8411801"/>
            <a:ext cx="5095518" cy="389255"/>
          </a:xfrm>
          <a:prstGeom prst="rect">
            <a:avLst/>
          </a:prstGeom>
        </p:spPr>
        <p:txBody>
          <a:bodyPr wrap="square" lIns="0" tIns="0" rIns="0" bIns="0" rtlCol="0" anchor="t">
            <a:spAutoFit/>
          </a:bodyPr>
          <a:lstStyle/>
          <a:p>
            <a:pPr algn="ctr">
              <a:lnSpc>
                <a:spcPts val="3219"/>
              </a:lnSpc>
              <a:spcBef>
                <a:spcPct val="0"/>
              </a:spcBef>
            </a:pPr>
            <a:r>
              <a:rPr lang="en-US" sz="2299" spc="-45" dirty="0">
                <a:solidFill>
                  <a:srgbClr val="FFFFFF"/>
                </a:solidFill>
                <a:latin typeface="Inter"/>
                <a:ea typeface="Inter"/>
                <a:cs typeface="Inter"/>
                <a:sym typeface="Inter"/>
              </a:rPr>
              <a:t>Mahmoud.abdulqader96@gmial.com</a:t>
            </a:r>
          </a:p>
        </p:txBody>
      </p:sp>
      <p:sp>
        <p:nvSpPr>
          <p:cNvPr id="26" name="TextBox 26"/>
          <p:cNvSpPr txBox="1"/>
          <p:nvPr/>
        </p:nvSpPr>
        <p:spPr>
          <a:xfrm>
            <a:off x="12284658" y="9295478"/>
            <a:ext cx="4098342" cy="377155"/>
          </a:xfrm>
          <a:prstGeom prst="rect">
            <a:avLst/>
          </a:prstGeom>
        </p:spPr>
        <p:txBody>
          <a:bodyPr wrap="square" lIns="0" tIns="0" rIns="0" bIns="0" rtlCol="0" anchor="t">
            <a:spAutoFit/>
          </a:bodyPr>
          <a:lstStyle/>
          <a:p>
            <a:pPr algn="ctr">
              <a:lnSpc>
                <a:spcPts val="3219"/>
              </a:lnSpc>
              <a:spcBef>
                <a:spcPct val="0"/>
              </a:spcBef>
            </a:pPr>
            <a:r>
              <a:rPr lang="en-US" sz="2299" spc="1034" dirty="0">
                <a:solidFill>
                  <a:srgbClr val="FFFFFF"/>
                </a:solidFill>
                <a:latin typeface="Inter"/>
                <a:ea typeface="Inter"/>
                <a:cs typeface="Inter"/>
                <a:sym typeface="Inter"/>
              </a:rPr>
              <a:t>+201101122138</a:t>
            </a:r>
          </a:p>
        </p:txBody>
      </p:sp>
      <p:sp>
        <p:nvSpPr>
          <p:cNvPr id="27" name="TextBox 27"/>
          <p:cNvSpPr txBox="1"/>
          <p:nvPr/>
        </p:nvSpPr>
        <p:spPr>
          <a:xfrm>
            <a:off x="2374231" y="9181794"/>
            <a:ext cx="4891346" cy="376642"/>
          </a:xfrm>
          <a:prstGeom prst="rect">
            <a:avLst/>
          </a:prstGeom>
        </p:spPr>
        <p:txBody>
          <a:bodyPr wrap="square" lIns="0" tIns="0" rIns="0" bIns="0" rtlCol="0" anchor="t">
            <a:spAutoFit/>
          </a:bodyPr>
          <a:lstStyle/>
          <a:p>
            <a:pPr algn="ctr">
              <a:lnSpc>
                <a:spcPts val="3219"/>
              </a:lnSpc>
              <a:spcBef>
                <a:spcPct val="0"/>
              </a:spcBef>
            </a:pPr>
            <a:r>
              <a:rPr lang="en-US" sz="2299" spc="1034" dirty="0">
                <a:solidFill>
                  <a:srgbClr val="FFFFFF"/>
                </a:solidFill>
                <a:latin typeface="Inter"/>
                <a:ea typeface="Inter"/>
                <a:cs typeface="Inter"/>
                <a:sym typeface="Inter"/>
              </a:rPr>
              <a:t>+201093734654</a:t>
            </a:r>
          </a:p>
        </p:txBody>
      </p:sp>
      <p:sp>
        <p:nvSpPr>
          <p:cNvPr id="28" name="TextBox 28"/>
          <p:cNvSpPr txBox="1"/>
          <p:nvPr/>
        </p:nvSpPr>
        <p:spPr>
          <a:xfrm>
            <a:off x="2374231" y="6332891"/>
            <a:ext cx="4891346" cy="376642"/>
          </a:xfrm>
          <a:prstGeom prst="rect">
            <a:avLst/>
          </a:prstGeom>
        </p:spPr>
        <p:txBody>
          <a:bodyPr wrap="square" lIns="0" tIns="0" rIns="0" bIns="0" rtlCol="0" anchor="t">
            <a:spAutoFit/>
          </a:bodyPr>
          <a:lstStyle/>
          <a:p>
            <a:pPr algn="ctr">
              <a:lnSpc>
                <a:spcPts val="3219"/>
              </a:lnSpc>
              <a:spcBef>
                <a:spcPct val="0"/>
              </a:spcBef>
            </a:pPr>
            <a:r>
              <a:rPr lang="en-US" sz="2299" spc="1034" dirty="0">
                <a:solidFill>
                  <a:srgbClr val="FFFFFF"/>
                </a:solidFill>
                <a:latin typeface="Inter"/>
                <a:ea typeface="Inter"/>
                <a:cs typeface="Inter"/>
                <a:sym typeface="Inter"/>
              </a:rPr>
              <a:t>+201005776443</a:t>
            </a:r>
          </a:p>
        </p:txBody>
      </p:sp>
      <p:sp>
        <p:nvSpPr>
          <p:cNvPr id="29" name="TextBox 29"/>
          <p:cNvSpPr txBox="1"/>
          <p:nvPr/>
        </p:nvSpPr>
        <p:spPr>
          <a:xfrm>
            <a:off x="12354282" y="6456894"/>
            <a:ext cx="4866918" cy="376642"/>
          </a:xfrm>
          <a:prstGeom prst="rect">
            <a:avLst/>
          </a:prstGeom>
        </p:spPr>
        <p:txBody>
          <a:bodyPr wrap="square" lIns="0" tIns="0" rIns="0" bIns="0" rtlCol="0" anchor="t">
            <a:spAutoFit/>
          </a:bodyPr>
          <a:lstStyle/>
          <a:p>
            <a:pPr algn="ctr">
              <a:lnSpc>
                <a:spcPts val="3219"/>
              </a:lnSpc>
              <a:spcBef>
                <a:spcPct val="0"/>
              </a:spcBef>
            </a:pPr>
            <a:r>
              <a:rPr lang="en-US" sz="2299" spc="1034" dirty="0">
                <a:solidFill>
                  <a:srgbClr val="FFFFFF"/>
                </a:solidFill>
                <a:latin typeface="Inter"/>
                <a:ea typeface="Inter"/>
                <a:cs typeface="Inter"/>
                <a:sym typeface="Inter"/>
              </a:rPr>
              <a:t>+201004312580</a:t>
            </a:r>
          </a:p>
        </p:txBody>
      </p:sp>
      <p:sp>
        <p:nvSpPr>
          <p:cNvPr id="30" name="TextBox 30"/>
          <p:cNvSpPr txBox="1"/>
          <p:nvPr/>
        </p:nvSpPr>
        <p:spPr>
          <a:xfrm>
            <a:off x="12354281" y="5742497"/>
            <a:ext cx="4364579" cy="377155"/>
          </a:xfrm>
          <a:prstGeom prst="rect">
            <a:avLst/>
          </a:prstGeom>
        </p:spPr>
        <p:txBody>
          <a:bodyPr wrap="square" lIns="0" tIns="0" rIns="0" bIns="0" rtlCol="0" anchor="t">
            <a:spAutoFit/>
          </a:bodyPr>
          <a:lstStyle/>
          <a:p>
            <a:pPr algn="ctr">
              <a:lnSpc>
                <a:spcPts val="3219"/>
              </a:lnSpc>
              <a:spcBef>
                <a:spcPct val="0"/>
              </a:spcBef>
            </a:pPr>
            <a:r>
              <a:rPr lang="en-US" sz="2299" spc="-45" dirty="0">
                <a:solidFill>
                  <a:srgbClr val="FFFFFF"/>
                </a:solidFill>
                <a:latin typeface="Inter"/>
                <a:ea typeface="Inter"/>
                <a:cs typeface="Inter"/>
                <a:sym typeface="Inter"/>
              </a:rPr>
              <a:t>magedhendam425@gmail.com</a:t>
            </a:r>
          </a:p>
        </p:txBody>
      </p:sp>
      <p:sp>
        <p:nvSpPr>
          <p:cNvPr id="31" name="TextBox 31"/>
          <p:cNvSpPr txBox="1"/>
          <p:nvPr/>
        </p:nvSpPr>
        <p:spPr>
          <a:xfrm>
            <a:off x="2441472" y="8449588"/>
            <a:ext cx="3928020" cy="377155"/>
          </a:xfrm>
          <a:prstGeom prst="rect">
            <a:avLst/>
          </a:prstGeom>
        </p:spPr>
        <p:txBody>
          <a:bodyPr wrap="square" lIns="0" tIns="0" rIns="0" bIns="0" rtlCol="0" anchor="t">
            <a:spAutoFit/>
          </a:bodyPr>
          <a:lstStyle/>
          <a:p>
            <a:pPr algn="ctr">
              <a:lnSpc>
                <a:spcPts val="3219"/>
              </a:lnSpc>
              <a:spcBef>
                <a:spcPct val="0"/>
              </a:spcBef>
            </a:pPr>
            <a:r>
              <a:rPr lang="en-US" sz="2299" spc="-45" dirty="0">
                <a:solidFill>
                  <a:srgbClr val="FFFFFF"/>
                </a:solidFill>
                <a:latin typeface="Inter"/>
                <a:ea typeface="Inter"/>
                <a:cs typeface="Inter"/>
                <a:sym typeface="Inter"/>
              </a:rPr>
              <a:t>sandrashenod@gmail.com</a:t>
            </a:r>
          </a:p>
        </p:txBody>
      </p:sp>
      <p:sp>
        <p:nvSpPr>
          <p:cNvPr id="32" name="TextBox 32"/>
          <p:cNvSpPr txBox="1"/>
          <p:nvPr/>
        </p:nvSpPr>
        <p:spPr>
          <a:xfrm>
            <a:off x="2441472" y="5669119"/>
            <a:ext cx="4364579" cy="389255"/>
          </a:xfrm>
          <a:prstGeom prst="rect">
            <a:avLst/>
          </a:prstGeom>
        </p:spPr>
        <p:txBody>
          <a:bodyPr wrap="square" lIns="0" tIns="0" rIns="0" bIns="0" rtlCol="0" anchor="t">
            <a:spAutoFit/>
          </a:bodyPr>
          <a:lstStyle/>
          <a:p>
            <a:pPr algn="ctr">
              <a:lnSpc>
                <a:spcPts val="3219"/>
              </a:lnSpc>
              <a:spcBef>
                <a:spcPct val="0"/>
              </a:spcBef>
            </a:pPr>
            <a:r>
              <a:rPr lang="en-US" sz="2299" spc="-45" dirty="0">
                <a:solidFill>
                  <a:srgbClr val="FFFFFF"/>
                </a:solidFill>
                <a:latin typeface="Inter"/>
                <a:ea typeface="Inter"/>
                <a:cs typeface="Inter"/>
                <a:sym typeface="Inter"/>
              </a:rPr>
              <a:t>Taher.Abdelfattah@hotmail.com</a:t>
            </a:r>
          </a:p>
        </p:txBody>
      </p:sp>
    </p:spTree>
  </p:cSld>
  <p:clrMapOvr>
    <a:masterClrMapping/>
  </p:clrMapOvr>
  <p:transition>
    <p:wipe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4772</Words>
  <Application>Microsoft Office PowerPoint</Application>
  <PresentationFormat>Custom</PresentationFormat>
  <Paragraphs>620</Paragraphs>
  <Slides>43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Inter</vt:lpstr>
      <vt:lpstr>Calibri</vt:lpstr>
      <vt:lpstr>Canva Sans Medium</vt:lpstr>
      <vt:lpstr>Arial</vt:lpstr>
      <vt:lpstr>Inter Bold</vt:lpstr>
      <vt:lpstr>Canva Sans</vt:lpstr>
      <vt:lpstr>Inter Light</vt:lpstr>
      <vt:lpstr>Canva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Overview Presentation -  Team 2 HR Project</dc:title>
  <cp:lastModifiedBy>Mahmoud Abdelqader Saad</cp:lastModifiedBy>
  <cp:revision>3</cp:revision>
  <dcterms:created xsi:type="dcterms:W3CDTF">2006-08-16T00:00:00Z</dcterms:created>
  <dcterms:modified xsi:type="dcterms:W3CDTF">2025-11-24T19:09:28Z</dcterms:modified>
  <dc:identifier>DAG36IzerCw</dc:identifier>
</cp:coreProperties>
</file>